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8" r:id="rId3"/>
    <p:sldId id="259" r:id="rId4"/>
    <p:sldId id="263" r:id="rId5"/>
    <p:sldId id="261" r:id="rId6"/>
    <p:sldId id="289" r:id="rId7"/>
    <p:sldId id="264" r:id="rId8"/>
    <p:sldId id="266" r:id="rId9"/>
    <p:sldId id="268" r:id="rId10"/>
    <p:sldId id="290" r:id="rId11"/>
    <p:sldId id="270" r:id="rId12"/>
    <p:sldId id="273" r:id="rId13"/>
    <p:sldId id="291" r:id="rId14"/>
    <p:sldId id="275" r:id="rId15"/>
    <p:sldId id="281" r:id="rId16"/>
    <p:sldId id="279" r:id="rId17"/>
    <p:sldId id="278" r:id="rId18"/>
    <p:sldId id="292" r:id="rId19"/>
    <p:sldId id="280" r:id="rId20"/>
    <p:sldId id="282" r:id="rId21"/>
    <p:sldId id="288" r:id="rId22"/>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A5F74"/>
    <a:srgbClr val="F5F4EF"/>
    <a:srgbClr val="304860"/>
    <a:srgbClr val="FF9101"/>
    <a:srgbClr val="12B789"/>
    <a:srgbClr val="FEFA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8" d="100"/>
          <a:sy n="108" d="100"/>
        </p:scale>
        <p:origin x="730" y="72"/>
      </p:cViewPr>
      <p:guideLst>
        <p:guide orient="horz" pos="162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26C747-8546-41BC-BF7F-8053A62085C1}" type="datetimeFigureOut">
              <a:rPr lang="zh-CN" altLang="en-US" smtClean="0"/>
              <a:pPr/>
              <a:t>2025/4/13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23CD1B-8C3C-41CB-8883-B2B3427AA9F1}" type="slidenum">
              <a:rPr lang="zh-CN" altLang="en-US" smtClean="0"/>
              <a:pPr/>
              <a:t>‹#›</a:t>
            </a:fld>
            <a:endParaRPr lang="zh-CN" altLang="en-US"/>
          </a:p>
        </p:txBody>
      </p:sp>
    </p:spTree>
    <p:extLst>
      <p:ext uri="{BB962C8B-B14F-4D97-AF65-F5344CB8AC3E}">
        <p14:creationId xmlns:p14="http://schemas.microsoft.com/office/powerpoint/2010/main" val="806284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723CD1B-8C3C-41CB-8883-B2B3427AA9F1}" type="slidenum">
              <a:rPr lang="zh-CN" altLang="en-US" smtClean="0"/>
              <a:pPr/>
              <a:t>11</a:t>
            </a:fld>
            <a:endParaRPr lang="zh-CN" altLang="en-US"/>
          </a:p>
        </p:txBody>
      </p:sp>
    </p:spTree>
    <p:extLst>
      <p:ext uri="{BB962C8B-B14F-4D97-AF65-F5344CB8AC3E}">
        <p14:creationId xmlns:p14="http://schemas.microsoft.com/office/powerpoint/2010/main" val="2413306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B5C230A-CB50-4E96-B85D-04C40F9295DB}" type="datetimeFigureOut">
              <a:rPr lang="zh-CN" altLang="en-US" smtClean="0"/>
              <a:pPr/>
              <a:t>2025/4/13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E671041-9707-48A9-BA34-E92ACC587AFF}" type="slidenum">
              <a:rPr lang="zh-CN" altLang="en-US" smtClean="0"/>
              <a:pPr/>
              <a:t>‹#›</a:t>
            </a:fld>
            <a:endParaRPr lang="zh-CN" altLang="en-US"/>
          </a:p>
        </p:txBody>
      </p:sp>
    </p:spTree>
    <p:extLst>
      <p:ext uri="{BB962C8B-B14F-4D97-AF65-F5344CB8AC3E}">
        <p14:creationId xmlns:p14="http://schemas.microsoft.com/office/powerpoint/2010/main" val="143656944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B5C230A-CB50-4E96-B85D-04C40F9295DB}" type="datetimeFigureOut">
              <a:rPr lang="zh-CN" altLang="en-US" smtClean="0"/>
              <a:pPr/>
              <a:t>2025/4/13</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4E671041-9707-48A9-BA34-E92ACC587AFF}" type="slidenum">
              <a:rPr lang="zh-CN" altLang="en-US" smtClean="0"/>
              <a:pPr/>
              <a:t>‹#›</a:t>
            </a:fld>
            <a:endParaRPr lang="zh-CN" altLang="en-US"/>
          </a:p>
        </p:txBody>
      </p:sp>
    </p:spTree>
    <p:extLst>
      <p:ext uri="{BB962C8B-B14F-4D97-AF65-F5344CB8AC3E}">
        <p14:creationId xmlns:p14="http://schemas.microsoft.com/office/powerpoint/2010/main" val="108698120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jpe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1.xml"/><Relationship Id="rId5" Type="http://schemas.openxmlformats.org/officeDocument/2006/relationships/image" Target="../media/image32.jpeg"/><Relationship Id="rId4" Type="http://schemas.openxmlformats.org/officeDocument/2006/relationships/image" Target="../media/image31.jpeg"/></Relationships>
</file>

<file path=ppt/slides/_rels/slide2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8"/>
          <p:cNvSpPr>
            <a:spLocks noChangeArrowheads="1"/>
          </p:cNvSpPr>
          <p:nvPr/>
        </p:nvSpPr>
        <p:spPr bwMode="auto">
          <a:xfrm>
            <a:off x="4080438" y="1163250"/>
            <a:ext cx="983124" cy="980702"/>
          </a:xfrm>
          <a:prstGeom prst="ellipse">
            <a:avLst/>
          </a:prstGeom>
          <a:solidFill>
            <a:srgbClr val="4A5F74"/>
          </a:solidFill>
          <a:ln w="76200">
            <a:solidFill>
              <a:schemeClr val="accent2"/>
            </a:solidFill>
          </a:ln>
        </p:spPr>
        <p:txBody>
          <a:bodyPr vert="horz" wrap="square" lIns="91440" tIns="45720" rIns="91440" bIns="45720" numCol="1" anchor="t" anchorCtr="0" compatLnSpc="1">
            <a:prstTxWarp prst="textNoShape">
              <a:avLst/>
            </a:prstTxWarp>
          </a:bodyPr>
          <a:lstStyle/>
          <a:p>
            <a:endParaRPr lang="zh-CN" altLang="en-US" b="1" dirty="0"/>
          </a:p>
        </p:txBody>
      </p:sp>
      <p:sp>
        <p:nvSpPr>
          <p:cNvPr id="88" name="TextBox 87"/>
          <p:cNvSpPr txBox="1"/>
          <p:nvPr/>
        </p:nvSpPr>
        <p:spPr>
          <a:xfrm>
            <a:off x="1043608" y="2655952"/>
            <a:ext cx="7056784" cy="461665"/>
          </a:xfrm>
          <a:prstGeom prst="rect">
            <a:avLst/>
          </a:prstGeom>
          <a:noFill/>
        </p:spPr>
        <p:txBody>
          <a:bodyPr wrap="square" rtlCol="0">
            <a:spAutoFit/>
          </a:bodyPr>
          <a:lstStyle/>
          <a:p>
            <a:pPr algn="dist"/>
            <a:r>
              <a:rPr lang="zh-CN" altLang="en-US" sz="2400" dirty="0">
                <a:ln w="6350">
                  <a:noFill/>
                </a:ln>
                <a:solidFill>
                  <a:schemeClr val="accent1"/>
                </a:solidFill>
                <a:latin typeface="微软雅黑" pitchFamily="34" charset="-122"/>
                <a:ea typeface="微软雅黑" pitchFamily="34" charset="-122"/>
              </a:rPr>
              <a:t>基于</a:t>
            </a:r>
            <a:r>
              <a:rPr lang="en-US" altLang="zh-CN" sz="2400" dirty="0">
                <a:ln w="6350">
                  <a:noFill/>
                </a:ln>
                <a:solidFill>
                  <a:schemeClr val="accent1"/>
                </a:solidFill>
                <a:latin typeface="微软雅黑" pitchFamily="34" charset="-122"/>
                <a:ea typeface="微软雅黑" pitchFamily="34" charset="-122"/>
              </a:rPr>
              <a:t>Kubernetes</a:t>
            </a:r>
            <a:r>
              <a:rPr lang="zh-CN" altLang="en-US" sz="2400" dirty="0">
                <a:ln w="6350">
                  <a:noFill/>
                </a:ln>
                <a:solidFill>
                  <a:schemeClr val="accent1"/>
                </a:solidFill>
                <a:latin typeface="微软雅黑" pitchFamily="34" charset="-122"/>
                <a:ea typeface="微软雅黑" pitchFamily="34" charset="-122"/>
              </a:rPr>
              <a:t>集群构建</a:t>
            </a:r>
            <a:r>
              <a:rPr lang="en-US" altLang="zh-CN" sz="2400" dirty="0">
                <a:ln w="6350">
                  <a:noFill/>
                </a:ln>
                <a:solidFill>
                  <a:schemeClr val="accent1"/>
                </a:solidFill>
                <a:latin typeface="微软雅黑" pitchFamily="34" charset="-122"/>
                <a:ea typeface="微软雅黑" pitchFamily="34" charset="-122"/>
              </a:rPr>
              <a:t>CI/CD</a:t>
            </a:r>
            <a:endParaRPr lang="zh-CN" altLang="en-US" sz="2400" dirty="0">
              <a:ln w="6350">
                <a:noFill/>
              </a:ln>
              <a:solidFill>
                <a:schemeClr val="accent1"/>
              </a:solidFill>
              <a:latin typeface="微软雅黑" pitchFamily="34" charset="-122"/>
              <a:ea typeface="微软雅黑" pitchFamily="34" charset="-122"/>
            </a:endParaRPr>
          </a:p>
        </p:txBody>
      </p:sp>
      <p:sp>
        <p:nvSpPr>
          <p:cNvPr id="89" name="圆角矩形 88"/>
          <p:cNvSpPr/>
          <p:nvPr/>
        </p:nvSpPr>
        <p:spPr>
          <a:xfrm>
            <a:off x="1115616" y="3433141"/>
            <a:ext cx="6912768" cy="202560"/>
          </a:xfrm>
          <a:prstGeom prst="roundRect">
            <a:avLst>
              <a:gd name="adj" fmla="val 0"/>
            </a:avLst>
          </a:prstGeom>
          <a:noFill/>
          <a:ln w="6350" cap="flat" cmpd="sng" algn="ctr">
            <a:noFill/>
            <a:prstDash val="solid"/>
          </a:ln>
          <a:effectLst/>
        </p:spPr>
        <p:txBody>
          <a:bodyPr rtlCol="0" anchor="ctr"/>
          <a:lstStyle/>
          <a:p>
            <a:pPr marL="0" marR="0" lvl="0" indent="0" algn="dist"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endParaRPr>
          </a:p>
        </p:txBody>
      </p:sp>
      <p:grpSp>
        <p:nvGrpSpPr>
          <p:cNvPr id="90" name="组合 89"/>
          <p:cNvGrpSpPr/>
          <p:nvPr/>
        </p:nvGrpSpPr>
        <p:grpSpPr>
          <a:xfrm>
            <a:off x="4068997" y="4044098"/>
            <a:ext cx="210860" cy="210858"/>
            <a:chOff x="801291" y="3535885"/>
            <a:chExt cx="219347" cy="219347"/>
          </a:xfrm>
        </p:grpSpPr>
        <p:sp>
          <p:nvSpPr>
            <p:cNvPr id="91" name="Oval 10"/>
            <p:cNvSpPr>
              <a:spLocks noChangeArrowheads="1"/>
            </p:cNvSpPr>
            <p:nvPr/>
          </p:nvSpPr>
          <p:spPr bwMode="auto">
            <a:xfrm>
              <a:off x="801291" y="3535885"/>
              <a:ext cx="219347" cy="219347"/>
            </a:xfrm>
            <a:prstGeom prst="ellipse">
              <a:avLst/>
            </a:prstGeom>
            <a:solidFill>
              <a:schemeClr val="accent1"/>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dist"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chemeClr val="tx1">
                    <a:lumMod val="65000"/>
                    <a:lumOff val="35000"/>
                  </a:schemeClr>
                </a:solidFill>
                <a:effectLst/>
                <a:uLnTx/>
                <a:uFillTx/>
                <a:latin typeface="微软雅黑" pitchFamily="34" charset="-122"/>
                <a:ea typeface="微软雅黑" pitchFamily="34" charset="-122"/>
              </a:endParaRPr>
            </a:p>
          </p:txBody>
        </p:sp>
        <p:grpSp>
          <p:nvGrpSpPr>
            <p:cNvPr id="92" name="组合 91"/>
            <p:cNvGrpSpPr/>
            <p:nvPr/>
          </p:nvGrpSpPr>
          <p:grpSpPr>
            <a:xfrm>
              <a:off x="860980" y="3583766"/>
              <a:ext cx="100336" cy="114060"/>
              <a:chOff x="860980" y="3583766"/>
              <a:chExt cx="100336" cy="114060"/>
            </a:xfrm>
          </p:grpSpPr>
          <p:sp>
            <p:nvSpPr>
              <p:cNvPr id="93" name="Freeform 12"/>
              <p:cNvSpPr>
                <a:spLocks noEditPoints="1"/>
              </p:cNvSpPr>
              <p:nvPr/>
            </p:nvSpPr>
            <p:spPr bwMode="auto">
              <a:xfrm>
                <a:off x="884050" y="3583766"/>
                <a:ext cx="53830" cy="53740"/>
              </a:xfrm>
              <a:custGeom>
                <a:avLst/>
                <a:gdLst>
                  <a:gd name="T0" fmla="*/ 31 w 62"/>
                  <a:gd name="T1" fmla="*/ 62 h 62"/>
                  <a:gd name="T2" fmla="*/ 0 w 62"/>
                  <a:gd name="T3" fmla="*/ 31 h 62"/>
                  <a:gd name="T4" fmla="*/ 31 w 62"/>
                  <a:gd name="T5" fmla="*/ 0 h 62"/>
                  <a:gd name="T6" fmla="*/ 62 w 62"/>
                  <a:gd name="T7" fmla="*/ 31 h 62"/>
                  <a:gd name="T8" fmla="*/ 31 w 62"/>
                  <a:gd name="T9" fmla="*/ 62 h 62"/>
                  <a:gd name="T10" fmla="*/ 31 w 62"/>
                  <a:gd name="T11" fmla="*/ 11 h 62"/>
                  <a:gd name="T12" fmla="*/ 11 w 62"/>
                  <a:gd name="T13" fmla="*/ 31 h 62"/>
                  <a:gd name="T14" fmla="*/ 31 w 62"/>
                  <a:gd name="T15" fmla="*/ 51 h 62"/>
                  <a:gd name="T16" fmla="*/ 51 w 62"/>
                  <a:gd name="T17" fmla="*/ 31 h 62"/>
                  <a:gd name="T18" fmla="*/ 31 w 62"/>
                  <a:gd name="T19" fmla="*/ 1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2">
                    <a:moveTo>
                      <a:pt x="31" y="62"/>
                    </a:moveTo>
                    <a:cubicBezTo>
                      <a:pt x="14" y="62"/>
                      <a:pt x="0" y="48"/>
                      <a:pt x="0" y="31"/>
                    </a:cubicBezTo>
                    <a:cubicBezTo>
                      <a:pt x="0" y="14"/>
                      <a:pt x="14" y="0"/>
                      <a:pt x="31" y="0"/>
                    </a:cubicBezTo>
                    <a:cubicBezTo>
                      <a:pt x="48" y="0"/>
                      <a:pt x="62" y="14"/>
                      <a:pt x="62" y="31"/>
                    </a:cubicBezTo>
                    <a:cubicBezTo>
                      <a:pt x="62" y="48"/>
                      <a:pt x="48" y="62"/>
                      <a:pt x="31" y="62"/>
                    </a:cubicBezTo>
                    <a:close/>
                    <a:moveTo>
                      <a:pt x="31" y="11"/>
                    </a:moveTo>
                    <a:cubicBezTo>
                      <a:pt x="20" y="11"/>
                      <a:pt x="11" y="20"/>
                      <a:pt x="11" y="31"/>
                    </a:cubicBezTo>
                    <a:cubicBezTo>
                      <a:pt x="11" y="42"/>
                      <a:pt x="20" y="51"/>
                      <a:pt x="31" y="51"/>
                    </a:cubicBezTo>
                    <a:cubicBezTo>
                      <a:pt x="42" y="51"/>
                      <a:pt x="51" y="42"/>
                      <a:pt x="51" y="31"/>
                    </a:cubicBezTo>
                    <a:cubicBezTo>
                      <a:pt x="51" y="20"/>
                      <a:pt x="42" y="11"/>
                      <a:pt x="31" y="11"/>
                    </a:cubicBezTo>
                    <a:close/>
                  </a:path>
                </a:pathLst>
              </a:custGeom>
              <a:solidFill>
                <a:srgbClr val="FEFAEE"/>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dist"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chemeClr val="tx1">
                      <a:lumMod val="65000"/>
                      <a:lumOff val="35000"/>
                    </a:schemeClr>
                  </a:solidFill>
                  <a:effectLst/>
                  <a:uLnTx/>
                  <a:uFillTx/>
                  <a:latin typeface="微软雅黑" pitchFamily="34" charset="-122"/>
                  <a:ea typeface="微软雅黑" pitchFamily="34" charset="-122"/>
                </a:endParaRPr>
              </a:p>
            </p:txBody>
          </p:sp>
          <p:sp>
            <p:nvSpPr>
              <p:cNvPr id="94" name="Freeform 13"/>
              <p:cNvSpPr>
                <a:spLocks/>
              </p:cNvSpPr>
              <p:nvPr/>
            </p:nvSpPr>
            <p:spPr bwMode="auto">
              <a:xfrm>
                <a:off x="860980" y="3643355"/>
                <a:ext cx="100336" cy="54471"/>
              </a:xfrm>
              <a:custGeom>
                <a:avLst/>
                <a:gdLst>
                  <a:gd name="T0" fmla="*/ 111 w 116"/>
                  <a:gd name="T1" fmla="*/ 63 h 63"/>
                  <a:gd name="T2" fmla="*/ 105 w 116"/>
                  <a:gd name="T3" fmla="*/ 58 h 63"/>
                  <a:gd name="T4" fmla="*/ 58 w 116"/>
                  <a:gd name="T5" fmla="*/ 11 h 63"/>
                  <a:gd name="T6" fmla="*/ 11 w 116"/>
                  <a:gd name="T7" fmla="*/ 58 h 63"/>
                  <a:gd name="T8" fmla="*/ 6 w 116"/>
                  <a:gd name="T9" fmla="*/ 63 h 63"/>
                  <a:gd name="T10" fmla="*/ 0 w 116"/>
                  <a:gd name="T11" fmla="*/ 58 h 63"/>
                  <a:gd name="T12" fmla="*/ 58 w 116"/>
                  <a:gd name="T13" fmla="*/ 0 h 63"/>
                  <a:gd name="T14" fmla="*/ 116 w 116"/>
                  <a:gd name="T15" fmla="*/ 58 h 63"/>
                  <a:gd name="T16" fmla="*/ 111 w 116"/>
                  <a:gd name="T17" fmla="*/ 6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63">
                    <a:moveTo>
                      <a:pt x="111" y="63"/>
                    </a:moveTo>
                    <a:cubicBezTo>
                      <a:pt x="108" y="63"/>
                      <a:pt x="105" y="61"/>
                      <a:pt x="105" y="58"/>
                    </a:cubicBezTo>
                    <a:cubicBezTo>
                      <a:pt x="105" y="32"/>
                      <a:pt x="84" y="11"/>
                      <a:pt x="58" y="11"/>
                    </a:cubicBezTo>
                    <a:cubicBezTo>
                      <a:pt x="32" y="11"/>
                      <a:pt x="11" y="32"/>
                      <a:pt x="11" y="58"/>
                    </a:cubicBezTo>
                    <a:cubicBezTo>
                      <a:pt x="11" y="61"/>
                      <a:pt x="9" y="63"/>
                      <a:pt x="6" y="63"/>
                    </a:cubicBezTo>
                    <a:cubicBezTo>
                      <a:pt x="3" y="63"/>
                      <a:pt x="0" y="61"/>
                      <a:pt x="0" y="58"/>
                    </a:cubicBezTo>
                    <a:cubicBezTo>
                      <a:pt x="0" y="26"/>
                      <a:pt x="26" y="0"/>
                      <a:pt x="58" y="0"/>
                    </a:cubicBezTo>
                    <a:cubicBezTo>
                      <a:pt x="90" y="0"/>
                      <a:pt x="116" y="26"/>
                      <a:pt x="116" y="58"/>
                    </a:cubicBezTo>
                    <a:cubicBezTo>
                      <a:pt x="116" y="61"/>
                      <a:pt x="114" y="63"/>
                      <a:pt x="111" y="63"/>
                    </a:cubicBezTo>
                    <a:close/>
                  </a:path>
                </a:pathLst>
              </a:custGeom>
              <a:solidFill>
                <a:srgbClr val="FEFAEE"/>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dist"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chemeClr val="tx1">
                      <a:lumMod val="65000"/>
                      <a:lumOff val="35000"/>
                    </a:schemeClr>
                  </a:solidFill>
                  <a:effectLst/>
                  <a:uLnTx/>
                  <a:uFillTx/>
                  <a:latin typeface="微软雅黑" pitchFamily="34" charset="-122"/>
                  <a:ea typeface="微软雅黑" pitchFamily="34" charset="-122"/>
                </a:endParaRPr>
              </a:p>
            </p:txBody>
          </p:sp>
        </p:grpSp>
      </p:grpSp>
      <p:sp>
        <p:nvSpPr>
          <p:cNvPr id="101" name="Text Box 20"/>
          <p:cNvSpPr txBox="1">
            <a:spLocks noChangeArrowheads="1"/>
          </p:cNvSpPr>
          <p:nvPr/>
        </p:nvSpPr>
        <p:spPr bwMode="auto">
          <a:xfrm>
            <a:off x="4429325" y="3980250"/>
            <a:ext cx="5950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dirty="0">
                <a:solidFill>
                  <a:schemeClr val="bg1">
                    <a:lumMod val="50000"/>
                  </a:schemeClr>
                </a:solidFill>
                <a:latin typeface="微软雅黑" pitchFamily="34" charset="-122"/>
                <a:ea typeface="微软雅黑" pitchFamily="34" charset="-122"/>
              </a:rPr>
              <a:t>柴政</a:t>
            </a:r>
            <a:endParaRPr lang="en-US" altLang="zh-CN" sz="1600" dirty="0">
              <a:solidFill>
                <a:schemeClr val="bg1">
                  <a:lumMod val="50000"/>
                </a:schemeClr>
              </a:solidFill>
              <a:latin typeface="微软雅黑" pitchFamily="34" charset="-122"/>
              <a:ea typeface="微软雅黑" pitchFamily="34" charset="-122"/>
            </a:endParaRPr>
          </a:p>
        </p:txBody>
      </p:sp>
      <p:cxnSp>
        <p:nvCxnSpPr>
          <p:cNvPr id="102" name="直接连接符 101"/>
          <p:cNvCxnSpPr/>
          <p:nvPr/>
        </p:nvCxnSpPr>
        <p:spPr>
          <a:xfrm>
            <a:off x="1115616" y="3361133"/>
            <a:ext cx="6912768" cy="0"/>
          </a:xfrm>
          <a:prstGeom prst="line">
            <a:avLst/>
          </a:prstGeom>
          <a:noFill/>
          <a:ln w="6350" cap="flat" cmpd="sng" algn="ctr">
            <a:solidFill>
              <a:schemeClr val="bg1">
                <a:lumMod val="50000"/>
              </a:schemeClr>
            </a:solidFill>
            <a:prstDash val="solid"/>
          </a:ln>
          <a:effectLst/>
        </p:spPr>
      </p:cxnSp>
      <p:sp>
        <p:nvSpPr>
          <p:cNvPr id="4" name="星形: 六角 3">
            <a:extLst>
              <a:ext uri="{FF2B5EF4-FFF2-40B4-BE49-F238E27FC236}">
                <a16:creationId xmlns:a16="http://schemas.microsoft.com/office/drawing/2014/main" id="{54D68590-B068-54F7-47C8-A28787ED77E4}"/>
              </a:ext>
            </a:extLst>
          </p:cNvPr>
          <p:cNvSpPr/>
          <p:nvPr/>
        </p:nvSpPr>
        <p:spPr>
          <a:xfrm>
            <a:off x="4114800" y="1196401"/>
            <a:ext cx="914400" cy="914400"/>
          </a:xfrm>
          <a:prstGeom prst="star6">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accent2"/>
                </a:solidFill>
                <a:prstDash val="solid"/>
              </a:ln>
              <a:solidFill>
                <a:schemeClr val="accent2">
                  <a:lumMod val="40000"/>
                  <a:lumOff val="60000"/>
                </a:schemeClr>
              </a:solidFill>
            </a:endParaRPr>
          </a:p>
        </p:txBody>
      </p:sp>
      <p:sp>
        <p:nvSpPr>
          <p:cNvPr id="2" name="文本框 1">
            <a:extLst>
              <a:ext uri="{FF2B5EF4-FFF2-40B4-BE49-F238E27FC236}">
                <a16:creationId xmlns:a16="http://schemas.microsoft.com/office/drawing/2014/main" id="{6F4633EF-D5B4-3598-915C-0301D5414CBB}"/>
              </a:ext>
            </a:extLst>
          </p:cNvPr>
          <p:cNvSpPr txBox="1"/>
          <p:nvPr/>
        </p:nvSpPr>
        <p:spPr>
          <a:xfrm>
            <a:off x="3453745" y="232515"/>
            <a:ext cx="2236510" cy="707886"/>
          </a:xfrm>
          <a:prstGeom prst="rect">
            <a:avLst/>
          </a:prstGeom>
          <a:noFill/>
        </p:spPr>
        <p:txBody>
          <a:bodyPr wrap="none" rtlCol="0">
            <a:spAutoFit/>
          </a:bodyPr>
          <a:lstStyle/>
          <a:p>
            <a:r>
              <a:rPr lang="zh-CN" altLang="en-US" sz="4000" dirty="0"/>
              <a:t>项目经历</a:t>
            </a:r>
          </a:p>
        </p:txBody>
      </p:sp>
    </p:spTree>
    <p:extLst>
      <p:ext uri="{BB962C8B-B14F-4D97-AF65-F5344CB8AC3E}">
        <p14:creationId xmlns:p14="http://schemas.microsoft.com/office/powerpoint/2010/main" val="768336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椭圆 54"/>
          <p:cNvSpPr/>
          <p:nvPr/>
        </p:nvSpPr>
        <p:spPr>
          <a:xfrm>
            <a:off x="935367" y="1850389"/>
            <a:ext cx="663792" cy="663792"/>
          </a:xfrm>
          <a:prstGeom prst="ellipse">
            <a:avLst/>
          </a:prstGeom>
          <a:solidFill>
            <a:srgbClr val="4A5F74"/>
          </a:solidFill>
          <a:ln w="50800">
            <a:solidFill>
              <a:schemeClr val="accent2"/>
            </a:solidFill>
          </a:ln>
        </p:spPr>
        <p:txBody>
          <a:bodyPr vert="horz" wrap="square" lIns="91440" tIns="45720" rIns="91440" bIns="45720" numCol="1" anchor="t" anchorCtr="0" compatLnSpc="1">
            <a:prstTxWarp prst="textNoShape">
              <a:avLst/>
            </a:prstTxWarp>
          </a:bodyPr>
          <a:lstStyle/>
          <a:p>
            <a:endParaRPr lang="zh-CN" altLang="en-US" b="1">
              <a:solidFill>
                <a:schemeClr val="tx1"/>
              </a:solidFill>
            </a:endParaRPr>
          </a:p>
        </p:txBody>
      </p:sp>
      <p:sp>
        <p:nvSpPr>
          <p:cNvPr id="583" name="椭圆 582"/>
          <p:cNvSpPr/>
          <p:nvPr/>
        </p:nvSpPr>
        <p:spPr>
          <a:xfrm>
            <a:off x="7552261" y="1850389"/>
            <a:ext cx="663792" cy="663792"/>
          </a:xfrm>
          <a:prstGeom prst="ellipse">
            <a:avLst/>
          </a:prstGeom>
          <a:solidFill>
            <a:srgbClr val="4A5F74"/>
          </a:solidFill>
          <a:ln w="50800">
            <a:solidFill>
              <a:schemeClr val="accent2"/>
            </a:solidFill>
          </a:ln>
        </p:spPr>
        <p:txBody>
          <a:bodyPr vert="horz" wrap="square" lIns="91440" tIns="45720" rIns="91440" bIns="45720" numCol="1" anchor="t" anchorCtr="0" compatLnSpc="1">
            <a:prstTxWarp prst="textNoShape">
              <a:avLst/>
            </a:prstTxWarp>
          </a:bodyPr>
          <a:lstStyle/>
          <a:p>
            <a:endParaRPr lang="zh-CN" altLang="en-US" b="1">
              <a:solidFill>
                <a:schemeClr val="tx1"/>
              </a:solidFill>
            </a:endParaRPr>
          </a:p>
        </p:txBody>
      </p:sp>
      <p:sp>
        <p:nvSpPr>
          <p:cNvPr id="582" name="椭圆 581"/>
          <p:cNvSpPr/>
          <p:nvPr/>
        </p:nvSpPr>
        <p:spPr>
          <a:xfrm>
            <a:off x="5899568" y="1850389"/>
            <a:ext cx="663792" cy="663792"/>
          </a:xfrm>
          <a:prstGeom prst="ellipse">
            <a:avLst/>
          </a:prstGeom>
          <a:solidFill>
            <a:srgbClr val="4A5F74"/>
          </a:solidFill>
          <a:ln w="50800">
            <a:solidFill>
              <a:schemeClr val="accent2"/>
            </a:solidFill>
          </a:ln>
        </p:spPr>
        <p:txBody>
          <a:bodyPr vert="horz" wrap="square" lIns="91440" tIns="45720" rIns="91440" bIns="45720" numCol="1" anchor="t" anchorCtr="0" compatLnSpc="1">
            <a:prstTxWarp prst="textNoShape">
              <a:avLst/>
            </a:prstTxWarp>
          </a:bodyPr>
          <a:lstStyle/>
          <a:p>
            <a:endParaRPr lang="zh-CN" altLang="en-US" b="1">
              <a:solidFill>
                <a:schemeClr val="tx1"/>
              </a:solidFill>
            </a:endParaRPr>
          </a:p>
        </p:txBody>
      </p:sp>
      <p:sp>
        <p:nvSpPr>
          <p:cNvPr id="581" name="椭圆 580"/>
          <p:cNvSpPr/>
          <p:nvPr/>
        </p:nvSpPr>
        <p:spPr>
          <a:xfrm>
            <a:off x="4240104" y="1850389"/>
            <a:ext cx="663792" cy="663792"/>
          </a:xfrm>
          <a:prstGeom prst="ellipse">
            <a:avLst/>
          </a:prstGeom>
          <a:solidFill>
            <a:srgbClr val="4A5F74"/>
          </a:solidFill>
          <a:ln w="50800">
            <a:solidFill>
              <a:schemeClr val="accent2"/>
            </a:solidFill>
          </a:ln>
        </p:spPr>
        <p:txBody>
          <a:bodyPr vert="horz" wrap="square" lIns="91440" tIns="45720" rIns="91440" bIns="45720" numCol="1" anchor="t" anchorCtr="0" compatLnSpc="1">
            <a:prstTxWarp prst="textNoShape">
              <a:avLst/>
            </a:prstTxWarp>
          </a:bodyPr>
          <a:lstStyle/>
          <a:p>
            <a:endParaRPr lang="zh-CN" altLang="en-US" b="1">
              <a:solidFill>
                <a:schemeClr val="tx1"/>
              </a:solidFill>
            </a:endParaRPr>
          </a:p>
        </p:txBody>
      </p:sp>
      <p:sp>
        <p:nvSpPr>
          <p:cNvPr id="580" name="椭圆 579"/>
          <p:cNvSpPr/>
          <p:nvPr/>
        </p:nvSpPr>
        <p:spPr>
          <a:xfrm>
            <a:off x="2587409" y="1850389"/>
            <a:ext cx="663792" cy="663792"/>
          </a:xfrm>
          <a:prstGeom prst="ellipse">
            <a:avLst/>
          </a:prstGeom>
          <a:solidFill>
            <a:srgbClr val="4A5F74"/>
          </a:solidFill>
          <a:ln w="50800">
            <a:solidFill>
              <a:schemeClr val="accent2"/>
            </a:solidFill>
          </a:ln>
        </p:spPr>
        <p:txBody>
          <a:bodyPr vert="horz" wrap="square" lIns="91440" tIns="45720" rIns="91440" bIns="45720" numCol="1" anchor="t" anchorCtr="0" compatLnSpc="1">
            <a:prstTxWarp prst="textNoShape">
              <a:avLst/>
            </a:prstTxWarp>
          </a:bodyPr>
          <a:lstStyle/>
          <a:p>
            <a:endParaRPr lang="zh-CN" altLang="en-US" b="1">
              <a:solidFill>
                <a:schemeClr val="tx1"/>
              </a:solidFill>
            </a:endParaRPr>
          </a:p>
        </p:txBody>
      </p:sp>
      <p:sp>
        <p:nvSpPr>
          <p:cNvPr id="569" name="矩形 568"/>
          <p:cNvSpPr/>
          <p:nvPr/>
        </p:nvSpPr>
        <p:spPr>
          <a:xfrm>
            <a:off x="4069299" y="2787774"/>
            <a:ext cx="1005403" cy="338554"/>
          </a:xfrm>
          <a:prstGeom prst="rect">
            <a:avLst/>
          </a:prstGeom>
        </p:spPr>
        <p:txBody>
          <a:bodyPr wrap="none">
            <a:spAutoFit/>
          </a:bodyPr>
          <a:lstStyle/>
          <a:p>
            <a:pPr algn="ctr"/>
            <a:r>
              <a:rPr lang="zh-CN" altLang="en-US" sz="1600" dirty="0">
                <a:ln w="6350">
                  <a:noFill/>
                </a:ln>
                <a:latin typeface="微软雅黑" pitchFamily="34" charset="-122"/>
                <a:ea typeface="微软雅黑" pitchFamily="34" charset="-122"/>
              </a:rPr>
              <a:t>集群搭建</a:t>
            </a:r>
          </a:p>
        </p:txBody>
      </p:sp>
      <p:sp>
        <p:nvSpPr>
          <p:cNvPr id="570" name="矩形 569"/>
          <p:cNvSpPr/>
          <p:nvPr/>
        </p:nvSpPr>
        <p:spPr>
          <a:xfrm>
            <a:off x="2211421" y="2787774"/>
            <a:ext cx="1415773" cy="338554"/>
          </a:xfrm>
          <a:prstGeom prst="rect">
            <a:avLst/>
          </a:prstGeom>
        </p:spPr>
        <p:txBody>
          <a:bodyPr wrap="none">
            <a:spAutoFit/>
          </a:bodyPr>
          <a:lstStyle/>
          <a:p>
            <a:pPr algn="ctr"/>
            <a:r>
              <a:rPr lang="zh-CN" altLang="en-US" sz="1600" dirty="0">
                <a:ln w="6350">
                  <a:noFill/>
                </a:ln>
                <a:latin typeface="微软雅黑" pitchFamily="34" charset="-122"/>
                <a:ea typeface="微软雅黑" pitchFamily="34" charset="-122"/>
              </a:rPr>
              <a:t>相关技术介绍</a:t>
            </a:r>
          </a:p>
        </p:txBody>
      </p:sp>
      <p:sp>
        <p:nvSpPr>
          <p:cNvPr id="571" name="矩形 570"/>
          <p:cNvSpPr/>
          <p:nvPr/>
        </p:nvSpPr>
        <p:spPr>
          <a:xfrm>
            <a:off x="697527" y="2787774"/>
            <a:ext cx="1138170" cy="338554"/>
          </a:xfrm>
          <a:prstGeom prst="rect">
            <a:avLst/>
          </a:prstGeom>
        </p:spPr>
        <p:txBody>
          <a:bodyPr wrap="square">
            <a:spAutoFit/>
          </a:bodyPr>
          <a:lstStyle/>
          <a:p>
            <a:pPr algn="ctr"/>
            <a:r>
              <a:rPr lang="zh-CN" altLang="en-US" sz="1600" dirty="0">
                <a:ln w="6350">
                  <a:noFill/>
                </a:ln>
                <a:latin typeface="微软雅黑" pitchFamily="34" charset="-122"/>
                <a:ea typeface="微软雅黑" pitchFamily="34" charset="-122"/>
              </a:rPr>
              <a:t>绪论</a:t>
            </a:r>
          </a:p>
        </p:txBody>
      </p:sp>
      <p:sp>
        <p:nvSpPr>
          <p:cNvPr id="572" name="矩形 571"/>
          <p:cNvSpPr/>
          <p:nvPr/>
        </p:nvSpPr>
        <p:spPr>
          <a:xfrm>
            <a:off x="7586641" y="2787774"/>
            <a:ext cx="595035" cy="338554"/>
          </a:xfrm>
          <a:prstGeom prst="rect">
            <a:avLst/>
          </a:prstGeom>
        </p:spPr>
        <p:txBody>
          <a:bodyPr wrap="none">
            <a:spAutoFit/>
          </a:bodyPr>
          <a:lstStyle/>
          <a:p>
            <a:pPr algn="ctr"/>
            <a:r>
              <a:rPr lang="zh-CN" altLang="en-US" sz="1600" dirty="0">
                <a:ln w="6350">
                  <a:noFill/>
                </a:ln>
                <a:latin typeface="微软雅黑" pitchFamily="34" charset="-122"/>
                <a:ea typeface="微软雅黑" pitchFamily="34" charset="-122"/>
              </a:rPr>
              <a:t>总结</a:t>
            </a:r>
          </a:p>
        </p:txBody>
      </p:sp>
      <p:sp>
        <p:nvSpPr>
          <p:cNvPr id="573" name="矩形 572"/>
          <p:cNvSpPr/>
          <p:nvPr/>
        </p:nvSpPr>
        <p:spPr>
          <a:xfrm>
            <a:off x="5643007" y="2787774"/>
            <a:ext cx="1176925" cy="338554"/>
          </a:xfrm>
          <a:prstGeom prst="rect">
            <a:avLst/>
          </a:prstGeom>
        </p:spPr>
        <p:txBody>
          <a:bodyPr wrap="none">
            <a:spAutoFit/>
          </a:bodyPr>
          <a:lstStyle/>
          <a:p>
            <a:pPr algn="ctr"/>
            <a:r>
              <a:rPr lang="zh-CN" altLang="en-US" sz="1600" dirty="0">
                <a:ln w="6350">
                  <a:noFill/>
                </a:ln>
                <a:latin typeface="微软雅黑" pitchFamily="34" charset="-122"/>
                <a:ea typeface="微软雅黑" pitchFamily="34" charset="-122"/>
              </a:rPr>
              <a:t>构建</a:t>
            </a:r>
            <a:r>
              <a:rPr lang="en-US" altLang="zh-CN" sz="1600" dirty="0">
                <a:ln w="6350">
                  <a:noFill/>
                </a:ln>
                <a:latin typeface="微软雅黑" pitchFamily="34" charset="-122"/>
                <a:ea typeface="微软雅黑" pitchFamily="34" charset="-122"/>
              </a:rPr>
              <a:t>CI/CD</a:t>
            </a:r>
            <a:endParaRPr lang="zh-CN" altLang="en-US" sz="1600" dirty="0">
              <a:ln w="6350">
                <a:noFill/>
              </a:ln>
              <a:latin typeface="微软雅黑" pitchFamily="34" charset="-122"/>
              <a:ea typeface="微软雅黑" pitchFamily="34" charset="-122"/>
            </a:endParaRPr>
          </a:p>
        </p:txBody>
      </p:sp>
      <p:sp>
        <p:nvSpPr>
          <p:cNvPr id="584" name="矩形 583"/>
          <p:cNvSpPr/>
          <p:nvPr/>
        </p:nvSpPr>
        <p:spPr>
          <a:xfrm>
            <a:off x="3812113" y="3258657"/>
            <a:ext cx="1519776" cy="700576"/>
          </a:xfrm>
          <a:prstGeom prst="rect">
            <a:avLst/>
          </a:prstGeom>
        </p:spPr>
        <p:txBody>
          <a:bodyPr wrap="none">
            <a:spAutoFit/>
          </a:bodyPr>
          <a:lstStyle/>
          <a:p>
            <a:pPr algn="ctr">
              <a:lnSpc>
                <a:spcPct val="150000"/>
              </a:lnSpc>
            </a:pPr>
            <a:r>
              <a:rPr lang="en-US" altLang="zh-CN" sz="1400" dirty="0">
                <a:ln w="6350">
                  <a:noFill/>
                </a:ln>
                <a:solidFill>
                  <a:schemeClr val="bg1">
                    <a:lumMod val="50000"/>
                  </a:schemeClr>
                </a:solidFill>
                <a:latin typeface="微软雅黑" pitchFamily="34" charset="-122"/>
                <a:ea typeface="微软雅黑" pitchFamily="34" charset="-122"/>
              </a:rPr>
              <a:t>Kubernetes</a:t>
            </a:r>
            <a:r>
              <a:rPr lang="zh-CN" altLang="en-US" sz="1400" dirty="0">
                <a:ln w="6350">
                  <a:noFill/>
                </a:ln>
                <a:solidFill>
                  <a:schemeClr val="bg1">
                    <a:lumMod val="50000"/>
                  </a:schemeClr>
                </a:solidFill>
                <a:latin typeface="微软雅黑" pitchFamily="34" charset="-122"/>
                <a:ea typeface="微软雅黑" pitchFamily="34" charset="-122"/>
              </a:rPr>
              <a:t>集群</a:t>
            </a:r>
          </a:p>
          <a:p>
            <a:pPr algn="ctr">
              <a:lnSpc>
                <a:spcPct val="150000"/>
              </a:lnSpc>
            </a:pPr>
            <a:r>
              <a:rPr lang="en-US" altLang="zh-CN" sz="1400" dirty="0">
                <a:ln w="6350">
                  <a:noFill/>
                </a:ln>
                <a:solidFill>
                  <a:schemeClr val="bg1">
                    <a:lumMod val="50000"/>
                  </a:schemeClr>
                </a:solidFill>
                <a:latin typeface="微软雅黑" pitchFamily="34" charset="-122"/>
                <a:ea typeface="微软雅黑" pitchFamily="34" charset="-122"/>
              </a:rPr>
              <a:t>Harbor</a:t>
            </a:r>
            <a:r>
              <a:rPr lang="zh-CN" altLang="en-US" sz="1400" dirty="0">
                <a:ln w="6350">
                  <a:noFill/>
                </a:ln>
                <a:solidFill>
                  <a:schemeClr val="bg1">
                    <a:lumMod val="50000"/>
                  </a:schemeClr>
                </a:solidFill>
                <a:latin typeface="微软雅黑" pitchFamily="34" charset="-122"/>
                <a:ea typeface="微软雅黑" pitchFamily="34" charset="-122"/>
              </a:rPr>
              <a:t>镜像仓库</a:t>
            </a:r>
          </a:p>
        </p:txBody>
      </p:sp>
      <p:sp>
        <p:nvSpPr>
          <p:cNvPr id="585" name="矩形 584"/>
          <p:cNvSpPr/>
          <p:nvPr/>
        </p:nvSpPr>
        <p:spPr>
          <a:xfrm>
            <a:off x="1945323" y="3258657"/>
            <a:ext cx="1947969" cy="1023742"/>
          </a:xfrm>
          <a:prstGeom prst="rect">
            <a:avLst/>
          </a:prstGeom>
        </p:spPr>
        <p:txBody>
          <a:bodyPr wrap="none">
            <a:spAutoFit/>
          </a:bodyPr>
          <a:lstStyle/>
          <a:p>
            <a:pPr algn="ctr">
              <a:lnSpc>
                <a:spcPct val="150000"/>
              </a:lnSpc>
            </a:pPr>
            <a:r>
              <a:rPr lang="en-US" altLang="zh-CN" sz="1400" dirty="0">
                <a:ln w="6350">
                  <a:noFill/>
                </a:ln>
                <a:solidFill>
                  <a:schemeClr val="bg1">
                    <a:lumMod val="50000"/>
                  </a:schemeClr>
                </a:solidFill>
                <a:latin typeface="微软雅黑" pitchFamily="34" charset="-122"/>
                <a:ea typeface="微软雅黑" pitchFamily="34" charset="-122"/>
              </a:rPr>
              <a:t>Docker</a:t>
            </a:r>
            <a:endParaRPr lang="zh-CN" altLang="en-US" sz="1400" dirty="0">
              <a:ln w="6350">
                <a:noFill/>
              </a:ln>
              <a:solidFill>
                <a:schemeClr val="bg1">
                  <a:lumMod val="50000"/>
                </a:schemeClr>
              </a:solidFill>
              <a:latin typeface="微软雅黑" pitchFamily="34" charset="-122"/>
              <a:ea typeface="微软雅黑" pitchFamily="34" charset="-122"/>
            </a:endParaRPr>
          </a:p>
          <a:p>
            <a:pPr algn="ctr">
              <a:lnSpc>
                <a:spcPct val="150000"/>
              </a:lnSpc>
            </a:pPr>
            <a:r>
              <a:rPr lang="en-US" altLang="zh-CN" sz="1400" dirty="0">
                <a:ln w="6350">
                  <a:noFill/>
                </a:ln>
                <a:solidFill>
                  <a:schemeClr val="bg1">
                    <a:lumMod val="50000"/>
                  </a:schemeClr>
                </a:solidFill>
                <a:latin typeface="微软雅黑" pitchFamily="34" charset="-122"/>
                <a:ea typeface="微软雅黑" pitchFamily="34" charset="-122"/>
              </a:rPr>
              <a:t>Kubernetes</a:t>
            </a:r>
          </a:p>
          <a:p>
            <a:pPr algn="ctr">
              <a:lnSpc>
                <a:spcPct val="150000"/>
              </a:lnSpc>
            </a:pPr>
            <a:r>
              <a:rPr lang="en-US" altLang="zh-CN" sz="1400" dirty="0">
                <a:ln w="6350">
                  <a:noFill/>
                </a:ln>
                <a:solidFill>
                  <a:schemeClr val="bg1">
                    <a:lumMod val="50000"/>
                  </a:schemeClr>
                </a:solidFill>
                <a:latin typeface="微软雅黑" pitchFamily="34" charset="-122"/>
                <a:ea typeface="微软雅黑" pitchFamily="34" charset="-122"/>
              </a:rPr>
              <a:t>CI/CD</a:t>
            </a:r>
            <a:r>
              <a:rPr lang="zh-CN" altLang="en-US" sz="1400" dirty="0">
                <a:ln w="6350">
                  <a:noFill/>
                </a:ln>
                <a:solidFill>
                  <a:schemeClr val="bg1">
                    <a:lumMod val="50000"/>
                  </a:schemeClr>
                </a:solidFill>
                <a:latin typeface="微软雅黑" pitchFamily="34" charset="-122"/>
                <a:ea typeface="微软雅黑" pitchFamily="34" charset="-122"/>
              </a:rPr>
              <a:t>流水线工作流程</a:t>
            </a:r>
          </a:p>
        </p:txBody>
      </p:sp>
      <p:sp>
        <p:nvSpPr>
          <p:cNvPr id="586" name="矩形 585"/>
          <p:cNvSpPr/>
          <p:nvPr/>
        </p:nvSpPr>
        <p:spPr>
          <a:xfrm>
            <a:off x="815204" y="3258657"/>
            <a:ext cx="902811" cy="700576"/>
          </a:xfrm>
          <a:prstGeom prst="rect">
            <a:avLst/>
          </a:prstGeom>
        </p:spPr>
        <p:txBody>
          <a:bodyPr wrap="none">
            <a:spAutoFit/>
          </a:bodyPr>
          <a:lstStyle/>
          <a:p>
            <a:pPr algn="ctr">
              <a:lnSpc>
                <a:spcPct val="150000"/>
              </a:lnSpc>
            </a:pPr>
            <a:r>
              <a:rPr lang="zh-CN" altLang="en-US" sz="1400" dirty="0">
                <a:ln w="6350">
                  <a:noFill/>
                </a:ln>
                <a:solidFill>
                  <a:schemeClr val="bg1">
                    <a:lumMod val="50000"/>
                  </a:schemeClr>
                </a:solidFill>
                <a:latin typeface="微软雅黑" pitchFamily="34" charset="-122"/>
                <a:ea typeface="微软雅黑" pitchFamily="34" charset="-122"/>
              </a:rPr>
              <a:t>选题背景</a:t>
            </a:r>
          </a:p>
          <a:p>
            <a:pPr algn="ctr">
              <a:lnSpc>
                <a:spcPct val="150000"/>
              </a:lnSpc>
            </a:pPr>
            <a:r>
              <a:rPr lang="zh-CN" altLang="en-US" sz="1400" dirty="0">
                <a:ln w="6350">
                  <a:noFill/>
                </a:ln>
                <a:solidFill>
                  <a:schemeClr val="bg1">
                    <a:lumMod val="50000"/>
                  </a:schemeClr>
                </a:solidFill>
                <a:latin typeface="微软雅黑" pitchFamily="34" charset="-122"/>
                <a:ea typeface="微软雅黑" pitchFamily="34" charset="-122"/>
              </a:rPr>
              <a:t>主要内容</a:t>
            </a:r>
          </a:p>
        </p:txBody>
      </p:sp>
      <p:sp>
        <p:nvSpPr>
          <p:cNvPr id="587" name="矩形 586"/>
          <p:cNvSpPr/>
          <p:nvPr/>
        </p:nvSpPr>
        <p:spPr>
          <a:xfrm>
            <a:off x="7432753" y="3258657"/>
            <a:ext cx="902811" cy="700576"/>
          </a:xfrm>
          <a:prstGeom prst="rect">
            <a:avLst/>
          </a:prstGeom>
        </p:spPr>
        <p:txBody>
          <a:bodyPr wrap="none">
            <a:spAutoFit/>
          </a:bodyPr>
          <a:lstStyle/>
          <a:p>
            <a:pPr algn="ctr">
              <a:lnSpc>
                <a:spcPct val="150000"/>
              </a:lnSpc>
            </a:pPr>
            <a:r>
              <a:rPr lang="zh-CN" altLang="en-US" sz="1400" dirty="0">
                <a:ln w="6350">
                  <a:noFill/>
                </a:ln>
                <a:solidFill>
                  <a:schemeClr val="bg1">
                    <a:lumMod val="50000"/>
                  </a:schemeClr>
                </a:solidFill>
                <a:latin typeface="微软雅黑" pitchFamily="34" charset="-122"/>
                <a:ea typeface="微软雅黑" pitchFamily="34" charset="-122"/>
              </a:rPr>
              <a:t>研究总结</a:t>
            </a:r>
            <a:endParaRPr lang="en-US" altLang="zh-CN" sz="1400" dirty="0">
              <a:ln w="6350">
                <a:noFill/>
              </a:ln>
              <a:solidFill>
                <a:schemeClr val="bg1">
                  <a:lumMod val="50000"/>
                </a:schemeClr>
              </a:solidFill>
              <a:latin typeface="微软雅黑" pitchFamily="34" charset="-122"/>
              <a:ea typeface="微软雅黑" pitchFamily="34" charset="-122"/>
            </a:endParaRPr>
          </a:p>
          <a:p>
            <a:pPr algn="ctr">
              <a:lnSpc>
                <a:spcPct val="150000"/>
              </a:lnSpc>
            </a:pPr>
            <a:r>
              <a:rPr lang="zh-CN" altLang="en-US" sz="1400" dirty="0">
                <a:ln w="6350">
                  <a:noFill/>
                </a:ln>
                <a:solidFill>
                  <a:schemeClr val="bg1">
                    <a:lumMod val="50000"/>
                  </a:schemeClr>
                </a:solidFill>
                <a:latin typeface="微软雅黑" pitchFamily="34" charset="-122"/>
                <a:ea typeface="微软雅黑" pitchFamily="34" charset="-122"/>
              </a:rPr>
              <a:t>未来发展</a:t>
            </a:r>
            <a:endParaRPr lang="en-US" altLang="zh-CN" sz="1400" dirty="0">
              <a:ln w="6350">
                <a:noFill/>
              </a:ln>
              <a:solidFill>
                <a:schemeClr val="bg1">
                  <a:lumMod val="50000"/>
                </a:schemeClr>
              </a:solidFill>
              <a:latin typeface="微软雅黑" pitchFamily="34" charset="-122"/>
              <a:ea typeface="微软雅黑" pitchFamily="34" charset="-122"/>
            </a:endParaRPr>
          </a:p>
        </p:txBody>
      </p:sp>
      <p:sp>
        <p:nvSpPr>
          <p:cNvPr id="588" name="矩形 587"/>
          <p:cNvSpPr/>
          <p:nvPr/>
        </p:nvSpPr>
        <p:spPr>
          <a:xfrm>
            <a:off x="5780062" y="3258657"/>
            <a:ext cx="902811" cy="1346907"/>
          </a:xfrm>
          <a:prstGeom prst="rect">
            <a:avLst/>
          </a:prstGeom>
        </p:spPr>
        <p:txBody>
          <a:bodyPr wrap="none">
            <a:spAutoFit/>
          </a:bodyPr>
          <a:lstStyle/>
          <a:p>
            <a:pPr algn="ctr">
              <a:lnSpc>
                <a:spcPct val="150000"/>
              </a:lnSpc>
            </a:pPr>
            <a:r>
              <a:rPr lang="en-US" altLang="zh-CN" sz="1400" dirty="0">
                <a:ln w="6350">
                  <a:noFill/>
                </a:ln>
                <a:solidFill>
                  <a:schemeClr val="bg1">
                    <a:lumMod val="50000"/>
                  </a:schemeClr>
                </a:solidFill>
                <a:latin typeface="微软雅黑" pitchFamily="34" charset="-122"/>
                <a:ea typeface="微软雅黑" pitchFamily="34" charset="-122"/>
              </a:rPr>
              <a:t>Jenkins</a:t>
            </a:r>
          </a:p>
          <a:p>
            <a:pPr algn="ctr">
              <a:lnSpc>
                <a:spcPct val="150000"/>
              </a:lnSpc>
            </a:pPr>
            <a:r>
              <a:rPr lang="en-US" altLang="zh-CN" sz="1400" dirty="0">
                <a:ln w="6350">
                  <a:noFill/>
                </a:ln>
                <a:solidFill>
                  <a:schemeClr val="bg1">
                    <a:lumMod val="50000"/>
                  </a:schemeClr>
                </a:solidFill>
                <a:latin typeface="微软雅黑" pitchFamily="34" charset="-122"/>
                <a:ea typeface="微软雅黑" pitchFamily="34" charset="-122"/>
              </a:rPr>
              <a:t>Gitlab</a:t>
            </a:r>
          </a:p>
          <a:p>
            <a:pPr algn="ctr">
              <a:lnSpc>
                <a:spcPct val="150000"/>
              </a:lnSpc>
            </a:pPr>
            <a:r>
              <a:rPr lang="zh-CN" altLang="en-US" sz="1400" dirty="0">
                <a:ln w="6350">
                  <a:noFill/>
                </a:ln>
                <a:solidFill>
                  <a:schemeClr val="bg1">
                    <a:lumMod val="50000"/>
                  </a:schemeClr>
                </a:solidFill>
                <a:latin typeface="微软雅黑" pitchFamily="34" charset="-122"/>
                <a:ea typeface="微软雅黑" pitchFamily="34" charset="-122"/>
              </a:rPr>
              <a:t>构建过程</a:t>
            </a:r>
            <a:endParaRPr lang="en-US" altLang="zh-CN" sz="1400" dirty="0">
              <a:ln w="6350">
                <a:noFill/>
              </a:ln>
              <a:solidFill>
                <a:schemeClr val="bg1">
                  <a:lumMod val="50000"/>
                </a:schemeClr>
              </a:solidFill>
              <a:latin typeface="微软雅黑" pitchFamily="34" charset="-122"/>
              <a:ea typeface="微软雅黑" pitchFamily="34" charset="-122"/>
            </a:endParaRPr>
          </a:p>
          <a:p>
            <a:pPr algn="ctr">
              <a:lnSpc>
                <a:spcPct val="150000"/>
              </a:lnSpc>
            </a:pPr>
            <a:r>
              <a:rPr lang="zh-CN" altLang="en-US" sz="1400" dirty="0">
                <a:ln w="6350">
                  <a:noFill/>
                </a:ln>
                <a:solidFill>
                  <a:schemeClr val="bg1">
                    <a:lumMod val="50000"/>
                  </a:schemeClr>
                </a:solidFill>
                <a:latin typeface="微软雅黑" pitchFamily="34" charset="-122"/>
                <a:ea typeface="微软雅黑" pitchFamily="34" charset="-122"/>
              </a:rPr>
              <a:t>成果展示</a:t>
            </a:r>
            <a:endParaRPr lang="en-US" altLang="zh-CN" sz="1400" dirty="0">
              <a:ln w="6350">
                <a:noFill/>
              </a:ln>
              <a:solidFill>
                <a:schemeClr val="bg1">
                  <a:lumMod val="50000"/>
                </a:schemeClr>
              </a:solidFill>
              <a:latin typeface="微软雅黑" pitchFamily="34" charset="-122"/>
              <a:ea typeface="微软雅黑" pitchFamily="34" charset="-122"/>
            </a:endParaRPr>
          </a:p>
        </p:txBody>
      </p:sp>
      <p:cxnSp>
        <p:nvCxnSpPr>
          <p:cNvPr id="592" name="直接连接符 591"/>
          <p:cNvCxnSpPr/>
          <p:nvPr/>
        </p:nvCxnSpPr>
        <p:spPr>
          <a:xfrm flipH="1">
            <a:off x="3858270" y="3196150"/>
            <a:ext cx="1440160"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7" name="直接连接符 596"/>
          <p:cNvCxnSpPr/>
          <p:nvPr/>
        </p:nvCxnSpPr>
        <p:spPr>
          <a:xfrm flipH="1">
            <a:off x="2212350" y="3196150"/>
            <a:ext cx="1440160"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8" name="直接连接符 597"/>
          <p:cNvCxnSpPr/>
          <p:nvPr/>
        </p:nvCxnSpPr>
        <p:spPr>
          <a:xfrm flipH="1">
            <a:off x="581670" y="3196150"/>
            <a:ext cx="1440160"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9" name="直接连接符 598"/>
          <p:cNvCxnSpPr/>
          <p:nvPr/>
        </p:nvCxnSpPr>
        <p:spPr>
          <a:xfrm flipH="1">
            <a:off x="5534670" y="3196150"/>
            <a:ext cx="1440160"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0" name="直接连接符 599"/>
          <p:cNvCxnSpPr/>
          <p:nvPr/>
        </p:nvCxnSpPr>
        <p:spPr>
          <a:xfrm flipH="1">
            <a:off x="7172970" y="3196150"/>
            <a:ext cx="1440160"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Text Box 42"/>
          <p:cNvSpPr txBox="1">
            <a:spLocks noChangeArrowheads="1"/>
          </p:cNvSpPr>
          <p:nvPr/>
        </p:nvSpPr>
        <p:spPr bwMode="auto">
          <a:xfrm>
            <a:off x="3923928" y="290122"/>
            <a:ext cx="12961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dist">
              <a:buFont typeface="Arial" charset="0"/>
              <a:buNone/>
            </a:pPr>
            <a:r>
              <a:rPr lang="zh-CN" altLang="en-US" sz="2400" b="1" dirty="0">
                <a:solidFill>
                  <a:schemeClr val="accent1"/>
                </a:solidFill>
                <a:latin typeface="微软雅黑" pitchFamily="34" charset="-122"/>
                <a:ea typeface="微软雅黑" pitchFamily="34" charset="-122"/>
              </a:rPr>
              <a:t>目录</a:t>
            </a:r>
            <a:endParaRPr lang="en-US" altLang="zh-CN" sz="2400" b="1" dirty="0">
              <a:solidFill>
                <a:schemeClr val="accent1"/>
              </a:solidFill>
              <a:latin typeface="微软雅黑" pitchFamily="34" charset="-122"/>
              <a:ea typeface="微软雅黑" pitchFamily="34" charset="-122"/>
            </a:endParaRPr>
          </a:p>
        </p:txBody>
      </p:sp>
      <p:cxnSp>
        <p:nvCxnSpPr>
          <p:cNvPr id="53" name="直接连接符 52"/>
          <p:cNvCxnSpPr/>
          <p:nvPr/>
        </p:nvCxnSpPr>
        <p:spPr>
          <a:xfrm>
            <a:off x="4306267" y="987574"/>
            <a:ext cx="5441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reeform 6"/>
          <p:cNvSpPr>
            <a:spLocks/>
          </p:cNvSpPr>
          <p:nvPr/>
        </p:nvSpPr>
        <p:spPr bwMode="auto">
          <a:xfrm>
            <a:off x="6076239" y="2034513"/>
            <a:ext cx="310450" cy="295544"/>
          </a:xfrm>
          <a:custGeom>
            <a:avLst/>
            <a:gdLst>
              <a:gd name="T0" fmla="*/ 102 w 203"/>
              <a:gd name="T1" fmla="*/ 150 h 193"/>
              <a:gd name="T2" fmla="*/ 100 w 203"/>
              <a:gd name="T3" fmla="*/ 150 h 193"/>
              <a:gd name="T4" fmla="*/ 48 w 203"/>
              <a:gd name="T5" fmla="*/ 188 h 193"/>
              <a:gd name="T6" fmla="*/ 40 w 203"/>
              <a:gd name="T7" fmla="*/ 182 h 193"/>
              <a:gd name="T8" fmla="*/ 59 w 203"/>
              <a:gd name="T9" fmla="*/ 121 h 193"/>
              <a:gd name="T10" fmla="*/ 59 w 203"/>
              <a:gd name="T11" fmla="*/ 119 h 193"/>
              <a:gd name="T12" fmla="*/ 7 w 203"/>
              <a:gd name="T13" fmla="*/ 77 h 193"/>
              <a:gd name="T14" fmla="*/ 10 w 203"/>
              <a:gd name="T15" fmla="*/ 67 h 193"/>
              <a:gd name="T16" fmla="*/ 74 w 203"/>
              <a:gd name="T17" fmla="*/ 67 h 193"/>
              <a:gd name="T18" fmla="*/ 76 w 203"/>
              <a:gd name="T19" fmla="*/ 65 h 193"/>
              <a:gd name="T20" fmla="*/ 97 w 203"/>
              <a:gd name="T21" fmla="*/ 8 h 193"/>
              <a:gd name="T22" fmla="*/ 106 w 203"/>
              <a:gd name="T23" fmla="*/ 8 h 193"/>
              <a:gd name="T24" fmla="*/ 127 w 203"/>
              <a:gd name="T25" fmla="*/ 66 h 193"/>
              <a:gd name="T26" fmla="*/ 129 w 203"/>
              <a:gd name="T27" fmla="*/ 67 h 193"/>
              <a:gd name="T28" fmla="*/ 193 w 203"/>
              <a:gd name="T29" fmla="*/ 67 h 193"/>
              <a:gd name="T30" fmla="*/ 196 w 203"/>
              <a:gd name="T31" fmla="*/ 77 h 193"/>
              <a:gd name="T32" fmla="*/ 144 w 203"/>
              <a:gd name="T33" fmla="*/ 119 h 193"/>
              <a:gd name="T34" fmla="*/ 143 w 203"/>
              <a:gd name="T35" fmla="*/ 121 h 193"/>
              <a:gd name="T36" fmla="*/ 163 w 203"/>
              <a:gd name="T37" fmla="*/ 182 h 193"/>
              <a:gd name="T38" fmla="*/ 155 w 203"/>
              <a:gd name="T39" fmla="*/ 188 h 193"/>
              <a:gd name="T40" fmla="*/ 102 w 203"/>
              <a:gd name="T41" fmla="*/ 15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3" h="193">
                <a:moveTo>
                  <a:pt x="102" y="150"/>
                </a:moveTo>
                <a:cubicBezTo>
                  <a:pt x="102" y="150"/>
                  <a:pt x="101" y="150"/>
                  <a:pt x="100" y="150"/>
                </a:cubicBezTo>
                <a:cubicBezTo>
                  <a:pt x="100" y="151"/>
                  <a:pt x="48" y="188"/>
                  <a:pt x="48" y="188"/>
                </a:cubicBezTo>
                <a:cubicBezTo>
                  <a:pt x="41" y="193"/>
                  <a:pt x="37" y="190"/>
                  <a:pt x="40" y="182"/>
                </a:cubicBezTo>
                <a:cubicBezTo>
                  <a:pt x="40" y="182"/>
                  <a:pt x="59" y="121"/>
                  <a:pt x="59" y="121"/>
                </a:cubicBezTo>
                <a:cubicBezTo>
                  <a:pt x="60" y="120"/>
                  <a:pt x="59" y="119"/>
                  <a:pt x="59" y="119"/>
                </a:cubicBezTo>
                <a:cubicBezTo>
                  <a:pt x="58" y="118"/>
                  <a:pt x="7" y="77"/>
                  <a:pt x="7" y="77"/>
                </a:cubicBezTo>
                <a:cubicBezTo>
                  <a:pt x="0" y="72"/>
                  <a:pt x="1" y="67"/>
                  <a:pt x="10" y="67"/>
                </a:cubicBezTo>
                <a:cubicBezTo>
                  <a:pt x="10" y="67"/>
                  <a:pt x="73" y="67"/>
                  <a:pt x="74" y="67"/>
                </a:cubicBezTo>
                <a:cubicBezTo>
                  <a:pt x="75" y="67"/>
                  <a:pt x="76" y="67"/>
                  <a:pt x="76" y="65"/>
                </a:cubicBezTo>
                <a:cubicBezTo>
                  <a:pt x="77" y="64"/>
                  <a:pt x="97" y="8"/>
                  <a:pt x="97" y="8"/>
                </a:cubicBezTo>
                <a:cubicBezTo>
                  <a:pt x="99" y="0"/>
                  <a:pt x="104" y="0"/>
                  <a:pt x="106" y="8"/>
                </a:cubicBezTo>
                <a:cubicBezTo>
                  <a:pt x="106" y="8"/>
                  <a:pt x="126" y="65"/>
                  <a:pt x="127" y="66"/>
                </a:cubicBezTo>
                <a:cubicBezTo>
                  <a:pt x="127" y="67"/>
                  <a:pt x="128" y="67"/>
                  <a:pt x="129" y="67"/>
                </a:cubicBezTo>
                <a:cubicBezTo>
                  <a:pt x="129" y="67"/>
                  <a:pt x="193" y="67"/>
                  <a:pt x="193" y="67"/>
                </a:cubicBezTo>
                <a:cubicBezTo>
                  <a:pt x="202" y="67"/>
                  <a:pt x="203" y="72"/>
                  <a:pt x="196" y="77"/>
                </a:cubicBezTo>
                <a:cubicBezTo>
                  <a:pt x="196" y="77"/>
                  <a:pt x="145" y="118"/>
                  <a:pt x="144" y="119"/>
                </a:cubicBezTo>
                <a:cubicBezTo>
                  <a:pt x="143" y="119"/>
                  <a:pt x="143" y="120"/>
                  <a:pt x="143" y="121"/>
                </a:cubicBezTo>
                <a:cubicBezTo>
                  <a:pt x="144" y="121"/>
                  <a:pt x="163" y="182"/>
                  <a:pt x="163" y="182"/>
                </a:cubicBezTo>
                <a:cubicBezTo>
                  <a:pt x="165" y="190"/>
                  <a:pt x="162" y="193"/>
                  <a:pt x="155" y="188"/>
                </a:cubicBezTo>
                <a:cubicBezTo>
                  <a:pt x="155" y="188"/>
                  <a:pt x="103" y="151"/>
                  <a:pt x="102" y="150"/>
                </a:cubicBez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1" name="组合 20"/>
          <p:cNvGrpSpPr/>
          <p:nvPr/>
        </p:nvGrpSpPr>
        <p:grpSpPr>
          <a:xfrm>
            <a:off x="1147355" y="2030624"/>
            <a:ext cx="238510" cy="303322"/>
            <a:chOff x="476250" y="5340350"/>
            <a:chExt cx="584200" cy="742950"/>
          </a:xfrm>
        </p:grpSpPr>
        <p:sp>
          <p:nvSpPr>
            <p:cNvPr id="8" name="Freeform 7"/>
            <p:cNvSpPr>
              <a:spLocks/>
            </p:cNvSpPr>
            <p:nvPr/>
          </p:nvSpPr>
          <p:spPr bwMode="auto">
            <a:xfrm>
              <a:off x="476250" y="5340350"/>
              <a:ext cx="584200" cy="742950"/>
            </a:xfrm>
            <a:custGeom>
              <a:avLst/>
              <a:gdLst>
                <a:gd name="T0" fmla="*/ 156 w 156"/>
                <a:gd name="T1" fmla="*/ 26 h 198"/>
                <a:gd name="T2" fmla="*/ 156 w 156"/>
                <a:gd name="T3" fmla="*/ 198 h 198"/>
                <a:gd name="T4" fmla="*/ 29 w 156"/>
                <a:gd name="T5" fmla="*/ 198 h 198"/>
                <a:gd name="T6" fmla="*/ 0 w 156"/>
                <a:gd name="T7" fmla="*/ 177 h 198"/>
                <a:gd name="T8" fmla="*/ 0 w 156"/>
                <a:gd name="T9" fmla="*/ 28 h 198"/>
                <a:gd name="T10" fmla="*/ 42 w 156"/>
                <a:gd name="T11" fmla="*/ 0 h 198"/>
                <a:gd name="T12" fmla="*/ 156 w 156"/>
                <a:gd name="T13" fmla="*/ 1 h 198"/>
                <a:gd name="T14" fmla="*/ 156 w 156"/>
                <a:gd name="T15" fmla="*/ 157 h 198"/>
                <a:gd name="T16" fmla="*/ 26 w 156"/>
                <a:gd name="T17" fmla="*/ 156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6" h="198">
                  <a:moveTo>
                    <a:pt x="156" y="26"/>
                  </a:moveTo>
                  <a:cubicBezTo>
                    <a:pt x="156" y="198"/>
                    <a:pt x="156" y="198"/>
                    <a:pt x="156" y="198"/>
                  </a:cubicBezTo>
                  <a:cubicBezTo>
                    <a:pt x="156" y="198"/>
                    <a:pt x="58" y="198"/>
                    <a:pt x="29" y="198"/>
                  </a:cubicBezTo>
                  <a:cubicBezTo>
                    <a:pt x="1" y="198"/>
                    <a:pt x="0" y="186"/>
                    <a:pt x="0" y="177"/>
                  </a:cubicBezTo>
                  <a:cubicBezTo>
                    <a:pt x="0" y="167"/>
                    <a:pt x="0" y="28"/>
                    <a:pt x="0" y="28"/>
                  </a:cubicBezTo>
                  <a:cubicBezTo>
                    <a:pt x="0" y="9"/>
                    <a:pt x="14" y="0"/>
                    <a:pt x="42" y="0"/>
                  </a:cubicBezTo>
                  <a:cubicBezTo>
                    <a:pt x="156" y="1"/>
                    <a:pt x="156" y="1"/>
                    <a:pt x="156" y="1"/>
                  </a:cubicBezTo>
                  <a:cubicBezTo>
                    <a:pt x="156" y="157"/>
                    <a:pt x="156" y="157"/>
                    <a:pt x="156" y="157"/>
                  </a:cubicBezTo>
                  <a:cubicBezTo>
                    <a:pt x="26" y="156"/>
                    <a:pt x="26" y="156"/>
                    <a:pt x="26" y="156"/>
                  </a:cubicBez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Line 8"/>
            <p:cNvSpPr>
              <a:spLocks noChangeShapeType="1"/>
            </p:cNvSpPr>
            <p:nvPr/>
          </p:nvSpPr>
          <p:spPr bwMode="auto">
            <a:xfrm flipH="1">
              <a:off x="573088" y="6005513"/>
              <a:ext cx="487362"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2" name="组合 21"/>
          <p:cNvGrpSpPr/>
          <p:nvPr/>
        </p:nvGrpSpPr>
        <p:grpSpPr>
          <a:xfrm>
            <a:off x="2767645" y="2047704"/>
            <a:ext cx="303320" cy="303320"/>
            <a:chOff x="1866900" y="5243513"/>
            <a:chExt cx="742950" cy="742950"/>
          </a:xfrm>
        </p:grpSpPr>
        <p:sp>
          <p:nvSpPr>
            <p:cNvPr id="10" name="Oval 9"/>
            <p:cNvSpPr>
              <a:spLocks noChangeArrowheads="1"/>
            </p:cNvSpPr>
            <p:nvPr/>
          </p:nvSpPr>
          <p:spPr bwMode="auto">
            <a:xfrm>
              <a:off x="1866900" y="5243513"/>
              <a:ext cx="544512" cy="544513"/>
            </a:xfrm>
            <a:prstGeom prst="ellipse">
              <a:avLst/>
            </a:pr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Freeform 10"/>
            <p:cNvSpPr>
              <a:spLocks/>
            </p:cNvSpPr>
            <p:nvPr/>
          </p:nvSpPr>
          <p:spPr bwMode="auto">
            <a:xfrm>
              <a:off x="1941513" y="5318125"/>
              <a:ext cx="200025" cy="195263"/>
            </a:xfrm>
            <a:custGeom>
              <a:avLst/>
              <a:gdLst>
                <a:gd name="T0" fmla="*/ 0 w 53"/>
                <a:gd name="T1" fmla="*/ 52 h 52"/>
                <a:gd name="T2" fmla="*/ 53 w 53"/>
                <a:gd name="T3" fmla="*/ 0 h 52"/>
              </a:gdLst>
              <a:ahLst/>
              <a:cxnLst>
                <a:cxn ang="0">
                  <a:pos x="T0" y="T1"/>
                </a:cxn>
                <a:cxn ang="0">
                  <a:pos x="T2" y="T3"/>
                </a:cxn>
              </a:cxnLst>
              <a:rect l="0" t="0" r="r" b="b"/>
              <a:pathLst>
                <a:path w="53" h="52">
                  <a:moveTo>
                    <a:pt x="0" y="52"/>
                  </a:moveTo>
                  <a:cubicBezTo>
                    <a:pt x="0" y="24"/>
                    <a:pt x="24" y="0"/>
                    <a:pt x="53" y="0"/>
                  </a:cubicBez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Line 11"/>
            <p:cNvSpPr>
              <a:spLocks noChangeShapeType="1"/>
            </p:cNvSpPr>
            <p:nvPr/>
          </p:nvSpPr>
          <p:spPr bwMode="auto">
            <a:xfrm>
              <a:off x="2332038" y="5705475"/>
              <a:ext cx="277812" cy="280988"/>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3" name="组合 22"/>
          <p:cNvGrpSpPr/>
          <p:nvPr/>
        </p:nvGrpSpPr>
        <p:grpSpPr>
          <a:xfrm>
            <a:off x="4502182" y="2035808"/>
            <a:ext cx="151662" cy="292954"/>
            <a:chOff x="3851275" y="5348288"/>
            <a:chExt cx="371475" cy="717550"/>
          </a:xfrm>
        </p:grpSpPr>
        <p:sp>
          <p:nvSpPr>
            <p:cNvPr id="13" name="Oval 12"/>
            <p:cNvSpPr>
              <a:spLocks noChangeArrowheads="1"/>
            </p:cNvSpPr>
            <p:nvPr/>
          </p:nvSpPr>
          <p:spPr bwMode="auto">
            <a:xfrm>
              <a:off x="3986213" y="5438775"/>
              <a:ext cx="101600" cy="101600"/>
            </a:xfrm>
            <a:prstGeom prst="ellipse">
              <a:avLst/>
            </a:pr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13"/>
            <p:cNvSpPr>
              <a:spLocks/>
            </p:cNvSpPr>
            <p:nvPr/>
          </p:nvSpPr>
          <p:spPr bwMode="auto">
            <a:xfrm>
              <a:off x="3876675" y="5873750"/>
              <a:ext cx="319087" cy="33338"/>
            </a:xfrm>
            <a:custGeom>
              <a:avLst/>
              <a:gdLst>
                <a:gd name="T0" fmla="*/ 0 w 85"/>
                <a:gd name="T1" fmla="*/ 0 h 9"/>
                <a:gd name="T2" fmla="*/ 43 w 85"/>
                <a:gd name="T3" fmla="*/ 9 h 9"/>
                <a:gd name="T4" fmla="*/ 85 w 85"/>
                <a:gd name="T5" fmla="*/ 0 h 9"/>
              </a:gdLst>
              <a:ahLst/>
              <a:cxnLst>
                <a:cxn ang="0">
                  <a:pos x="T0" y="T1"/>
                </a:cxn>
                <a:cxn ang="0">
                  <a:pos x="T2" y="T3"/>
                </a:cxn>
                <a:cxn ang="0">
                  <a:pos x="T4" y="T5"/>
                </a:cxn>
              </a:cxnLst>
              <a:rect l="0" t="0" r="r" b="b"/>
              <a:pathLst>
                <a:path w="85" h="9">
                  <a:moveTo>
                    <a:pt x="0" y="0"/>
                  </a:moveTo>
                  <a:cubicBezTo>
                    <a:pt x="13" y="6"/>
                    <a:pt x="27" y="9"/>
                    <a:pt x="43" y="9"/>
                  </a:cubicBezTo>
                  <a:cubicBezTo>
                    <a:pt x="58" y="9"/>
                    <a:pt x="72" y="6"/>
                    <a:pt x="85" y="0"/>
                  </a:cubicBez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Line 14"/>
            <p:cNvSpPr>
              <a:spLocks noChangeShapeType="1"/>
            </p:cNvSpPr>
            <p:nvPr/>
          </p:nvSpPr>
          <p:spPr bwMode="auto">
            <a:xfrm flipH="1" flipV="1">
              <a:off x="4060825" y="5532438"/>
              <a:ext cx="161925" cy="53340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Line 15"/>
            <p:cNvSpPr>
              <a:spLocks noChangeShapeType="1"/>
            </p:cNvSpPr>
            <p:nvPr/>
          </p:nvSpPr>
          <p:spPr bwMode="auto">
            <a:xfrm flipV="1">
              <a:off x="3851275" y="5532438"/>
              <a:ext cx="160337" cy="53340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Line 16"/>
            <p:cNvSpPr>
              <a:spLocks noChangeShapeType="1"/>
            </p:cNvSpPr>
            <p:nvPr/>
          </p:nvSpPr>
          <p:spPr bwMode="auto">
            <a:xfrm flipV="1">
              <a:off x="4038600" y="5348288"/>
              <a:ext cx="0" cy="90488"/>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4" name="组合 23"/>
          <p:cNvGrpSpPr/>
          <p:nvPr/>
        </p:nvGrpSpPr>
        <p:grpSpPr>
          <a:xfrm>
            <a:off x="7772357" y="2026057"/>
            <a:ext cx="223600" cy="302024"/>
            <a:chOff x="5591175" y="5337175"/>
            <a:chExt cx="547687" cy="739776"/>
          </a:xfrm>
        </p:grpSpPr>
        <p:sp>
          <p:nvSpPr>
            <p:cNvPr id="18" name="Freeform 17"/>
            <p:cNvSpPr>
              <a:spLocks/>
            </p:cNvSpPr>
            <p:nvPr/>
          </p:nvSpPr>
          <p:spPr bwMode="auto">
            <a:xfrm>
              <a:off x="5692775" y="5667375"/>
              <a:ext cx="347662" cy="214313"/>
            </a:xfrm>
            <a:custGeom>
              <a:avLst/>
              <a:gdLst>
                <a:gd name="T0" fmla="*/ 0 w 219"/>
                <a:gd name="T1" fmla="*/ 50 h 135"/>
                <a:gd name="T2" fmla="*/ 85 w 219"/>
                <a:gd name="T3" fmla="*/ 135 h 135"/>
                <a:gd name="T4" fmla="*/ 219 w 219"/>
                <a:gd name="T5" fmla="*/ 0 h 135"/>
              </a:gdLst>
              <a:ahLst/>
              <a:cxnLst>
                <a:cxn ang="0">
                  <a:pos x="T0" y="T1"/>
                </a:cxn>
                <a:cxn ang="0">
                  <a:pos x="T2" y="T3"/>
                </a:cxn>
                <a:cxn ang="0">
                  <a:pos x="T4" y="T5"/>
                </a:cxn>
              </a:cxnLst>
              <a:rect l="0" t="0" r="r" b="b"/>
              <a:pathLst>
                <a:path w="219" h="135">
                  <a:moveTo>
                    <a:pt x="0" y="50"/>
                  </a:moveTo>
                  <a:lnTo>
                    <a:pt x="85" y="135"/>
                  </a:lnTo>
                  <a:lnTo>
                    <a:pt x="219" y="0"/>
                  </a:ln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Freeform 18"/>
            <p:cNvSpPr>
              <a:spLocks/>
            </p:cNvSpPr>
            <p:nvPr/>
          </p:nvSpPr>
          <p:spPr bwMode="auto">
            <a:xfrm>
              <a:off x="5591175" y="5453063"/>
              <a:ext cx="547687" cy="623888"/>
            </a:xfrm>
            <a:custGeom>
              <a:avLst/>
              <a:gdLst>
                <a:gd name="T0" fmla="*/ 16 w 146"/>
                <a:gd name="T1" fmla="*/ 0 h 166"/>
                <a:gd name="T2" fmla="*/ 6 w 146"/>
                <a:gd name="T3" fmla="*/ 0 h 166"/>
                <a:gd name="T4" fmla="*/ 0 w 146"/>
                <a:gd name="T5" fmla="*/ 5 h 166"/>
                <a:gd name="T6" fmla="*/ 0 w 146"/>
                <a:gd name="T7" fmla="*/ 161 h 166"/>
                <a:gd name="T8" fmla="*/ 6 w 146"/>
                <a:gd name="T9" fmla="*/ 166 h 166"/>
                <a:gd name="T10" fmla="*/ 141 w 146"/>
                <a:gd name="T11" fmla="*/ 166 h 166"/>
                <a:gd name="T12" fmla="*/ 146 w 146"/>
                <a:gd name="T13" fmla="*/ 161 h 166"/>
                <a:gd name="T14" fmla="*/ 146 w 146"/>
                <a:gd name="T15" fmla="*/ 5 h 166"/>
                <a:gd name="T16" fmla="*/ 141 w 146"/>
                <a:gd name="T17" fmla="*/ 0 h 166"/>
                <a:gd name="T18" fmla="*/ 131 w 146"/>
                <a:gd name="T1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 h="166">
                  <a:moveTo>
                    <a:pt x="16" y="0"/>
                  </a:moveTo>
                  <a:cubicBezTo>
                    <a:pt x="6" y="0"/>
                    <a:pt x="6" y="0"/>
                    <a:pt x="6" y="0"/>
                  </a:cubicBezTo>
                  <a:cubicBezTo>
                    <a:pt x="3" y="0"/>
                    <a:pt x="0" y="2"/>
                    <a:pt x="0" y="5"/>
                  </a:cubicBezTo>
                  <a:cubicBezTo>
                    <a:pt x="0" y="161"/>
                    <a:pt x="0" y="161"/>
                    <a:pt x="0" y="161"/>
                  </a:cubicBezTo>
                  <a:cubicBezTo>
                    <a:pt x="0" y="164"/>
                    <a:pt x="3" y="166"/>
                    <a:pt x="6" y="166"/>
                  </a:cubicBezTo>
                  <a:cubicBezTo>
                    <a:pt x="141" y="166"/>
                    <a:pt x="141" y="166"/>
                    <a:pt x="141" y="166"/>
                  </a:cubicBezTo>
                  <a:cubicBezTo>
                    <a:pt x="144" y="166"/>
                    <a:pt x="146" y="164"/>
                    <a:pt x="146" y="161"/>
                  </a:cubicBezTo>
                  <a:cubicBezTo>
                    <a:pt x="146" y="5"/>
                    <a:pt x="146" y="5"/>
                    <a:pt x="146" y="5"/>
                  </a:cubicBezTo>
                  <a:cubicBezTo>
                    <a:pt x="146" y="2"/>
                    <a:pt x="144" y="0"/>
                    <a:pt x="141" y="0"/>
                  </a:cubicBezTo>
                  <a:cubicBezTo>
                    <a:pt x="131" y="0"/>
                    <a:pt x="131" y="0"/>
                    <a:pt x="131" y="0"/>
                  </a:cubicBez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Freeform 19"/>
            <p:cNvSpPr>
              <a:spLocks/>
            </p:cNvSpPr>
            <p:nvPr/>
          </p:nvSpPr>
          <p:spPr bwMode="auto">
            <a:xfrm>
              <a:off x="5711825" y="5337175"/>
              <a:ext cx="311150" cy="153988"/>
            </a:xfrm>
            <a:custGeom>
              <a:avLst/>
              <a:gdLst>
                <a:gd name="T0" fmla="*/ 36 w 83"/>
                <a:gd name="T1" fmla="*/ 0 h 41"/>
                <a:gd name="T2" fmla="*/ 30 w 83"/>
                <a:gd name="T3" fmla="*/ 5 h 41"/>
                <a:gd name="T4" fmla="*/ 27 w 83"/>
                <a:gd name="T5" fmla="*/ 15 h 41"/>
                <a:gd name="T6" fmla="*/ 21 w 83"/>
                <a:gd name="T7" fmla="*/ 20 h 41"/>
                <a:gd name="T8" fmla="*/ 10 w 83"/>
                <a:gd name="T9" fmla="*/ 20 h 41"/>
                <a:gd name="T10" fmla="*/ 4 w 83"/>
                <a:gd name="T11" fmla="*/ 25 h 41"/>
                <a:gd name="T12" fmla="*/ 1 w 83"/>
                <a:gd name="T13" fmla="*/ 36 h 41"/>
                <a:gd name="T14" fmla="*/ 5 w 83"/>
                <a:gd name="T15" fmla="*/ 41 h 41"/>
                <a:gd name="T16" fmla="*/ 78 w 83"/>
                <a:gd name="T17" fmla="*/ 41 h 41"/>
                <a:gd name="T18" fmla="*/ 82 w 83"/>
                <a:gd name="T19" fmla="*/ 36 h 41"/>
                <a:gd name="T20" fmla="*/ 79 w 83"/>
                <a:gd name="T21" fmla="*/ 25 h 41"/>
                <a:gd name="T22" fmla="*/ 73 w 83"/>
                <a:gd name="T23" fmla="*/ 20 h 41"/>
                <a:gd name="T24" fmla="*/ 62 w 83"/>
                <a:gd name="T25" fmla="*/ 20 h 41"/>
                <a:gd name="T26" fmla="*/ 56 w 83"/>
                <a:gd name="T27" fmla="*/ 15 h 41"/>
                <a:gd name="T28" fmla="*/ 53 w 83"/>
                <a:gd name="T29" fmla="*/ 5 h 41"/>
                <a:gd name="T30" fmla="*/ 47 w 83"/>
                <a:gd name="T31" fmla="*/ 0 h 41"/>
                <a:gd name="T32" fmla="*/ 36 w 83"/>
                <a:gd name="T3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1">
                  <a:moveTo>
                    <a:pt x="36" y="0"/>
                  </a:moveTo>
                  <a:cubicBezTo>
                    <a:pt x="33" y="0"/>
                    <a:pt x="30" y="2"/>
                    <a:pt x="30" y="5"/>
                  </a:cubicBezTo>
                  <a:cubicBezTo>
                    <a:pt x="27" y="15"/>
                    <a:pt x="27" y="15"/>
                    <a:pt x="27" y="15"/>
                  </a:cubicBezTo>
                  <a:cubicBezTo>
                    <a:pt x="26" y="18"/>
                    <a:pt x="23" y="20"/>
                    <a:pt x="21" y="20"/>
                  </a:cubicBezTo>
                  <a:cubicBezTo>
                    <a:pt x="10" y="20"/>
                    <a:pt x="10" y="20"/>
                    <a:pt x="10" y="20"/>
                  </a:cubicBezTo>
                  <a:cubicBezTo>
                    <a:pt x="7" y="20"/>
                    <a:pt x="4" y="23"/>
                    <a:pt x="4" y="25"/>
                  </a:cubicBezTo>
                  <a:cubicBezTo>
                    <a:pt x="1" y="36"/>
                    <a:pt x="1" y="36"/>
                    <a:pt x="1" y="36"/>
                  </a:cubicBezTo>
                  <a:cubicBezTo>
                    <a:pt x="0" y="39"/>
                    <a:pt x="2" y="41"/>
                    <a:pt x="5" y="41"/>
                  </a:cubicBezTo>
                  <a:cubicBezTo>
                    <a:pt x="78" y="41"/>
                    <a:pt x="78" y="41"/>
                    <a:pt x="78" y="41"/>
                  </a:cubicBezTo>
                  <a:cubicBezTo>
                    <a:pt x="81" y="41"/>
                    <a:pt x="83" y="39"/>
                    <a:pt x="82" y="36"/>
                  </a:cubicBezTo>
                  <a:cubicBezTo>
                    <a:pt x="79" y="25"/>
                    <a:pt x="79" y="25"/>
                    <a:pt x="79" y="25"/>
                  </a:cubicBezTo>
                  <a:cubicBezTo>
                    <a:pt x="78" y="23"/>
                    <a:pt x="76" y="20"/>
                    <a:pt x="73" y="20"/>
                  </a:cubicBezTo>
                  <a:cubicBezTo>
                    <a:pt x="62" y="20"/>
                    <a:pt x="62" y="20"/>
                    <a:pt x="62" y="20"/>
                  </a:cubicBezTo>
                  <a:cubicBezTo>
                    <a:pt x="59" y="20"/>
                    <a:pt x="56" y="18"/>
                    <a:pt x="56" y="15"/>
                  </a:cubicBezTo>
                  <a:cubicBezTo>
                    <a:pt x="53" y="5"/>
                    <a:pt x="53" y="5"/>
                    <a:pt x="53" y="5"/>
                  </a:cubicBezTo>
                  <a:cubicBezTo>
                    <a:pt x="52" y="2"/>
                    <a:pt x="49" y="0"/>
                    <a:pt x="47" y="0"/>
                  </a:cubicBezTo>
                  <a:lnTo>
                    <a:pt x="36" y="0"/>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789595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35"/>
          <p:cNvSpPr>
            <a:spLocks noChangeArrowheads="1"/>
          </p:cNvSpPr>
          <p:nvPr/>
        </p:nvSpPr>
        <p:spPr bwMode="auto">
          <a:xfrm>
            <a:off x="2609443" y="1826957"/>
            <a:ext cx="6534557" cy="1515190"/>
          </a:xfrm>
          <a:custGeom>
            <a:avLst/>
            <a:gdLst/>
            <a:ahLst/>
            <a:cxnLst/>
            <a:rect l="l" t="t" r="r" b="b"/>
            <a:pathLst>
              <a:path w="6534557" h="1515190">
                <a:moveTo>
                  <a:pt x="756065" y="0"/>
                </a:moveTo>
                <a:lnTo>
                  <a:pt x="6534557" y="0"/>
                </a:lnTo>
                <a:lnTo>
                  <a:pt x="6534557" y="1515190"/>
                </a:lnTo>
                <a:lnTo>
                  <a:pt x="756065" y="1515190"/>
                </a:lnTo>
                <a:cubicBezTo>
                  <a:pt x="338502" y="1515190"/>
                  <a:pt x="0" y="1176003"/>
                  <a:pt x="0" y="757595"/>
                </a:cubicBezTo>
                <a:cubicBezTo>
                  <a:pt x="0" y="339187"/>
                  <a:pt x="338502" y="0"/>
                  <a:pt x="756065" y="0"/>
                </a:cubicBezTo>
                <a:close/>
              </a:path>
            </a:pathLst>
          </a:custGeom>
          <a:solidFill>
            <a:schemeClr val="accent2"/>
          </a:solidFill>
          <a:ln>
            <a:noFill/>
          </a:ln>
        </p:spPr>
        <p:txBody>
          <a:bodyPr/>
          <a:lstStyle/>
          <a:p>
            <a:endParaRPr lang="zh-CN" altLang="en-US"/>
          </a:p>
        </p:txBody>
      </p:sp>
      <p:sp>
        <p:nvSpPr>
          <p:cNvPr id="5155" name="Oval 35"/>
          <p:cNvSpPr>
            <a:spLocks noChangeArrowheads="1"/>
          </p:cNvSpPr>
          <p:nvPr/>
        </p:nvSpPr>
        <p:spPr bwMode="auto">
          <a:xfrm>
            <a:off x="2725702" y="1943451"/>
            <a:ext cx="1279612" cy="1282202"/>
          </a:xfrm>
          <a:prstGeom prst="ellipse">
            <a:avLst/>
          </a:prstGeom>
          <a:solidFill>
            <a:schemeClr val="accent1"/>
          </a:solidFill>
          <a:ln>
            <a:noFill/>
          </a:ln>
        </p:spPr>
        <p:txBody>
          <a:bodyPr/>
          <a:lstStyle/>
          <a:p>
            <a:endParaRPr lang="zh-CN" altLang="en-US"/>
          </a:p>
        </p:txBody>
      </p:sp>
      <p:sp>
        <p:nvSpPr>
          <p:cNvPr id="12" name="矩形 11"/>
          <p:cNvSpPr/>
          <p:nvPr/>
        </p:nvSpPr>
        <p:spPr>
          <a:xfrm>
            <a:off x="4572558" y="2275559"/>
            <a:ext cx="870751" cy="526811"/>
          </a:xfrm>
          <a:prstGeom prst="rect">
            <a:avLst/>
          </a:prstGeom>
        </p:spPr>
        <p:txBody>
          <a:bodyPr wrap="none">
            <a:spAutoFit/>
          </a:bodyPr>
          <a:lstStyle/>
          <a:p>
            <a:pPr marL="171450" indent="-171450">
              <a:lnSpc>
                <a:spcPct val="150000"/>
              </a:lnSpc>
              <a:buFont typeface="Wingdings" pitchFamily="2" charset="2"/>
              <a:buChar char="l"/>
            </a:pPr>
            <a:r>
              <a:rPr lang="zh-CN" altLang="en-US" sz="1000" dirty="0">
                <a:ln w="6350">
                  <a:noFill/>
                </a:ln>
                <a:solidFill>
                  <a:schemeClr val="bg1"/>
                </a:solidFill>
                <a:latin typeface="微软雅黑" pitchFamily="34" charset="-122"/>
                <a:ea typeface="微软雅黑" pitchFamily="34" charset="-122"/>
              </a:rPr>
              <a:t>选题背景</a:t>
            </a:r>
          </a:p>
          <a:p>
            <a:pPr marL="171450" indent="-171450">
              <a:lnSpc>
                <a:spcPct val="150000"/>
              </a:lnSpc>
              <a:buFont typeface="Wingdings" pitchFamily="2" charset="2"/>
              <a:buChar char="l"/>
            </a:pPr>
            <a:r>
              <a:rPr lang="zh-CN" altLang="en-US" sz="1000" dirty="0">
                <a:ln w="6350">
                  <a:noFill/>
                </a:ln>
                <a:solidFill>
                  <a:schemeClr val="bg1"/>
                </a:solidFill>
                <a:latin typeface="微软雅黑" pitchFamily="34" charset="-122"/>
                <a:ea typeface="微软雅黑" pitchFamily="34" charset="-122"/>
              </a:rPr>
              <a:t>主要内容</a:t>
            </a:r>
          </a:p>
        </p:txBody>
      </p:sp>
      <p:sp>
        <p:nvSpPr>
          <p:cNvPr id="13" name="矩形 12"/>
          <p:cNvSpPr/>
          <p:nvPr/>
        </p:nvSpPr>
        <p:spPr>
          <a:xfrm>
            <a:off x="4572558" y="1875449"/>
            <a:ext cx="719708" cy="400110"/>
          </a:xfrm>
          <a:prstGeom prst="rect">
            <a:avLst/>
          </a:prstGeom>
        </p:spPr>
        <p:txBody>
          <a:bodyPr wrap="square">
            <a:spAutoFit/>
          </a:bodyPr>
          <a:lstStyle/>
          <a:p>
            <a:r>
              <a:rPr lang="zh-CN" altLang="en-US" sz="2000" b="1" dirty="0">
                <a:ln w="6350">
                  <a:noFill/>
                </a:ln>
                <a:solidFill>
                  <a:schemeClr val="bg1"/>
                </a:solidFill>
                <a:latin typeface="微软雅黑" pitchFamily="34" charset="-122"/>
                <a:ea typeface="微软雅黑" pitchFamily="34" charset="-122"/>
              </a:rPr>
              <a:t>绪论</a:t>
            </a:r>
          </a:p>
        </p:txBody>
      </p:sp>
      <p:grpSp>
        <p:nvGrpSpPr>
          <p:cNvPr id="10" name="组合 9"/>
          <p:cNvGrpSpPr/>
          <p:nvPr/>
        </p:nvGrpSpPr>
        <p:grpSpPr>
          <a:xfrm>
            <a:off x="3114508" y="2253333"/>
            <a:ext cx="500760" cy="636834"/>
            <a:chOff x="476250" y="5340350"/>
            <a:chExt cx="584200" cy="742950"/>
          </a:xfrm>
        </p:grpSpPr>
        <p:sp>
          <p:nvSpPr>
            <p:cNvPr id="14" name="Freeform 7"/>
            <p:cNvSpPr>
              <a:spLocks/>
            </p:cNvSpPr>
            <p:nvPr/>
          </p:nvSpPr>
          <p:spPr bwMode="auto">
            <a:xfrm>
              <a:off x="476250" y="5340350"/>
              <a:ext cx="584200" cy="742950"/>
            </a:xfrm>
            <a:custGeom>
              <a:avLst/>
              <a:gdLst>
                <a:gd name="T0" fmla="*/ 156 w 156"/>
                <a:gd name="T1" fmla="*/ 26 h 198"/>
                <a:gd name="T2" fmla="*/ 156 w 156"/>
                <a:gd name="T3" fmla="*/ 198 h 198"/>
                <a:gd name="T4" fmla="*/ 29 w 156"/>
                <a:gd name="T5" fmla="*/ 198 h 198"/>
                <a:gd name="T6" fmla="*/ 0 w 156"/>
                <a:gd name="T7" fmla="*/ 177 h 198"/>
                <a:gd name="T8" fmla="*/ 0 w 156"/>
                <a:gd name="T9" fmla="*/ 28 h 198"/>
                <a:gd name="T10" fmla="*/ 42 w 156"/>
                <a:gd name="T11" fmla="*/ 0 h 198"/>
                <a:gd name="T12" fmla="*/ 156 w 156"/>
                <a:gd name="T13" fmla="*/ 1 h 198"/>
                <a:gd name="T14" fmla="*/ 156 w 156"/>
                <a:gd name="T15" fmla="*/ 157 h 198"/>
                <a:gd name="T16" fmla="*/ 26 w 156"/>
                <a:gd name="T17" fmla="*/ 156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6" h="198">
                  <a:moveTo>
                    <a:pt x="156" y="26"/>
                  </a:moveTo>
                  <a:cubicBezTo>
                    <a:pt x="156" y="198"/>
                    <a:pt x="156" y="198"/>
                    <a:pt x="156" y="198"/>
                  </a:cubicBezTo>
                  <a:cubicBezTo>
                    <a:pt x="156" y="198"/>
                    <a:pt x="58" y="198"/>
                    <a:pt x="29" y="198"/>
                  </a:cubicBezTo>
                  <a:cubicBezTo>
                    <a:pt x="1" y="198"/>
                    <a:pt x="0" y="186"/>
                    <a:pt x="0" y="177"/>
                  </a:cubicBezTo>
                  <a:cubicBezTo>
                    <a:pt x="0" y="167"/>
                    <a:pt x="0" y="28"/>
                    <a:pt x="0" y="28"/>
                  </a:cubicBezTo>
                  <a:cubicBezTo>
                    <a:pt x="0" y="9"/>
                    <a:pt x="14" y="0"/>
                    <a:pt x="42" y="0"/>
                  </a:cubicBezTo>
                  <a:cubicBezTo>
                    <a:pt x="156" y="1"/>
                    <a:pt x="156" y="1"/>
                    <a:pt x="156" y="1"/>
                  </a:cubicBezTo>
                  <a:cubicBezTo>
                    <a:pt x="156" y="157"/>
                    <a:pt x="156" y="157"/>
                    <a:pt x="156" y="157"/>
                  </a:cubicBezTo>
                  <a:cubicBezTo>
                    <a:pt x="26" y="156"/>
                    <a:pt x="26" y="156"/>
                    <a:pt x="26" y="156"/>
                  </a:cubicBez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Line 8"/>
            <p:cNvSpPr>
              <a:spLocks noChangeShapeType="1"/>
            </p:cNvSpPr>
            <p:nvPr/>
          </p:nvSpPr>
          <p:spPr bwMode="auto">
            <a:xfrm flipH="1">
              <a:off x="573088" y="6005513"/>
              <a:ext cx="487362"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537214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descr="20120802014555副本"/>
          <p:cNvSpPr>
            <a:spLocks noChangeArrowheads="1"/>
          </p:cNvSpPr>
          <p:nvPr/>
        </p:nvSpPr>
        <p:spPr bwMode="auto">
          <a:xfrm>
            <a:off x="0" y="0"/>
            <a:ext cx="9145588" cy="2686879"/>
          </a:xfrm>
          <a:prstGeom prst="rect">
            <a:avLst/>
          </a:prstGeom>
          <a:blipFill dpi="0" rotWithShape="1">
            <a:blip r:embed="rId2" cstate="print">
              <a:extLst>
                <a:ext uri="{28A0092B-C50C-407E-A947-70E740481C1C}">
                  <a14:useLocalDpi xmlns:a14="http://schemas.microsoft.com/office/drawing/2010/main"/>
                </a:ext>
              </a:extLst>
            </a:blip>
            <a:srcRect/>
            <a:stretch>
              <a:fillRect/>
            </a:stretch>
          </a:blipFill>
          <a:ln>
            <a:noFill/>
          </a:ln>
        </p:spPr>
        <p:txBody>
          <a:bodyPr/>
          <a:lstStyle/>
          <a:p>
            <a:endParaRPr lang="zh-CN" altLang="en-US"/>
          </a:p>
        </p:txBody>
      </p:sp>
      <p:sp>
        <p:nvSpPr>
          <p:cNvPr id="22540" name="Rectangle 12"/>
          <p:cNvSpPr>
            <a:spLocks noChangeArrowheads="1"/>
          </p:cNvSpPr>
          <p:nvPr/>
        </p:nvSpPr>
        <p:spPr bwMode="auto">
          <a:xfrm>
            <a:off x="-1588" y="2570956"/>
            <a:ext cx="9145588" cy="514509"/>
          </a:xfrm>
          <a:prstGeom prst="rect">
            <a:avLst/>
          </a:prstGeom>
          <a:solidFill>
            <a:schemeClr val="accent2"/>
          </a:solidFill>
          <a:ln>
            <a:noFill/>
          </a:ln>
        </p:spPr>
        <p:txBody>
          <a:bodyPr/>
          <a:lstStyle/>
          <a:p>
            <a:endParaRPr lang="zh-CN" altLang="en-US"/>
          </a:p>
        </p:txBody>
      </p:sp>
      <p:sp>
        <p:nvSpPr>
          <p:cNvPr id="22555" name="Rectangle 27"/>
          <p:cNvSpPr>
            <a:spLocks noChangeArrowheads="1"/>
          </p:cNvSpPr>
          <p:nvPr/>
        </p:nvSpPr>
        <p:spPr bwMode="auto">
          <a:xfrm>
            <a:off x="7229475" y="3426882"/>
            <a:ext cx="211138" cy="122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buFont typeface="Arial" charset="0"/>
              <a:buNone/>
            </a:pPr>
            <a:r>
              <a:rPr lang="en-US" altLang="zh-CN" sz="800">
                <a:solidFill>
                  <a:schemeClr val="bg1"/>
                </a:solidFill>
                <a:latin typeface="微软雅黑" pitchFamily="34" charset="-122"/>
                <a:ea typeface="微软雅黑" pitchFamily="34" charset="-122"/>
              </a:rPr>
              <a:t>75%</a:t>
            </a:r>
            <a:endParaRPr lang="en-US" altLang="zh-CN" sz="800">
              <a:solidFill>
                <a:schemeClr val="bg1"/>
              </a:solidFill>
            </a:endParaRPr>
          </a:p>
        </p:txBody>
      </p:sp>
      <p:sp>
        <p:nvSpPr>
          <p:cNvPr id="22557" name="Rectangle 29"/>
          <p:cNvSpPr>
            <a:spLocks noChangeArrowheads="1"/>
          </p:cNvSpPr>
          <p:nvPr/>
        </p:nvSpPr>
        <p:spPr bwMode="auto">
          <a:xfrm>
            <a:off x="7779308" y="3981092"/>
            <a:ext cx="21320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buFont typeface="Arial" charset="0"/>
              <a:buNone/>
            </a:pPr>
            <a:r>
              <a:rPr lang="en-US" altLang="zh-CN" sz="800" dirty="0">
                <a:solidFill>
                  <a:schemeClr val="bg1"/>
                </a:solidFill>
                <a:latin typeface="微软雅黑" pitchFamily="34" charset="-122"/>
                <a:ea typeface="微软雅黑" pitchFamily="34" charset="-122"/>
              </a:rPr>
              <a:t>85%</a:t>
            </a:r>
            <a:endParaRPr lang="en-US" altLang="zh-CN" sz="800" dirty="0">
              <a:solidFill>
                <a:schemeClr val="bg1"/>
              </a:solidFill>
            </a:endParaRPr>
          </a:p>
        </p:txBody>
      </p:sp>
      <p:sp>
        <p:nvSpPr>
          <p:cNvPr id="22559" name="Rectangle 31"/>
          <p:cNvSpPr>
            <a:spLocks noChangeArrowheads="1"/>
          </p:cNvSpPr>
          <p:nvPr/>
        </p:nvSpPr>
        <p:spPr bwMode="auto">
          <a:xfrm>
            <a:off x="6918325" y="4514656"/>
            <a:ext cx="211138" cy="1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buFont typeface="Arial" charset="0"/>
              <a:buNone/>
            </a:pPr>
            <a:r>
              <a:rPr lang="en-US" altLang="zh-CN" sz="800" dirty="0">
                <a:solidFill>
                  <a:schemeClr val="bg1"/>
                </a:solidFill>
                <a:latin typeface="微软雅黑" pitchFamily="34" charset="-122"/>
                <a:ea typeface="微软雅黑" pitchFamily="34" charset="-122"/>
              </a:rPr>
              <a:t>65%</a:t>
            </a:r>
            <a:endParaRPr lang="en-US" altLang="zh-CN" sz="800" dirty="0">
              <a:solidFill>
                <a:schemeClr val="bg1"/>
              </a:solidFill>
            </a:endParaRPr>
          </a:p>
        </p:txBody>
      </p:sp>
      <p:sp>
        <p:nvSpPr>
          <p:cNvPr id="22560" name="Rectangle 32"/>
          <p:cNvSpPr>
            <a:spLocks noChangeArrowheads="1"/>
          </p:cNvSpPr>
          <p:nvPr/>
        </p:nvSpPr>
        <p:spPr bwMode="auto">
          <a:xfrm>
            <a:off x="4840288" y="3485639"/>
            <a:ext cx="20710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Arial" charset="0"/>
              <a:buNone/>
            </a:pPr>
            <a:r>
              <a:rPr lang="en-US" altLang="zh-CN" sz="800" dirty="0">
                <a:solidFill>
                  <a:schemeClr val="bg1">
                    <a:lumMod val="50000"/>
                  </a:schemeClr>
                </a:solidFill>
              </a:rPr>
              <a:t> </a:t>
            </a:r>
          </a:p>
        </p:txBody>
      </p:sp>
      <p:sp>
        <p:nvSpPr>
          <p:cNvPr id="22562" name="Rectangle 34"/>
          <p:cNvSpPr>
            <a:spLocks noChangeArrowheads="1"/>
          </p:cNvSpPr>
          <p:nvPr/>
        </p:nvSpPr>
        <p:spPr bwMode="auto">
          <a:xfrm>
            <a:off x="4840288" y="4582940"/>
            <a:ext cx="20710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Arial" charset="0"/>
              <a:buNone/>
            </a:pPr>
            <a:r>
              <a:rPr lang="en-US" altLang="zh-CN" sz="800" dirty="0">
                <a:solidFill>
                  <a:schemeClr val="bg1">
                    <a:lumMod val="50000"/>
                  </a:schemeClr>
                </a:solidFill>
              </a:rPr>
              <a:t> </a:t>
            </a:r>
          </a:p>
        </p:txBody>
      </p:sp>
      <p:sp>
        <p:nvSpPr>
          <p:cNvPr id="22563" name="Line 35"/>
          <p:cNvSpPr>
            <a:spLocks noChangeShapeType="1"/>
          </p:cNvSpPr>
          <p:nvPr/>
        </p:nvSpPr>
        <p:spPr bwMode="auto">
          <a:xfrm>
            <a:off x="4719638" y="3241042"/>
            <a:ext cx="0" cy="1750058"/>
          </a:xfrm>
          <a:prstGeom prst="line">
            <a:avLst/>
          </a:prstGeom>
          <a:noFill/>
          <a:ln w="6350">
            <a:solidFill>
              <a:schemeClr val="bg1">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64" name="Rectangle 36"/>
          <p:cNvSpPr>
            <a:spLocks noChangeArrowheads="1"/>
          </p:cNvSpPr>
          <p:nvPr/>
        </p:nvSpPr>
        <p:spPr bwMode="auto">
          <a:xfrm>
            <a:off x="358792" y="3241042"/>
            <a:ext cx="4013183" cy="1681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20000"/>
              </a:lnSpc>
              <a:buFont typeface="Arial" charset="0"/>
              <a:buNone/>
            </a:pPr>
            <a:endParaRPr lang="zh-CN" altLang="en-US" sz="800" dirty="0">
              <a:solidFill>
                <a:schemeClr val="bg1">
                  <a:lumMod val="50000"/>
                </a:schemeClr>
              </a:solidFill>
            </a:endParaRPr>
          </a:p>
          <a:p>
            <a:pPr>
              <a:lnSpc>
                <a:spcPct val="120000"/>
              </a:lnSpc>
              <a:buFont typeface="Arial" charset="0"/>
              <a:buNone/>
            </a:pPr>
            <a:r>
              <a:rPr lang="zh-CN" altLang="en-US" sz="1200" dirty="0">
                <a:solidFill>
                  <a:srgbClr val="002060"/>
                </a:solidFill>
                <a:latin typeface="Agency FB" panose="020B0503020202020204" pitchFamily="34" charset="0"/>
              </a:rPr>
              <a:t>随着软件开发行业的快速发展，持续集成和持续交付（</a:t>
            </a:r>
            <a:r>
              <a:rPr lang="en-US" altLang="zh-CN" sz="1200" dirty="0">
                <a:solidFill>
                  <a:srgbClr val="002060"/>
                </a:solidFill>
                <a:latin typeface="Agency FB" panose="020B0503020202020204" pitchFamily="34" charset="0"/>
              </a:rPr>
              <a:t>CI/CD</a:t>
            </a:r>
            <a:r>
              <a:rPr lang="zh-CN" altLang="en-US" sz="1200" dirty="0">
                <a:solidFill>
                  <a:srgbClr val="002060"/>
                </a:solidFill>
                <a:latin typeface="Agency FB" panose="020B0503020202020204" pitchFamily="34" charset="0"/>
              </a:rPr>
              <a:t>）已经成为现代软件开发流程中不可或缺的一部分。</a:t>
            </a:r>
            <a:r>
              <a:rPr lang="en-US" altLang="zh-CN" sz="1200" dirty="0">
                <a:solidFill>
                  <a:srgbClr val="002060"/>
                </a:solidFill>
                <a:latin typeface="Agency FB" panose="020B0503020202020204" pitchFamily="34" charset="0"/>
              </a:rPr>
              <a:t>CI/CD</a:t>
            </a:r>
            <a:r>
              <a:rPr lang="zh-CN" altLang="en-US" sz="1200" dirty="0">
                <a:solidFill>
                  <a:srgbClr val="002060"/>
                </a:solidFill>
                <a:latin typeface="Agency FB" panose="020B0503020202020204" pitchFamily="34" charset="0"/>
              </a:rPr>
              <a:t>旨在通过动态化和标准化的方式，实现软件开发、测试部署的高效率和高可靠的技术。艾若公司为一家创新型软件企业，目前艾若公司对软件的开发和交付存在着效率过低和软件质量参差不齐等问题。迫切需要建立一个可靠的</a:t>
            </a:r>
            <a:r>
              <a:rPr lang="en-US" altLang="zh-CN" sz="1200" dirty="0">
                <a:solidFill>
                  <a:srgbClr val="002060"/>
                </a:solidFill>
                <a:latin typeface="Agency FB" panose="020B0503020202020204" pitchFamily="34" charset="0"/>
              </a:rPr>
              <a:t>CI/CD</a:t>
            </a:r>
            <a:r>
              <a:rPr lang="zh-CN" altLang="en-US" sz="1200" dirty="0">
                <a:solidFill>
                  <a:srgbClr val="002060"/>
                </a:solidFill>
                <a:latin typeface="Agency FB" panose="020B0503020202020204" pitchFamily="34" charset="0"/>
              </a:rPr>
              <a:t>流水线来加速产品交付，并提高软件质量。</a:t>
            </a:r>
          </a:p>
        </p:txBody>
      </p:sp>
      <p:sp>
        <p:nvSpPr>
          <p:cNvPr id="22565" name="Rectangle 37"/>
          <p:cNvSpPr>
            <a:spLocks noChangeArrowheads="1"/>
          </p:cNvSpPr>
          <p:nvPr/>
        </p:nvSpPr>
        <p:spPr bwMode="auto">
          <a:xfrm>
            <a:off x="906464" y="2681427"/>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Arial" charset="0"/>
              <a:buNone/>
            </a:pPr>
            <a:r>
              <a:rPr lang="zh-CN" altLang="en-US" sz="1200" dirty="0">
                <a:solidFill>
                  <a:schemeClr val="bg1"/>
                </a:solidFill>
              </a:rPr>
              <a:t>背景介绍</a:t>
            </a:r>
            <a:endParaRPr lang="en-US" altLang="zh-CN" sz="1200" dirty="0">
              <a:solidFill>
                <a:schemeClr val="bg1"/>
              </a:solidFill>
            </a:endParaRPr>
          </a:p>
        </p:txBody>
      </p:sp>
      <p:sp>
        <p:nvSpPr>
          <p:cNvPr id="22566" name="Line 38"/>
          <p:cNvSpPr>
            <a:spLocks noChangeShapeType="1"/>
          </p:cNvSpPr>
          <p:nvPr/>
        </p:nvSpPr>
        <p:spPr bwMode="auto">
          <a:xfrm>
            <a:off x="890588" y="2680528"/>
            <a:ext cx="0" cy="282662"/>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Text Box 42"/>
          <p:cNvSpPr txBox="1">
            <a:spLocks noChangeArrowheads="1"/>
          </p:cNvSpPr>
          <p:nvPr/>
        </p:nvSpPr>
        <p:spPr bwMode="auto">
          <a:xfrm>
            <a:off x="3864114" y="290122"/>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 typeface="Arial" charset="0"/>
              <a:buNone/>
            </a:pPr>
            <a:r>
              <a:rPr lang="zh-CN" altLang="en-US" sz="2400" b="1" dirty="0">
                <a:solidFill>
                  <a:schemeClr val="accent1"/>
                </a:solidFill>
                <a:latin typeface="微软雅黑" pitchFamily="34" charset="-122"/>
                <a:ea typeface="微软雅黑" pitchFamily="34" charset="-122"/>
              </a:rPr>
              <a:t>选题背景</a:t>
            </a:r>
            <a:endParaRPr lang="en-US" altLang="zh-CN" sz="2400" b="1" dirty="0">
              <a:solidFill>
                <a:schemeClr val="accent1"/>
              </a:solidFill>
              <a:latin typeface="微软雅黑" pitchFamily="34" charset="-122"/>
              <a:ea typeface="微软雅黑" pitchFamily="34" charset="-122"/>
            </a:endParaRPr>
          </a:p>
        </p:txBody>
      </p:sp>
      <p:cxnSp>
        <p:nvCxnSpPr>
          <p:cNvPr id="40" name="直接连接符 39"/>
          <p:cNvCxnSpPr/>
          <p:nvPr/>
        </p:nvCxnSpPr>
        <p:spPr>
          <a:xfrm>
            <a:off x="4226801" y="974973"/>
            <a:ext cx="690398"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5" name="组合 44"/>
          <p:cNvGrpSpPr/>
          <p:nvPr/>
        </p:nvGrpSpPr>
        <p:grpSpPr>
          <a:xfrm>
            <a:off x="442499" y="2692400"/>
            <a:ext cx="277550" cy="271620"/>
            <a:chOff x="3384550" y="-744538"/>
            <a:chExt cx="371475" cy="363538"/>
          </a:xfrm>
        </p:grpSpPr>
        <p:sp>
          <p:nvSpPr>
            <p:cNvPr id="46" name="Freeform 12"/>
            <p:cNvSpPr>
              <a:spLocks/>
            </p:cNvSpPr>
            <p:nvPr/>
          </p:nvSpPr>
          <p:spPr bwMode="auto">
            <a:xfrm>
              <a:off x="3384550" y="-744538"/>
              <a:ext cx="274637" cy="266700"/>
            </a:xfrm>
            <a:custGeom>
              <a:avLst/>
              <a:gdLst>
                <a:gd name="T0" fmla="*/ 66 w 173"/>
                <a:gd name="T1" fmla="*/ 128 h 168"/>
                <a:gd name="T2" fmla="*/ 26 w 173"/>
                <a:gd name="T3" fmla="*/ 168 h 168"/>
                <a:gd name="T4" fmla="*/ 26 w 173"/>
                <a:gd name="T5" fmla="*/ 123 h 168"/>
                <a:gd name="T6" fmla="*/ 0 w 173"/>
                <a:gd name="T7" fmla="*/ 123 h 168"/>
                <a:gd name="T8" fmla="*/ 0 w 173"/>
                <a:gd name="T9" fmla="*/ 0 h 168"/>
                <a:gd name="T10" fmla="*/ 173 w 173"/>
                <a:gd name="T11" fmla="*/ 0 h 168"/>
                <a:gd name="T12" fmla="*/ 173 w 173"/>
                <a:gd name="T13" fmla="*/ 42 h 168"/>
              </a:gdLst>
              <a:ahLst/>
              <a:cxnLst>
                <a:cxn ang="0">
                  <a:pos x="T0" y="T1"/>
                </a:cxn>
                <a:cxn ang="0">
                  <a:pos x="T2" y="T3"/>
                </a:cxn>
                <a:cxn ang="0">
                  <a:pos x="T4" y="T5"/>
                </a:cxn>
                <a:cxn ang="0">
                  <a:pos x="T6" y="T7"/>
                </a:cxn>
                <a:cxn ang="0">
                  <a:pos x="T8" y="T9"/>
                </a:cxn>
                <a:cxn ang="0">
                  <a:pos x="T10" y="T11"/>
                </a:cxn>
                <a:cxn ang="0">
                  <a:pos x="T12" y="T13"/>
                </a:cxn>
              </a:cxnLst>
              <a:rect l="0" t="0" r="r" b="b"/>
              <a:pathLst>
                <a:path w="173" h="168">
                  <a:moveTo>
                    <a:pt x="66" y="128"/>
                  </a:moveTo>
                  <a:lnTo>
                    <a:pt x="26" y="168"/>
                  </a:lnTo>
                  <a:lnTo>
                    <a:pt x="26" y="123"/>
                  </a:lnTo>
                  <a:lnTo>
                    <a:pt x="0" y="123"/>
                  </a:lnTo>
                  <a:lnTo>
                    <a:pt x="0" y="0"/>
                  </a:lnTo>
                  <a:lnTo>
                    <a:pt x="173" y="0"/>
                  </a:lnTo>
                  <a:lnTo>
                    <a:pt x="173" y="42"/>
                  </a:ln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13"/>
            <p:cNvSpPr>
              <a:spLocks/>
            </p:cNvSpPr>
            <p:nvPr/>
          </p:nvSpPr>
          <p:spPr bwMode="auto">
            <a:xfrm>
              <a:off x="3524250" y="-647700"/>
              <a:ext cx="231775" cy="266700"/>
            </a:xfrm>
            <a:custGeom>
              <a:avLst/>
              <a:gdLst>
                <a:gd name="T0" fmla="*/ 0 w 146"/>
                <a:gd name="T1" fmla="*/ 126 h 168"/>
                <a:gd name="T2" fmla="*/ 80 w 146"/>
                <a:gd name="T3" fmla="*/ 126 h 168"/>
                <a:gd name="T4" fmla="*/ 123 w 146"/>
                <a:gd name="T5" fmla="*/ 168 h 168"/>
                <a:gd name="T6" fmla="*/ 123 w 146"/>
                <a:gd name="T7" fmla="*/ 126 h 168"/>
                <a:gd name="T8" fmla="*/ 146 w 146"/>
                <a:gd name="T9" fmla="*/ 126 h 168"/>
                <a:gd name="T10" fmla="*/ 146 w 146"/>
                <a:gd name="T11" fmla="*/ 0 h 168"/>
                <a:gd name="T12" fmla="*/ 0 w 146"/>
                <a:gd name="T13" fmla="*/ 0 h 168"/>
                <a:gd name="T14" fmla="*/ 0 w 146"/>
                <a:gd name="T15" fmla="*/ 126 h 1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6" h="168">
                  <a:moveTo>
                    <a:pt x="0" y="126"/>
                  </a:moveTo>
                  <a:lnTo>
                    <a:pt x="80" y="126"/>
                  </a:lnTo>
                  <a:lnTo>
                    <a:pt x="123" y="168"/>
                  </a:lnTo>
                  <a:lnTo>
                    <a:pt x="123" y="126"/>
                  </a:lnTo>
                  <a:lnTo>
                    <a:pt x="146" y="126"/>
                  </a:lnTo>
                  <a:lnTo>
                    <a:pt x="146" y="0"/>
                  </a:lnTo>
                  <a:lnTo>
                    <a:pt x="0" y="0"/>
                  </a:lnTo>
                  <a:lnTo>
                    <a:pt x="0" y="126"/>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pic>
        <p:nvPicPr>
          <p:cNvPr id="5" name="图片 4">
            <a:extLst>
              <a:ext uri="{FF2B5EF4-FFF2-40B4-BE49-F238E27FC236}">
                <a16:creationId xmlns:a16="http://schemas.microsoft.com/office/drawing/2014/main" id="{30CB777E-4CCA-B90B-6480-E6AA864AA778}"/>
              </a:ext>
            </a:extLst>
          </p:cNvPr>
          <p:cNvPicPr>
            <a:picLocks noChangeAspect="1"/>
          </p:cNvPicPr>
          <p:nvPr/>
        </p:nvPicPr>
        <p:blipFill>
          <a:blip r:embed="rId3"/>
          <a:stretch>
            <a:fillRect/>
          </a:stretch>
        </p:blipFill>
        <p:spPr>
          <a:xfrm>
            <a:off x="5804850" y="3219601"/>
            <a:ext cx="2438087" cy="1797958"/>
          </a:xfrm>
          <a:prstGeom prst="rect">
            <a:avLst/>
          </a:prstGeom>
        </p:spPr>
      </p:pic>
    </p:spTree>
    <p:extLst>
      <p:ext uri="{BB962C8B-B14F-4D97-AF65-F5344CB8AC3E}">
        <p14:creationId xmlns:p14="http://schemas.microsoft.com/office/powerpoint/2010/main" val="725361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7" name="Rectangle 11" descr="49b68f35gc54dd7a416d7&amp;690"/>
          <p:cNvSpPr>
            <a:spLocks noChangeArrowheads="1"/>
          </p:cNvSpPr>
          <p:nvPr/>
        </p:nvSpPr>
        <p:spPr bwMode="auto">
          <a:xfrm>
            <a:off x="0" y="1419663"/>
            <a:ext cx="4284663" cy="2953661"/>
          </a:xfrm>
          <a:prstGeom prst="rect">
            <a:avLst/>
          </a:prstGeom>
          <a:blipFill dpi="0" rotWithShape="1">
            <a:blip r:embed="rId2" cstate="print">
              <a:extLst>
                <a:ext uri="{28A0092B-C50C-407E-A947-70E740481C1C}">
                  <a14:useLocalDpi xmlns:a14="http://schemas.microsoft.com/office/drawing/2010/main"/>
                </a:ext>
              </a:extLst>
            </a:blip>
            <a:srcRect/>
            <a:stretch>
              <a:fillRect/>
            </a:stretch>
          </a:blipFill>
          <a:ln>
            <a:noFill/>
          </a:ln>
          <a:effectLst/>
        </p:spPr>
        <p:txBody>
          <a:bodyPr wrap="none" anchor="ctr"/>
          <a:lstStyle/>
          <a:p>
            <a:endParaRPr lang="zh-CN" altLang="en-US"/>
          </a:p>
        </p:txBody>
      </p:sp>
      <p:sp>
        <p:nvSpPr>
          <p:cNvPr id="19468" name="Rectangle 12"/>
          <p:cNvSpPr>
            <a:spLocks noChangeArrowheads="1"/>
          </p:cNvSpPr>
          <p:nvPr/>
        </p:nvSpPr>
        <p:spPr bwMode="auto">
          <a:xfrm>
            <a:off x="4273992" y="1419663"/>
            <a:ext cx="3959225" cy="2953661"/>
          </a:xfrm>
          <a:prstGeom prst="rect">
            <a:avLst/>
          </a:prstGeom>
          <a:solidFill>
            <a:schemeClr val="accent2"/>
          </a:solidFill>
          <a:ln>
            <a:noFill/>
          </a:ln>
          <a:effectLst/>
        </p:spPr>
        <p:txBody>
          <a:bodyPr wrap="none" anchor="ctr"/>
          <a:lstStyle/>
          <a:p>
            <a:endParaRPr lang="zh-CN" altLang="en-US"/>
          </a:p>
        </p:txBody>
      </p:sp>
      <p:sp>
        <p:nvSpPr>
          <p:cNvPr id="19469" name="Rectangle 13"/>
          <p:cNvSpPr>
            <a:spLocks noChangeArrowheads="1"/>
          </p:cNvSpPr>
          <p:nvPr/>
        </p:nvSpPr>
        <p:spPr bwMode="auto">
          <a:xfrm flipH="1">
            <a:off x="3995738" y="1419663"/>
            <a:ext cx="309562" cy="2953661"/>
          </a:xfrm>
          <a:prstGeom prst="rect">
            <a:avLst/>
          </a:prstGeom>
          <a:solidFill>
            <a:schemeClr val="accent2">
              <a:alpha val="50000"/>
            </a:schemeClr>
          </a:solidFill>
          <a:ln>
            <a:noFill/>
          </a:ln>
          <a:effectLst/>
        </p:spPr>
        <p:txBody>
          <a:bodyPr wrap="none" anchor="ctr"/>
          <a:lstStyle/>
          <a:p>
            <a:endParaRPr lang="zh-CN" altLang="en-US"/>
          </a:p>
        </p:txBody>
      </p:sp>
      <p:sp>
        <p:nvSpPr>
          <p:cNvPr id="19470" name="Rectangle 14"/>
          <p:cNvSpPr>
            <a:spLocks noChangeArrowheads="1"/>
          </p:cNvSpPr>
          <p:nvPr/>
        </p:nvSpPr>
        <p:spPr bwMode="auto">
          <a:xfrm>
            <a:off x="4577269" y="1914821"/>
            <a:ext cx="3384550" cy="2306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20000"/>
              </a:lnSpc>
              <a:buFont typeface="Arial" charset="0"/>
              <a:buNone/>
            </a:pPr>
            <a:r>
              <a:rPr lang="zh-CN" altLang="en-US" sz="1400" dirty="0">
                <a:solidFill>
                  <a:schemeClr val="bg1"/>
                </a:solidFill>
              </a:rPr>
              <a:t>首先，我们将介绍容器技术和</a:t>
            </a:r>
            <a:r>
              <a:rPr lang="en-US" altLang="zh-CN" sz="1400" dirty="0">
                <a:solidFill>
                  <a:schemeClr val="bg1"/>
                </a:solidFill>
              </a:rPr>
              <a:t>Kubernetes</a:t>
            </a:r>
            <a:r>
              <a:rPr lang="zh-CN" altLang="en-US" sz="1400" dirty="0">
                <a:solidFill>
                  <a:schemeClr val="bg1"/>
                </a:solidFill>
              </a:rPr>
              <a:t>的相关背景知识，并阐述其优势和应用场景。其次，我们将深入研究</a:t>
            </a:r>
            <a:r>
              <a:rPr lang="en-US" altLang="zh-CN" sz="1400" dirty="0">
                <a:solidFill>
                  <a:schemeClr val="bg1"/>
                </a:solidFill>
              </a:rPr>
              <a:t>Kubernetes</a:t>
            </a:r>
            <a:r>
              <a:rPr lang="zh-CN" altLang="en-US" sz="1400" dirty="0">
                <a:solidFill>
                  <a:schemeClr val="bg1"/>
                </a:solidFill>
              </a:rPr>
              <a:t>的架构和组件，以及如何使用它们来搭建高可用性、可扩展性和自动化的云平台。最后，我们将介绍如何使用</a:t>
            </a:r>
            <a:r>
              <a:rPr lang="en-US" altLang="zh-CN" sz="1400" dirty="0">
                <a:solidFill>
                  <a:schemeClr val="bg1"/>
                </a:solidFill>
              </a:rPr>
              <a:t>Kubernetes</a:t>
            </a:r>
            <a:r>
              <a:rPr lang="zh-CN" altLang="en-US" sz="1400" dirty="0">
                <a:solidFill>
                  <a:schemeClr val="bg1"/>
                </a:solidFill>
              </a:rPr>
              <a:t>集成</a:t>
            </a:r>
            <a:r>
              <a:rPr lang="en-US" altLang="zh-CN" sz="1400" dirty="0">
                <a:solidFill>
                  <a:schemeClr val="bg1"/>
                </a:solidFill>
              </a:rPr>
              <a:t>CI/CD</a:t>
            </a:r>
            <a:r>
              <a:rPr lang="zh-CN" altLang="en-US" sz="1400" dirty="0">
                <a:solidFill>
                  <a:schemeClr val="bg1"/>
                </a:solidFill>
              </a:rPr>
              <a:t>工具链来实现持续构建、持续交付和持续部署等</a:t>
            </a:r>
            <a:r>
              <a:rPr lang="en-US" altLang="zh-CN" sz="1400" dirty="0">
                <a:solidFill>
                  <a:schemeClr val="bg1"/>
                </a:solidFill>
              </a:rPr>
              <a:t>CI/CD</a:t>
            </a:r>
            <a:r>
              <a:rPr lang="zh-CN" altLang="en-US" sz="1400" dirty="0">
                <a:solidFill>
                  <a:schemeClr val="bg1"/>
                </a:solidFill>
              </a:rPr>
              <a:t>流程，以支持艾若公司快速、稳定地发布新版本。</a:t>
            </a:r>
          </a:p>
        </p:txBody>
      </p:sp>
      <p:sp>
        <p:nvSpPr>
          <p:cNvPr id="19472" name="Oval 16"/>
          <p:cNvSpPr>
            <a:spLocks noChangeArrowheads="1"/>
          </p:cNvSpPr>
          <p:nvPr/>
        </p:nvSpPr>
        <p:spPr bwMode="auto">
          <a:xfrm>
            <a:off x="4612615" y="1581243"/>
            <a:ext cx="266700" cy="266782"/>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479" name="Rectangle 23"/>
          <p:cNvSpPr>
            <a:spLocks noChangeArrowheads="1"/>
          </p:cNvSpPr>
          <p:nvPr/>
        </p:nvSpPr>
        <p:spPr bwMode="auto">
          <a:xfrm>
            <a:off x="5047265" y="1596654"/>
            <a:ext cx="69762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Arial" charset="0"/>
              <a:buNone/>
            </a:pPr>
            <a:r>
              <a:rPr lang="zh-CN" altLang="en-US" sz="1000" dirty="0">
                <a:solidFill>
                  <a:schemeClr val="bg1"/>
                </a:solidFill>
              </a:rPr>
              <a:t>内容介绍</a:t>
            </a:r>
            <a:endParaRPr lang="en-US" altLang="zh-CN" sz="1000" dirty="0">
              <a:solidFill>
                <a:schemeClr val="bg1"/>
              </a:solidFill>
            </a:endParaRPr>
          </a:p>
        </p:txBody>
      </p:sp>
      <p:sp>
        <p:nvSpPr>
          <p:cNvPr id="19480" name="Line 24"/>
          <p:cNvSpPr>
            <a:spLocks noChangeShapeType="1"/>
          </p:cNvSpPr>
          <p:nvPr/>
        </p:nvSpPr>
        <p:spPr bwMode="auto">
          <a:xfrm>
            <a:off x="5026886" y="1584051"/>
            <a:ext cx="0" cy="228671"/>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Text Box 42"/>
          <p:cNvSpPr txBox="1">
            <a:spLocks noChangeArrowheads="1"/>
          </p:cNvSpPr>
          <p:nvPr/>
        </p:nvSpPr>
        <p:spPr bwMode="auto">
          <a:xfrm>
            <a:off x="3864117" y="290122"/>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 typeface="Arial" charset="0"/>
              <a:buNone/>
            </a:pPr>
            <a:r>
              <a:rPr lang="zh-CN" altLang="en-US" sz="2400" b="1" dirty="0">
                <a:solidFill>
                  <a:schemeClr val="accent1"/>
                </a:solidFill>
                <a:latin typeface="微软雅黑" pitchFamily="34" charset="-122"/>
                <a:ea typeface="微软雅黑" pitchFamily="34" charset="-122"/>
              </a:rPr>
              <a:t>主要内容</a:t>
            </a:r>
            <a:endParaRPr lang="en-US" altLang="zh-CN" sz="2400" b="1" dirty="0">
              <a:solidFill>
                <a:schemeClr val="accent1"/>
              </a:solidFill>
              <a:latin typeface="微软雅黑" pitchFamily="34" charset="-122"/>
              <a:ea typeface="微软雅黑" pitchFamily="34" charset="-122"/>
            </a:endParaRPr>
          </a:p>
        </p:txBody>
      </p:sp>
      <p:cxnSp>
        <p:nvCxnSpPr>
          <p:cNvPr id="20" name="直接连接符 19"/>
          <p:cNvCxnSpPr/>
          <p:nvPr/>
        </p:nvCxnSpPr>
        <p:spPr>
          <a:xfrm>
            <a:off x="4226801" y="974973"/>
            <a:ext cx="690398"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4671373" y="1620030"/>
            <a:ext cx="134630" cy="139482"/>
            <a:chOff x="1270000" y="-1382713"/>
            <a:chExt cx="352425" cy="365126"/>
          </a:xfrm>
        </p:grpSpPr>
        <p:sp>
          <p:nvSpPr>
            <p:cNvPr id="25" name="Line 40"/>
            <p:cNvSpPr>
              <a:spLocks noChangeShapeType="1"/>
            </p:cNvSpPr>
            <p:nvPr/>
          </p:nvSpPr>
          <p:spPr bwMode="auto">
            <a:xfrm>
              <a:off x="1277938" y="-1292225"/>
              <a:ext cx="333375" cy="0"/>
            </a:xfrm>
            <a:prstGeom prst="line">
              <a:avLst/>
            </a:prstGeom>
            <a:noFill/>
            <a:ln w="6350"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Line 41"/>
            <p:cNvSpPr>
              <a:spLocks noChangeShapeType="1"/>
            </p:cNvSpPr>
            <p:nvPr/>
          </p:nvSpPr>
          <p:spPr bwMode="auto">
            <a:xfrm>
              <a:off x="1397000" y="-1352550"/>
              <a:ext cx="98425" cy="0"/>
            </a:xfrm>
            <a:prstGeom prst="line">
              <a:avLst/>
            </a:prstGeom>
            <a:noFill/>
            <a:ln w="6350"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Line 42"/>
            <p:cNvSpPr>
              <a:spLocks noChangeShapeType="1"/>
            </p:cNvSpPr>
            <p:nvPr/>
          </p:nvSpPr>
          <p:spPr bwMode="auto">
            <a:xfrm flipV="1">
              <a:off x="1368425" y="-1382713"/>
              <a:ext cx="0" cy="60325"/>
            </a:xfrm>
            <a:prstGeom prst="line">
              <a:avLst/>
            </a:prstGeom>
            <a:noFill/>
            <a:ln w="6350"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Line 43"/>
            <p:cNvSpPr>
              <a:spLocks noChangeShapeType="1"/>
            </p:cNvSpPr>
            <p:nvPr/>
          </p:nvSpPr>
          <p:spPr bwMode="auto">
            <a:xfrm flipV="1">
              <a:off x="1525588" y="-1382713"/>
              <a:ext cx="0" cy="60325"/>
            </a:xfrm>
            <a:prstGeom prst="line">
              <a:avLst/>
            </a:prstGeom>
            <a:noFill/>
            <a:ln w="6350"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44"/>
            <p:cNvSpPr>
              <a:spLocks/>
            </p:cNvSpPr>
            <p:nvPr/>
          </p:nvSpPr>
          <p:spPr bwMode="auto">
            <a:xfrm>
              <a:off x="1270000" y="-1352550"/>
              <a:ext cx="352425" cy="334963"/>
            </a:xfrm>
            <a:custGeom>
              <a:avLst/>
              <a:gdLst>
                <a:gd name="T0" fmla="*/ 18 w 94"/>
                <a:gd name="T1" fmla="*/ 0 h 89"/>
                <a:gd name="T2" fmla="*/ 2 w 94"/>
                <a:gd name="T3" fmla="*/ 0 h 89"/>
                <a:gd name="T4" fmla="*/ 0 w 94"/>
                <a:gd name="T5" fmla="*/ 3 h 89"/>
                <a:gd name="T6" fmla="*/ 0 w 94"/>
                <a:gd name="T7" fmla="*/ 86 h 89"/>
                <a:gd name="T8" fmla="*/ 2 w 94"/>
                <a:gd name="T9" fmla="*/ 89 h 89"/>
                <a:gd name="T10" fmla="*/ 91 w 94"/>
                <a:gd name="T11" fmla="*/ 89 h 89"/>
                <a:gd name="T12" fmla="*/ 94 w 94"/>
                <a:gd name="T13" fmla="*/ 86 h 89"/>
                <a:gd name="T14" fmla="*/ 94 w 94"/>
                <a:gd name="T15" fmla="*/ 3 h 89"/>
                <a:gd name="T16" fmla="*/ 91 w 94"/>
                <a:gd name="T17" fmla="*/ 0 h 89"/>
                <a:gd name="T18" fmla="*/ 75 w 94"/>
                <a:gd name="T1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89">
                  <a:moveTo>
                    <a:pt x="18" y="0"/>
                  </a:moveTo>
                  <a:cubicBezTo>
                    <a:pt x="2" y="0"/>
                    <a:pt x="2" y="0"/>
                    <a:pt x="2" y="0"/>
                  </a:cubicBezTo>
                  <a:cubicBezTo>
                    <a:pt x="1" y="0"/>
                    <a:pt x="0" y="1"/>
                    <a:pt x="0" y="3"/>
                  </a:cubicBezTo>
                  <a:cubicBezTo>
                    <a:pt x="0" y="86"/>
                    <a:pt x="0" y="86"/>
                    <a:pt x="0" y="86"/>
                  </a:cubicBezTo>
                  <a:cubicBezTo>
                    <a:pt x="0" y="88"/>
                    <a:pt x="1" y="89"/>
                    <a:pt x="2" y="89"/>
                  </a:cubicBezTo>
                  <a:cubicBezTo>
                    <a:pt x="91" y="89"/>
                    <a:pt x="91" y="89"/>
                    <a:pt x="91" y="89"/>
                  </a:cubicBezTo>
                  <a:cubicBezTo>
                    <a:pt x="92" y="89"/>
                    <a:pt x="94" y="88"/>
                    <a:pt x="94" y="86"/>
                  </a:cubicBezTo>
                  <a:cubicBezTo>
                    <a:pt x="94" y="3"/>
                    <a:pt x="94" y="3"/>
                    <a:pt x="94" y="3"/>
                  </a:cubicBezTo>
                  <a:cubicBezTo>
                    <a:pt x="94" y="1"/>
                    <a:pt x="92" y="0"/>
                    <a:pt x="91" y="0"/>
                  </a:cubicBezTo>
                  <a:cubicBezTo>
                    <a:pt x="75" y="0"/>
                    <a:pt x="75" y="0"/>
                    <a:pt x="75" y="0"/>
                  </a:cubicBezTo>
                </a:path>
              </a:pathLst>
            </a:custGeom>
            <a:noFill/>
            <a:ln w="635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Rectangle 45"/>
            <p:cNvSpPr>
              <a:spLocks noChangeArrowheads="1"/>
            </p:cNvSpPr>
            <p:nvPr/>
          </p:nvSpPr>
          <p:spPr bwMode="auto">
            <a:xfrm>
              <a:off x="1385888" y="-1254125"/>
              <a:ext cx="38100" cy="41275"/>
            </a:xfrm>
            <a:prstGeom prst="rect">
              <a:avLst/>
            </a:prstGeom>
            <a:noFill/>
            <a:ln w="635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Rectangle 46"/>
            <p:cNvSpPr>
              <a:spLocks noChangeArrowheads="1"/>
            </p:cNvSpPr>
            <p:nvPr/>
          </p:nvSpPr>
          <p:spPr bwMode="auto">
            <a:xfrm>
              <a:off x="1465263" y="-1254125"/>
              <a:ext cx="38100" cy="41275"/>
            </a:xfrm>
            <a:prstGeom prst="rect">
              <a:avLst/>
            </a:prstGeom>
            <a:noFill/>
            <a:ln w="635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Rectangle 47"/>
            <p:cNvSpPr>
              <a:spLocks noChangeArrowheads="1"/>
            </p:cNvSpPr>
            <p:nvPr/>
          </p:nvSpPr>
          <p:spPr bwMode="auto">
            <a:xfrm>
              <a:off x="1544638" y="-1254125"/>
              <a:ext cx="36512" cy="41275"/>
            </a:xfrm>
            <a:prstGeom prst="rect">
              <a:avLst/>
            </a:prstGeom>
            <a:noFill/>
            <a:ln w="635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Rectangle 48"/>
            <p:cNvSpPr>
              <a:spLocks noChangeArrowheads="1"/>
            </p:cNvSpPr>
            <p:nvPr/>
          </p:nvSpPr>
          <p:spPr bwMode="auto">
            <a:xfrm>
              <a:off x="1308100" y="-1176338"/>
              <a:ext cx="41275" cy="41275"/>
            </a:xfrm>
            <a:prstGeom prst="rect">
              <a:avLst/>
            </a:prstGeom>
            <a:noFill/>
            <a:ln w="635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Rectangle 49"/>
            <p:cNvSpPr>
              <a:spLocks noChangeArrowheads="1"/>
            </p:cNvSpPr>
            <p:nvPr/>
          </p:nvSpPr>
          <p:spPr bwMode="auto">
            <a:xfrm>
              <a:off x="1385888" y="-1176338"/>
              <a:ext cx="38100" cy="41275"/>
            </a:xfrm>
            <a:prstGeom prst="rect">
              <a:avLst/>
            </a:prstGeom>
            <a:noFill/>
            <a:ln w="635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Rectangle 50"/>
            <p:cNvSpPr>
              <a:spLocks noChangeArrowheads="1"/>
            </p:cNvSpPr>
            <p:nvPr/>
          </p:nvSpPr>
          <p:spPr bwMode="auto">
            <a:xfrm>
              <a:off x="1465263" y="-1176338"/>
              <a:ext cx="38100" cy="41275"/>
            </a:xfrm>
            <a:prstGeom prst="rect">
              <a:avLst/>
            </a:prstGeom>
            <a:noFill/>
            <a:ln w="635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Rectangle 51"/>
            <p:cNvSpPr>
              <a:spLocks noChangeArrowheads="1"/>
            </p:cNvSpPr>
            <p:nvPr/>
          </p:nvSpPr>
          <p:spPr bwMode="auto">
            <a:xfrm>
              <a:off x="1544638" y="-1176338"/>
              <a:ext cx="36512" cy="41275"/>
            </a:xfrm>
            <a:prstGeom prst="rect">
              <a:avLst/>
            </a:prstGeom>
            <a:noFill/>
            <a:ln w="635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Rectangle 52"/>
            <p:cNvSpPr>
              <a:spLocks noChangeArrowheads="1"/>
            </p:cNvSpPr>
            <p:nvPr/>
          </p:nvSpPr>
          <p:spPr bwMode="auto">
            <a:xfrm>
              <a:off x="1308100" y="-1096963"/>
              <a:ext cx="41275" cy="41275"/>
            </a:xfrm>
            <a:prstGeom prst="rect">
              <a:avLst/>
            </a:prstGeom>
            <a:noFill/>
            <a:ln w="635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Rectangle 53"/>
            <p:cNvSpPr>
              <a:spLocks noChangeArrowheads="1"/>
            </p:cNvSpPr>
            <p:nvPr/>
          </p:nvSpPr>
          <p:spPr bwMode="auto">
            <a:xfrm>
              <a:off x="1385888" y="-1096963"/>
              <a:ext cx="38100" cy="41275"/>
            </a:xfrm>
            <a:prstGeom prst="rect">
              <a:avLst/>
            </a:prstGeom>
            <a:noFill/>
            <a:ln w="635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Rectangle 54"/>
            <p:cNvSpPr>
              <a:spLocks noChangeArrowheads="1"/>
            </p:cNvSpPr>
            <p:nvPr/>
          </p:nvSpPr>
          <p:spPr bwMode="auto">
            <a:xfrm>
              <a:off x="1465263" y="-1096963"/>
              <a:ext cx="38100" cy="41275"/>
            </a:xfrm>
            <a:prstGeom prst="rect">
              <a:avLst/>
            </a:prstGeom>
            <a:noFill/>
            <a:ln w="635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964517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35"/>
          <p:cNvSpPr>
            <a:spLocks noChangeArrowheads="1"/>
          </p:cNvSpPr>
          <p:nvPr/>
        </p:nvSpPr>
        <p:spPr bwMode="auto">
          <a:xfrm>
            <a:off x="2609443" y="1826957"/>
            <a:ext cx="6534557" cy="1515190"/>
          </a:xfrm>
          <a:custGeom>
            <a:avLst/>
            <a:gdLst/>
            <a:ahLst/>
            <a:cxnLst/>
            <a:rect l="l" t="t" r="r" b="b"/>
            <a:pathLst>
              <a:path w="6534557" h="1515190">
                <a:moveTo>
                  <a:pt x="756065" y="0"/>
                </a:moveTo>
                <a:lnTo>
                  <a:pt x="6534557" y="0"/>
                </a:lnTo>
                <a:lnTo>
                  <a:pt x="6534557" y="1515190"/>
                </a:lnTo>
                <a:lnTo>
                  <a:pt x="756065" y="1515190"/>
                </a:lnTo>
                <a:cubicBezTo>
                  <a:pt x="338502" y="1515190"/>
                  <a:pt x="0" y="1176003"/>
                  <a:pt x="0" y="757595"/>
                </a:cubicBezTo>
                <a:cubicBezTo>
                  <a:pt x="0" y="339187"/>
                  <a:pt x="338502" y="0"/>
                  <a:pt x="756065" y="0"/>
                </a:cubicBezTo>
                <a:close/>
              </a:path>
            </a:pathLst>
          </a:custGeom>
          <a:solidFill>
            <a:schemeClr val="accent2"/>
          </a:solidFill>
          <a:ln>
            <a:noFill/>
          </a:ln>
        </p:spPr>
        <p:txBody>
          <a:bodyPr/>
          <a:lstStyle/>
          <a:p>
            <a:endParaRPr lang="zh-CN" altLang="en-US"/>
          </a:p>
        </p:txBody>
      </p:sp>
      <p:sp>
        <p:nvSpPr>
          <p:cNvPr id="5155" name="Oval 35"/>
          <p:cNvSpPr>
            <a:spLocks noChangeArrowheads="1"/>
          </p:cNvSpPr>
          <p:nvPr/>
        </p:nvSpPr>
        <p:spPr bwMode="auto">
          <a:xfrm>
            <a:off x="2725702" y="1943451"/>
            <a:ext cx="1279612" cy="1282202"/>
          </a:xfrm>
          <a:prstGeom prst="ellipse">
            <a:avLst/>
          </a:prstGeom>
          <a:solidFill>
            <a:schemeClr val="accent1"/>
          </a:solidFill>
          <a:ln>
            <a:noFill/>
          </a:ln>
        </p:spPr>
        <p:txBody>
          <a:bodyPr/>
          <a:lstStyle/>
          <a:p>
            <a:endParaRPr lang="zh-CN" altLang="en-US"/>
          </a:p>
        </p:txBody>
      </p:sp>
      <p:sp>
        <p:nvSpPr>
          <p:cNvPr id="12" name="矩形 11"/>
          <p:cNvSpPr/>
          <p:nvPr/>
        </p:nvSpPr>
        <p:spPr>
          <a:xfrm>
            <a:off x="4572558" y="2411050"/>
            <a:ext cx="1619354" cy="757643"/>
          </a:xfrm>
          <a:prstGeom prst="rect">
            <a:avLst/>
          </a:prstGeom>
        </p:spPr>
        <p:txBody>
          <a:bodyPr wrap="none">
            <a:spAutoFit/>
          </a:bodyPr>
          <a:lstStyle/>
          <a:p>
            <a:pPr marL="171450" indent="-171450">
              <a:lnSpc>
                <a:spcPct val="150000"/>
              </a:lnSpc>
              <a:buFont typeface="Wingdings" pitchFamily="2" charset="2"/>
              <a:buChar char="l"/>
            </a:pPr>
            <a:r>
              <a:rPr lang="en-US" altLang="zh-CN" sz="1000" dirty="0">
                <a:ln w="6350">
                  <a:noFill/>
                </a:ln>
                <a:solidFill>
                  <a:schemeClr val="bg1"/>
                </a:solidFill>
                <a:latin typeface="微软雅黑" pitchFamily="34" charset="-122"/>
                <a:ea typeface="微软雅黑" pitchFamily="34" charset="-122"/>
              </a:rPr>
              <a:t>Docker</a:t>
            </a:r>
            <a:endParaRPr lang="zh-CN" altLang="en-US" sz="1000" dirty="0">
              <a:ln w="6350">
                <a:noFill/>
              </a:ln>
              <a:solidFill>
                <a:schemeClr val="bg1"/>
              </a:solidFill>
              <a:latin typeface="微软雅黑" pitchFamily="34" charset="-122"/>
              <a:ea typeface="微软雅黑" pitchFamily="34" charset="-122"/>
            </a:endParaRPr>
          </a:p>
          <a:p>
            <a:pPr marL="171450" indent="-171450">
              <a:lnSpc>
                <a:spcPct val="150000"/>
              </a:lnSpc>
              <a:buFont typeface="Wingdings" pitchFamily="2" charset="2"/>
              <a:buChar char="l"/>
            </a:pPr>
            <a:r>
              <a:rPr lang="en-US" altLang="zh-CN" sz="1000" dirty="0">
                <a:ln w="6350">
                  <a:noFill/>
                </a:ln>
                <a:solidFill>
                  <a:schemeClr val="bg1"/>
                </a:solidFill>
                <a:latin typeface="微软雅黑" pitchFamily="34" charset="-122"/>
                <a:ea typeface="微软雅黑" pitchFamily="34" charset="-122"/>
              </a:rPr>
              <a:t>Kubernetes</a:t>
            </a:r>
          </a:p>
          <a:p>
            <a:pPr marL="171450" indent="-171450">
              <a:lnSpc>
                <a:spcPct val="150000"/>
              </a:lnSpc>
              <a:buFont typeface="Wingdings" pitchFamily="2" charset="2"/>
              <a:buChar char="l"/>
            </a:pPr>
            <a:r>
              <a:rPr lang="en-US" altLang="zh-CN" sz="1000" dirty="0">
                <a:ln w="6350">
                  <a:noFill/>
                </a:ln>
                <a:solidFill>
                  <a:schemeClr val="bg1"/>
                </a:solidFill>
                <a:latin typeface="微软雅黑" pitchFamily="34" charset="-122"/>
                <a:ea typeface="微软雅黑" pitchFamily="34" charset="-122"/>
              </a:rPr>
              <a:t>CI/CD</a:t>
            </a:r>
            <a:r>
              <a:rPr lang="zh-CN" altLang="en-US" sz="1000" dirty="0">
                <a:ln w="6350">
                  <a:noFill/>
                </a:ln>
                <a:solidFill>
                  <a:schemeClr val="bg1"/>
                </a:solidFill>
                <a:latin typeface="微软雅黑" pitchFamily="34" charset="-122"/>
                <a:ea typeface="微软雅黑" pitchFamily="34" charset="-122"/>
              </a:rPr>
              <a:t>流水线工作流程</a:t>
            </a:r>
          </a:p>
        </p:txBody>
      </p:sp>
      <p:sp>
        <p:nvSpPr>
          <p:cNvPr id="13" name="矩形 12"/>
          <p:cNvSpPr/>
          <p:nvPr/>
        </p:nvSpPr>
        <p:spPr>
          <a:xfrm>
            <a:off x="4572558" y="2010940"/>
            <a:ext cx="2735746" cy="400110"/>
          </a:xfrm>
          <a:prstGeom prst="rect">
            <a:avLst/>
          </a:prstGeom>
        </p:spPr>
        <p:txBody>
          <a:bodyPr wrap="square">
            <a:spAutoFit/>
          </a:bodyPr>
          <a:lstStyle/>
          <a:p>
            <a:r>
              <a:rPr lang="zh-CN" altLang="en-US" sz="2000" b="1" dirty="0">
                <a:ln w="6350">
                  <a:noFill/>
                </a:ln>
                <a:solidFill>
                  <a:schemeClr val="bg1"/>
                </a:solidFill>
                <a:latin typeface="微软雅黑" pitchFamily="34" charset="-122"/>
                <a:ea typeface="微软雅黑" pitchFamily="34" charset="-122"/>
              </a:rPr>
              <a:t>相关技术介绍</a:t>
            </a:r>
          </a:p>
        </p:txBody>
      </p:sp>
      <p:grpSp>
        <p:nvGrpSpPr>
          <p:cNvPr id="9" name="组合 8"/>
          <p:cNvGrpSpPr/>
          <p:nvPr/>
        </p:nvGrpSpPr>
        <p:grpSpPr>
          <a:xfrm>
            <a:off x="3042008" y="2261052"/>
            <a:ext cx="646999" cy="646999"/>
            <a:chOff x="1866900" y="5243513"/>
            <a:chExt cx="742950" cy="742950"/>
          </a:xfrm>
        </p:grpSpPr>
        <p:sp>
          <p:nvSpPr>
            <p:cNvPr id="11" name="Oval 9"/>
            <p:cNvSpPr>
              <a:spLocks noChangeArrowheads="1"/>
            </p:cNvSpPr>
            <p:nvPr/>
          </p:nvSpPr>
          <p:spPr bwMode="auto">
            <a:xfrm>
              <a:off x="1866900" y="5243513"/>
              <a:ext cx="544512" cy="544513"/>
            </a:xfrm>
            <a:prstGeom prst="ellipse">
              <a:avLst/>
            </a:pr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Freeform 10"/>
            <p:cNvSpPr>
              <a:spLocks/>
            </p:cNvSpPr>
            <p:nvPr/>
          </p:nvSpPr>
          <p:spPr bwMode="auto">
            <a:xfrm>
              <a:off x="1941513" y="5318125"/>
              <a:ext cx="200025" cy="195263"/>
            </a:xfrm>
            <a:custGeom>
              <a:avLst/>
              <a:gdLst>
                <a:gd name="T0" fmla="*/ 0 w 53"/>
                <a:gd name="T1" fmla="*/ 52 h 52"/>
                <a:gd name="T2" fmla="*/ 53 w 53"/>
                <a:gd name="T3" fmla="*/ 0 h 52"/>
              </a:gdLst>
              <a:ahLst/>
              <a:cxnLst>
                <a:cxn ang="0">
                  <a:pos x="T0" y="T1"/>
                </a:cxn>
                <a:cxn ang="0">
                  <a:pos x="T2" y="T3"/>
                </a:cxn>
              </a:cxnLst>
              <a:rect l="0" t="0" r="r" b="b"/>
              <a:pathLst>
                <a:path w="53" h="52">
                  <a:moveTo>
                    <a:pt x="0" y="52"/>
                  </a:moveTo>
                  <a:cubicBezTo>
                    <a:pt x="0" y="24"/>
                    <a:pt x="24" y="0"/>
                    <a:pt x="53" y="0"/>
                  </a:cubicBez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Line 11"/>
            <p:cNvSpPr>
              <a:spLocks noChangeShapeType="1"/>
            </p:cNvSpPr>
            <p:nvPr/>
          </p:nvSpPr>
          <p:spPr bwMode="auto">
            <a:xfrm>
              <a:off x="2332038" y="5705475"/>
              <a:ext cx="277812" cy="280988"/>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169273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6" name="Oval 12"/>
          <p:cNvSpPr>
            <a:spLocks noChangeArrowheads="1"/>
          </p:cNvSpPr>
          <p:nvPr/>
        </p:nvSpPr>
        <p:spPr bwMode="auto">
          <a:xfrm>
            <a:off x="6135689" y="1817455"/>
            <a:ext cx="561975" cy="560560"/>
          </a:xfrm>
          <a:prstGeom prst="ellipse">
            <a:avLst/>
          </a:prstGeom>
          <a:solidFill>
            <a:schemeClr val="accent2"/>
          </a:solidFill>
          <a:ln w="6350">
            <a:noFill/>
            <a:round/>
            <a:headEnd/>
            <a:tailEnd/>
          </a:ln>
        </p:spPr>
        <p:txBody>
          <a:bodyPr/>
          <a:lstStyle/>
          <a:p>
            <a:endParaRPr lang="zh-CN" altLang="en-US">
              <a:solidFill>
                <a:schemeClr val="bg1">
                  <a:lumMod val="50000"/>
                </a:schemeClr>
              </a:solidFill>
            </a:endParaRPr>
          </a:p>
        </p:txBody>
      </p:sp>
      <p:sp>
        <p:nvSpPr>
          <p:cNvPr id="41997" name="Oval 13"/>
          <p:cNvSpPr>
            <a:spLocks noChangeArrowheads="1"/>
          </p:cNvSpPr>
          <p:nvPr/>
        </p:nvSpPr>
        <p:spPr bwMode="auto">
          <a:xfrm>
            <a:off x="6135689" y="2619390"/>
            <a:ext cx="561975" cy="562148"/>
          </a:xfrm>
          <a:prstGeom prst="ellipse">
            <a:avLst/>
          </a:prstGeom>
          <a:solidFill>
            <a:schemeClr val="accent1"/>
          </a:solidFill>
          <a:ln w="6350">
            <a:noFill/>
            <a:round/>
            <a:headEnd/>
            <a:tailEnd/>
          </a:ln>
        </p:spPr>
        <p:txBody>
          <a:bodyPr/>
          <a:lstStyle/>
          <a:p>
            <a:endParaRPr lang="zh-CN" altLang="en-US">
              <a:solidFill>
                <a:schemeClr val="bg1">
                  <a:lumMod val="50000"/>
                </a:schemeClr>
              </a:solidFill>
            </a:endParaRPr>
          </a:p>
        </p:txBody>
      </p:sp>
      <p:sp>
        <p:nvSpPr>
          <p:cNvPr id="41998" name="Oval 14"/>
          <p:cNvSpPr>
            <a:spLocks noChangeArrowheads="1"/>
          </p:cNvSpPr>
          <p:nvPr/>
        </p:nvSpPr>
        <p:spPr bwMode="auto">
          <a:xfrm>
            <a:off x="6140534" y="3535612"/>
            <a:ext cx="561975" cy="562148"/>
          </a:xfrm>
          <a:prstGeom prst="ellipse">
            <a:avLst/>
          </a:prstGeom>
          <a:solidFill>
            <a:schemeClr val="accent1">
              <a:lumMod val="60000"/>
              <a:lumOff val="40000"/>
            </a:schemeClr>
          </a:solidFill>
          <a:ln w="6350">
            <a:noFill/>
            <a:round/>
            <a:headEnd/>
            <a:tailEnd/>
          </a:ln>
        </p:spPr>
        <p:txBody>
          <a:bodyPr/>
          <a:lstStyle/>
          <a:p>
            <a:endParaRPr lang="zh-CN" altLang="en-US">
              <a:solidFill>
                <a:schemeClr val="bg1">
                  <a:lumMod val="50000"/>
                </a:schemeClr>
              </a:solidFill>
            </a:endParaRPr>
          </a:p>
        </p:txBody>
      </p:sp>
      <p:sp>
        <p:nvSpPr>
          <p:cNvPr id="42009" name="Oval 25"/>
          <p:cNvSpPr>
            <a:spLocks noChangeArrowheads="1"/>
          </p:cNvSpPr>
          <p:nvPr/>
        </p:nvSpPr>
        <p:spPr bwMode="auto">
          <a:xfrm>
            <a:off x="2439989" y="1817455"/>
            <a:ext cx="561975" cy="560560"/>
          </a:xfrm>
          <a:prstGeom prst="ellipse">
            <a:avLst/>
          </a:prstGeom>
          <a:solidFill>
            <a:schemeClr val="accent2"/>
          </a:solidFill>
          <a:ln w="6350">
            <a:noFill/>
            <a:round/>
            <a:headEnd/>
            <a:tailEnd/>
          </a:ln>
        </p:spPr>
        <p:txBody>
          <a:bodyPr/>
          <a:lstStyle/>
          <a:p>
            <a:endParaRPr lang="zh-CN" altLang="en-US">
              <a:solidFill>
                <a:schemeClr val="bg1">
                  <a:lumMod val="50000"/>
                </a:schemeClr>
              </a:solidFill>
            </a:endParaRPr>
          </a:p>
        </p:txBody>
      </p:sp>
      <p:sp>
        <p:nvSpPr>
          <p:cNvPr id="42010" name="Oval 26"/>
          <p:cNvSpPr>
            <a:spLocks noChangeArrowheads="1"/>
          </p:cNvSpPr>
          <p:nvPr/>
        </p:nvSpPr>
        <p:spPr bwMode="auto">
          <a:xfrm>
            <a:off x="2439989" y="2619390"/>
            <a:ext cx="561975" cy="562148"/>
          </a:xfrm>
          <a:prstGeom prst="ellipse">
            <a:avLst/>
          </a:prstGeom>
          <a:solidFill>
            <a:schemeClr val="accent1"/>
          </a:solidFill>
          <a:ln w="6350">
            <a:noFill/>
            <a:round/>
            <a:headEnd/>
            <a:tailEnd/>
          </a:ln>
        </p:spPr>
        <p:txBody>
          <a:bodyPr/>
          <a:lstStyle/>
          <a:p>
            <a:endParaRPr lang="zh-CN" altLang="en-US">
              <a:solidFill>
                <a:schemeClr val="bg1">
                  <a:lumMod val="50000"/>
                </a:schemeClr>
              </a:solidFill>
            </a:endParaRPr>
          </a:p>
        </p:txBody>
      </p:sp>
      <p:sp>
        <p:nvSpPr>
          <p:cNvPr id="42011" name="Oval 27"/>
          <p:cNvSpPr>
            <a:spLocks noChangeArrowheads="1"/>
          </p:cNvSpPr>
          <p:nvPr/>
        </p:nvSpPr>
        <p:spPr bwMode="auto">
          <a:xfrm>
            <a:off x="2446337" y="3499936"/>
            <a:ext cx="561975" cy="562148"/>
          </a:xfrm>
          <a:prstGeom prst="ellipse">
            <a:avLst/>
          </a:prstGeom>
          <a:solidFill>
            <a:schemeClr val="accent1">
              <a:lumMod val="60000"/>
              <a:lumOff val="40000"/>
            </a:schemeClr>
          </a:solidFill>
          <a:ln w="6350">
            <a:noFill/>
            <a:round/>
            <a:headEnd/>
            <a:tailEnd/>
          </a:ln>
        </p:spPr>
        <p:txBody>
          <a:bodyPr/>
          <a:lstStyle/>
          <a:p>
            <a:endParaRPr lang="zh-CN" altLang="en-US">
              <a:solidFill>
                <a:schemeClr val="bg1">
                  <a:lumMod val="50000"/>
                </a:schemeClr>
              </a:solidFill>
            </a:endParaRPr>
          </a:p>
        </p:txBody>
      </p:sp>
      <p:sp>
        <p:nvSpPr>
          <p:cNvPr id="42012" name="Freeform 28"/>
          <p:cNvSpPr>
            <a:spLocks noEditPoints="1"/>
          </p:cNvSpPr>
          <p:nvPr/>
        </p:nvSpPr>
        <p:spPr bwMode="auto">
          <a:xfrm>
            <a:off x="4111625" y="3624588"/>
            <a:ext cx="914400" cy="801934"/>
          </a:xfrm>
          <a:custGeom>
            <a:avLst/>
            <a:gdLst>
              <a:gd name="T0" fmla="*/ 353 w 353"/>
              <a:gd name="T1" fmla="*/ 23 h 310"/>
              <a:gd name="T2" fmla="*/ 329 w 353"/>
              <a:gd name="T3" fmla="*/ 0 h 310"/>
              <a:gd name="T4" fmla="*/ 323 w 353"/>
              <a:gd name="T5" fmla="*/ 0 h 310"/>
              <a:gd name="T6" fmla="*/ 299 w 353"/>
              <a:gd name="T7" fmla="*/ 0 h 310"/>
              <a:gd name="T8" fmla="*/ 54 w 353"/>
              <a:gd name="T9" fmla="*/ 0 h 310"/>
              <a:gd name="T10" fmla="*/ 30 w 353"/>
              <a:gd name="T11" fmla="*/ 0 h 310"/>
              <a:gd name="T12" fmla="*/ 24 w 353"/>
              <a:gd name="T13" fmla="*/ 0 h 310"/>
              <a:gd name="T14" fmla="*/ 0 w 353"/>
              <a:gd name="T15" fmla="*/ 23 h 310"/>
              <a:gd name="T16" fmla="*/ 24 w 353"/>
              <a:gd name="T17" fmla="*/ 47 h 310"/>
              <a:gd name="T18" fmla="*/ 0 w 353"/>
              <a:gd name="T19" fmla="*/ 71 h 310"/>
              <a:gd name="T20" fmla="*/ 24 w 353"/>
              <a:gd name="T21" fmla="*/ 95 h 310"/>
              <a:gd name="T22" fmla="*/ 0 w 353"/>
              <a:gd name="T23" fmla="*/ 119 h 310"/>
              <a:gd name="T24" fmla="*/ 24 w 353"/>
              <a:gd name="T25" fmla="*/ 143 h 310"/>
              <a:gd name="T26" fmla="*/ 31 w 353"/>
              <a:gd name="T27" fmla="*/ 143 h 310"/>
              <a:gd name="T28" fmla="*/ 8 w 353"/>
              <a:gd name="T29" fmla="*/ 166 h 310"/>
              <a:gd name="T30" fmla="*/ 31 w 353"/>
              <a:gd name="T31" fmla="*/ 190 h 310"/>
              <a:gd name="T32" fmla="*/ 41 w 353"/>
              <a:gd name="T33" fmla="*/ 190 h 310"/>
              <a:gd name="T34" fmla="*/ 20 w 353"/>
              <a:gd name="T35" fmla="*/ 214 h 310"/>
              <a:gd name="T36" fmla="*/ 41 w 353"/>
              <a:gd name="T37" fmla="*/ 238 h 310"/>
              <a:gd name="T38" fmla="*/ 107 w 353"/>
              <a:gd name="T39" fmla="*/ 238 h 310"/>
              <a:gd name="T40" fmla="*/ 106 w 353"/>
              <a:gd name="T41" fmla="*/ 240 h 310"/>
              <a:gd name="T42" fmla="*/ 176 w 353"/>
              <a:gd name="T43" fmla="*/ 310 h 310"/>
              <a:gd name="T44" fmla="*/ 246 w 353"/>
              <a:gd name="T45" fmla="*/ 240 h 310"/>
              <a:gd name="T46" fmla="*/ 246 w 353"/>
              <a:gd name="T47" fmla="*/ 238 h 310"/>
              <a:gd name="T48" fmla="*/ 314 w 353"/>
              <a:gd name="T49" fmla="*/ 238 h 310"/>
              <a:gd name="T50" fmla="*/ 335 w 353"/>
              <a:gd name="T51" fmla="*/ 214 h 310"/>
              <a:gd name="T52" fmla="*/ 314 w 353"/>
              <a:gd name="T53" fmla="*/ 190 h 310"/>
              <a:gd name="T54" fmla="*/ 322 w 353"/>
              <a:gd name="T55" fmla="*/ 190 h 310"/>
              <a:gd name="T56" fmla="*/ 345 w 353"/>
              <a:gd name="T57" fmla="*/ 166 h 310"/>
              <a:gd name="T58" fmla="*/ 322 w 353"/>
              <a:gd name="T59" fmla="*/ 143 h 310"/>
              <a:gd name="T60" fmla="*/ 329 w 353"/>
              <a:gd name="T61" fmla="*/ 143 h 310"/>
              <a:gd name="T62" fmla="*/ 353 w 353"/>
              <a:gd name="T63" fmla="*/ 119 h 310"/>
              <a:gd name="T64" fmla="*/ 329 w 353"/>
              <a:gd name="T65" fmla="*/ 95 h 310"/>
              <a:gd name="T66" fmla="*/ 353 w 353"/>
              <a:gd name="T67" fmla="*/ 71 h 310"/>
              <a:gd name="T68" fmla="*/ 329 w 353"/>
              <a:gd name="T69" fmla="*/ 47 h 310"/>
              <a:gd name="T70" fmla="*/ 353 w 353"/>
              <a:gd name="T71" fmla="*/ 23 h 310"/>
              <a:gd name="T72" fmla="*/ 176 w 353"/>
              <a:gd name="T73" fmla="*/ 286 h 310"/>
              <a:gd name="T74" fmla="*/ 130 w 353"/>
              <a:gd name="T75" fmla="*/ 240 h 310"/>
              <a:gd name="T76" fmla="*/ 131 w 353"/>
              <a:gd name="T77" fmla="*/ 238 h 310"/>
              <a:gd name="T78" fmla="*/ 222 w 353"/>
              <a:gd name="T79" fmla="*/ 238 h 310"/>
              <a:gd name="T80" fmla="*/ 222 w 353"/>
              <a:gd name="T81" fmla="*/ 240 h 310"/>
              <a:gd name="T82" fmla="*/ 176 w 353"/>
              <a:gd name="T83" fmla="*/ 286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53" h="310">
                <a:moveTo>
                  <a:pt x="353" y="23"/>
                </a:moveTo>
                <a:cubicBezTo>
                  <a:pt x="353" y="10"/>
                  <a:pt x="342" y="0"/>
                  <a:pt x="329" y="0"/>
                </a:cubicBezTo>
                <a:cubicBezTo>
                  <a:pt x="323" y="0"/>
                  <a:pt x="323" y="0"/>
                  <a:pt x="323" y="0"/>
                </a:cubicBezTo>
                <a:cubicBezTo>
                  <a:pt x="299" y="0"/>
                  <a:pt x="299" y="0"/>
                  <a:pt x="299" y="0"/>
                </a:cubicBezTo>
                <a:cubicBezTo>
                  <a:pt x="54" y="0"/>
                  <a:pt x="54" y="0"/>
                  <a:pt x="54" y="0"/>
                </a:cubicBezTo>
                <a:cubicBezTo>
                  <a:pt x="30" y="0"/>
                  <a:pt x="30" y="0"/>
                  <a:pt x="30" y="0"/>
                </a:cubicBezTo>
                <a:cubicBezTo>
                  <a:pt x="24" y="0"/>
                  <a:pt x="24" y="0"/>
                  <a:pt x="24" y="0"/>
                </a:cubicBezTo>
                <a:cubicBezTo>
                  <a:pt x="11" y="0"/>
                  <a:pt x="0" y="10"/>
                  <a:pt x="0" y="23"/>
                </a:cubicBezTo>
                <a:cubicBezTo>
                  <a:pt x="0" y="37"/>
                  <a:pt x="11" y="47"/>
                  <a:pt x="24" y="47"/>
                </a:cubicBezTo>
                <a:cubicBezTo>
                  <a:pt x="11" y="47"/>
                  <a:pt x="0" y="58"/>
                  <a:pt x="0" y="71"/>
                </a:cubicBezTo>
                <a:cubicBezTo>
                  <a:pt x="0" y="84"/>
                  <a:pt x="11" y="95"/>
                  <a:pt x="24" y="95"/>
                </a:cubicBezTo>
                <a:cubicBezTo>
                  <a:pt x="11" y="95"/>
                  <a:pt x="0" y="106"/>
                  <a:pt x="0" y="119"/>
                </a:cubicBezTo>
                <a:cubicBezTo>
                  <a:pt x="0" y="132"/>
                  <a:pt x="11" y="143"/>
                  <a:pt x="24" y="143"/>
                </a:cubicBezTo>
                <a:cubicBezTo>
                  <a:pt x="31" y="143"/>
                  <a:pt x="31" y="143"/>
                  <a:pt x="31" y="143"/>
                </a:cubicBezTo>
                <a:cubicBezTo>
                  <a:pt x="18" y="143"/>
                  <a:pt x="8" y="153"/>
                  <a:pt x="8" y="166"/>
                </a:cubicBezTo>
                <a:cubicBezTo>
                  <a:pt x="8" y="180"/>
                  <a:pt x="18" y="190"/>
                  <a:pt x="31" y="190"/>
                </a:cubicBezTo>
                <a:cubicBezTo>
                  <a:pt x="41" y="190"/>
                  <a:pt x="41" y="190"/>
                  <a:pt x="41" y="190"/>
                </a:cubicBezTo>
                <a:cubicBezTo>
                  <a:pt x="29" y="190"/>
                  <a:pt x="20" y="201"/>
                  <a:pt x="20" y="214"/>
                </a:cubicBezTo>
                <a:cubicBezTo>
                  <a:pt x="20" y="227"/>
                  <a:pt x="29" y="238"/>
                  <a:pt x="41" y="238"/>
                </a:cubicBezTo>
                <a:cubicBezTo>
                  <a:pt x="107" y="238"/>
                  <a:pt x="107" y="238"/>
                  <a:pt x="107" y="238"/>
                </a:cubicBezTo>
                <a:cubicBezTo>
                  <a:pt x="107" y="239"/>
                  <a:pt x="106" y="240"/>
                  <a:pt x="106" y="240"/>
                </a:cubicBezTo>
                <a:cubicBezTo>
                  <a:pt x="106" y="279"/>
                  <a:pt x="138" y="310"/>
                  <a:pt x="176" y="310"/>
                </a:cubicBezTo>
                <a:cubicBezTo>
                  <a:pt x="215" y="310"/>
                  <a:pt x="246" y="279"/>
                  <a:pt x="246" y="240"/>
                </a:cubicBezTo>
                <a:cubicBezTo>
                  <a:pt x="246" y="240"/>
                  <a:pt x="246" y="239"/>
                  <a:pt x="246" y="238"/>
                </a:cubicBezTo>
                <a:cubicBezTo>
                  <a:pt x="314" y="238"/>
                  <a:pt x="314" y="238"/>
                  <a:pt x="314" y="238"/>
                </a:cubicBezTo>
                <a:cubicBezTo>
                  <a:pt x="325" y="238"/>
                  <a:pt x="335" y="227"/>
                  <a:pt x="335" y="214"/>
                </a:cubicBezTo>
                <a:cubicBezTo>
                  <a:pt x="335" y="201"/>
                  <a:pt x="325" y="190"/>
                  <a:pt x="314" y="190"/>
                </a:cubicBezTo>
                <a:cubicBezTo>
                  <a:pt x="322" y="190"/>
                  <a:pt x="322" y="190"/>
                  <a:pt x="322" y="190"/>
                </a:cubicBezTo>
                <a:cubicBezTo>
                  <a:pt x="335" y="190"/>
                  <a:pt x="345" y="180"/>
                  <a:pt x="345" y="166"/>
                </a:cubicBezTo>
                <a:cubicBezTo>
                  <a:pt x="345" y="153"/>
                  <a:pt x="335" y="143"/>
                  <a:pt x="322" y="143"/>
                </a:cubicBezTo>
                <a:cubicBezTo>
                  <a:pt x="329" y="143"/>
                  <a:pt x="329" y="143"/>
                  <a:pt x="329" y="143"/>
                </a:cubicBezTo>
                <a:cubicBezTo>
                  <a:pt x="342" y="143"/>
                  <a:pt x="353" y="132"/>
                  <a:pt x="353" y="119"/>
                </a:cubicBezTo>
                <a:cubicBezTo>
                  <a:pt x="353" y="106"/>
                  <a:pt x="342" y="95"/>
                  <a:pt x="329" y="95"/>
                </a:cubicBezTo>
                <a:cubicBezTo>
                  <a:pt x="342" y="95"/>
                  <a:pt x="353" y="84"/>
                  <a:pt x="353" y="71"/>
                </a:cubicBezTo>
                <a:cubicBezTo>
                  <a:pt x="353" y="58"/>
                  <a:pt x="342" y="47"/>
                  <a:pt x="329" y="47"/>
                </a:cubicBezTo>
                <a:cubicBezTo>
                  <a:pt x="342" y="47"/>
                  <a:pt x="353" y="37"/>
                  <a:pt x="353" y="23"/>
                </a:cubicBezTo>
                <a:close/>
                <a:moveTo>
                  <a:pt x="176" y="286"/>
                </a:moveTo>
                <a:cubicBezTo>
                  <a:pt x="151" y="286"/>
                  <a:pt x="130" y="266"/>
                  <a:pt x="130" y="240"/>
                </a:cubicBezTo>
                <a:cubicBezTo>
                  <a:pt x="130" y="240"/>
                  <a:pt x="131" y="239"/>
                  <a:pt x="131" y="238"/>
                </a:cubicBezTo>
                <a:cubicBezTo>
                  <a:pt x="222" y="238"/>
                  <a:pt x="222" y="238"/>
                  <a:pt x="222" y="238"/>
                </a:cubicBezTo>
                <a:cubicBezTo>
                  <a:pt x="222" y="239"/>
                  <a:pt x="222" y="240"/>
                  <a:pt x="222" y="240"/>
                </a:cubicBezTo>
                <a:cubicBezTo>
                  <a:pt x="222" y="266"/>
                  <a:pt x="202" y="286"/>
                  <a:pt x="176" y="286"/>
                </a:cubicBezTo>
                <a:close/>
              </a:path>
            </a:pathLst>
          </a:custGeom>
          <a:solidFill>
            <a:schemeClr val="bg1">
              <a:lumMod val="50000"/>
              <a:alpha val="20000"/>
            </a:schemeClr>
          </a:solidFill>
          <a:ln>
            <a:noFill/>
          </a:ln>
        </p:spPr>
        <p:txBody>
          <a:bodyPr/>
          <a:lstStyle/>
          <a:p>
            <a:endParaRPr lang="zh-CN" altLang="en-US">
              <a:solidFill>
                <a:schemeClr val="bg1">
                  <a:lumMod val="50000"/>
                </a:schemeClr>
              </a:solidFill>
            </a:endParaRPr>
          </a:p>
        </p:txBody>
      </p:sp>
      <p:sp>
        <p:nvSpPr>
          <p:cNvPr id="42013" name="Freeform 29"/>
          <p:cNvSpPr>
            <a:spLocks/>
          </p:cNvSpPr>
          <p:nvPr/>
        </p:nvSpPr>
        <p:spPr bwMode="auto">
          <a:xfrm>
            <a:off x="4016376" y="3116431"/>
            <a:ext cx="538163" cy="484336"/>
          </a:xfrm>
          <a:custGeom>
            <a:avLst/>
            <a:gdLst>
              <a:gd name="T0" fmla="*/ 64 w 208"/>
              <a:gd name="T1" fmla="*/ 163 h 187"/>
              <a:gd name="T2" fmla="*/ 64 w 208"/>
              <a:gd name="T3" fmla="*/ 163 h 187"/>
              <a:gd name="T4" fmla="*/ 88 w 208"/>
              <a:gd name="T5" fmla="*/ 187 h 187"/>
              <a:gd name="T6" fmla="*/ 208 w 208"/>
              <a:gd name="T7" fmla="*/ 187 h 187"/>
              <a:gd name="T8" fmla="*/ 208 w 208"/>
              <a:gd name="T9" fmla="*/ 0 h 187"/>
              <a:gd name="T10" fmla="*/ 0 w 208"/>
              <a:gd name="T11" fmla="*/ 0 h 187"/>
              <a:gd name="T12" fmla="*/ 64 w 208"/>
              <a:gd name="T13" fmla="*/ 163 h 187"/>
            </a:gdLst>
            <a:ahLst/>
            <a:cxnLst>
              <a:cxn ang="0">
                <a:pos x="T0" y="T1"/>
              </a:cxn>
              <a:cxn ang="0">
                <a:pos x="T2" y="T3"/>
              </a:cxn>
              <a:cxn ang="0">
                <a:pos x="T4" y="T5"/>
              </a:cxn>
              <a:cxn ang="0">
                <a:pos x="T6" y="T7"/>
              </a:cxn>
              <a:cxn ang="0">
                <a:pos x="T8" y="T9"/>
              </a:cxn>
              <a:cxn ang="0">
                <a:pos x="T10" y="T11"/>
              </a:cxn>
              <a:cxn ang="0">
                <a:pos x="T12" y="T13"/>
              </a:cxn>
            </a:cxnLst>
            <a:rect l="0" t="0" r="r" b="b"/>
            <a:pathLst>
              <a:path w="208" h="187">
                <a:moveTo>
                  <a:pt x="64" y="163"/>
                </a:moveTo>
                <a:cubicBezTo>
                  <a:pt x="64" y="163"/>
                  <a:pt x="64" y="163"/>
                  <a:pt x="64" y="163"/>
                </a:cubicBezTo>
                <a:cubicBezTo>
                  <a:pt x="64" y="176"/>
                  <a:pt x="75" y="187"/>
                  <a:pt x="88" y="187"/>
                </a:cubicBezTo>
                <a:cubicBezTo>
                  <a:pt x="208" y="187"/>
                  <a:pt x="208" y="187"/>
                  <a:pt x="208" y="187"/>
                </a:cubicBezTo>
                <a:cubicBezTo>
                  <a:pt x="208" y="0"/>
                  <a:pt x="208" y="0"/>
                  <a:pt x="208" y="0"/>
                </a:cubicBezTo>
                <a:cubicBezTo>
                  <a:pt x="0" y="0"/>
                  <a:pt x="0" y="0"/>
                  <a:pt x="0" y="0"/>
                </a:cubicBezTo>
                <a:cubicBezTo>
                  <a:pt x="23" y="36"/>
                  <a:pt x="56" y="96"/>
                  <a:pt x="64" y="163"/>
                </a:cubicBezTo>
                <a:close/>
              </a:path>
            </a:pathLst>
          </a:custGeom>
          <a:solidFill>
            <a:schemeClr val="accent2"/>
          </a:solidFill>
          <a:ln>
            <a:noFill/>
          </a:ln>
        </p:spPr>
        <p:txBody>
          <a:bodyPr/>
          <a:lstStyle/>
          <a:p>
            <a:endParaRPr lang="zh-CN" altLang="en-US">
              <a:solidFill>
                <a:schemeClr val="bg1">
                  <a:lumMod val="50000"/>
                </a:schemeClr>
              </a:solidFill>
            </a:endParaRPr>
          </a:p>
        </p:txBody>
      </p:sp>
      <p:sp>
        <p:nvSpPr>
          <p:cNvPr id="42014" name="Freeform 30"/>
          <p:cNvSpPr>
            <a:spLocks/>
          </p:cNvSpPr>
          <p:nvPr/>
        </p:nvSpPr>
        <p:spPr bwMode="auto">
          <a:xfrm>
            <a:off x="3703638" y="2557458"/>
            <a:ext cx="850900" cy="530389"/>
          </a:xfrm>
          <a:custGeom>
            <a:avLst/>
            <a:gdLst>
              <a:gd name="T0" fmla="*/ 0 w 329"/>
              <a:gd name="T1" fmla="*/ 0 h 205"/>
              <a:gd name="T2" fmla="*/ 96 w 329"/>
              <a:gd name="T3" fmla="*/ 181 h 205"/>
              <a:gd name="T4" fmla="*/ 113 w 329"/>
              <a:gd name="T5" fmla="*/ 205 h 205"/>
              <a:gd name="T6" fmla="*/ 329 w 329"/>
              <a:gd name="T7" fmla="*/ 205 h 205"/>
              <a:gd name="T8" fmla="*/ 329 w 329"/>
              <a:gd name="T9" fmla="*/ 0 h 205"/>
              <a:gd name="T10" fmla="*/ 0 w 329"/>
              <a:gd name="T11" fmla="*/ 0 h 205"/>
            </a:gdLst>
            <a:ahLst/>
            <a:cxnLst>
              <a:cxn ang="0">
                <a:pos x="T0" y="T1"/>
              </a:cxn>
              <a:cxn ang="0">
                <a:pos x="T2" y="T3"/>
              </a:cxn>
              <a:cxn ang="0">
                <a:pos x="T4" y="T5"/>
              </a:cxn>
              <a:cxn ang="0">
                <a:pos x="T6" y="T7"/>
              </a:cxn>
              <a:cxn ang="0">
                <a:pos x="T8" y="T9"/>
              </a:cxn>
              <a:cxn ang="0">
                <a:pos x="T10" y="T11"/>
              </a:cxn>
            </a:cxnLst>
            <a:rect l="0" t="0" r="r" b="b"/>
            <a:pathLst>
              <a:path w="329" h="205">
                <a:moveTo>
                  <a:pt x="0" y="0"/>
                </a:moveTo>
                <a:cubicBezTo>
                  <a:pt x="13" y="63"/>
                  <a:pt x="45" y="124"/>
                  <a:pt x="96" y="181"/>
                </a:cubicBezTo>
                <a:cubicBezTo>
                  <a:pt x="96" y="181"/>
                  <a:pt x="103" y="190"/>
                  <a:pt x="113" y="205"/>
                </a:cubicBezTo>
                <a:cubicBezTo>
                  <a:pt x="329" y="205"/>
                  <a:pt x="329" y="205"/>
                  <a:pt x="329" y="205"/>
                </a:cubicBezTo>
                <a:cubicBezTo>
                  <a:pt x="329" y="0"/>
                  <a:pt x="329" y="0"/>
                  <a:pt x="329" y="0"/>
                </a:cubicBezTo>
                <a:lnTo>
                  <a:pt x="0" y="0"/>
                </a:lnTo>
                <a:close/>
              </a:path>
            </a:pathLst>
          </a:custGeom>
          <a:solidFill>
            <a:schemeClr val="accent1"/>
          </a:solidFill>
          <a:ln>
            <a:noFill/>
          </a:ln>
        </p:spPr>
        <p:txBody>
          <a:bodyPr/>
          <a:lstStyle/>
          <a:p>
            <a:endParaRPr lang="zh-CN" altLang="en-US">
              <a:solidFill>
                <a:schemeClr val="bg1">
                  <a:lumMod val="50000"/>
                </a:schemeClr>
              </a:solidFill>
            </a:endParaRPr>
          </a:p>
        </p:txBody>
      </p:sp>
      <p:sp>
        <p:nvSpPr>
          <p:cNvPr id="42015" name="Freeform 31"/>
          <p:cNvSpPr>
            <a:spLocks/>
          </p:cNvSpPr>
          <p:nvPr/>
        </p:nvSpPr>
        <p:spPr bwMode="auto">
          <a:xfrm>
            <a:off x="3687764" y="1517324"/>
            <a:ext cx="866775" cy="1011550"/>
          </a:xfrm>
          <a:custGeom>
            <a:avLst/>
            <a:gdLst>
              <a:gd name="T0" fmla="*/ 335 w 335"/>
              <a:gd name="T1" fmla="*/ 391 h 391"/>
              <a:gd name="T2" fmla="*/ 335 w 335"/>
              <a:gd name="T3" fmla="*/ 0 h 391"/>
              <a:gd name="T4" fmla="*/ 0 w 335"/>
              <a:gd name="T5" fmla="*/ 341 h 391"/>
              <a:gd name="T6" fmla="*/ 4 w 335"/>
              <a:gd name="T7" fmla="*/ 391 h 391"/>
              <a:gd name="T8" fmla="*/ 335 w 335"/>
              <a:gd name="T9" fmla="*/ 391 h 391"/>
            </a:gdLst>
            <a:ahLst/>
            <a:cxnLst>
              <a:cxn ang="0">
                <a:pos x="T0" y="T1"/>
              </a:cxn>
              <a:cxn ang="0">
                <a:pos x="T2" y="T3"/>
              </a:cxn>
              <a:cxn ang="0">
                <a:pos x="T4" y="T5"/>
              </a:cxn>
              <a:cxn ang="0">
                <a:pos x="T6" y="T7"/>
              </a:cxn>
              <a:cxn ang="0">
                <a:pos x="T8" y="T9"/>
              </a:cxn>
            </a:cxnLst>
            <a:rect l="0" t="0" r="r" b="b"/>
            <a:pathLst>
              <a:path w="335" h="391">
                <a:moveTo>
                  <a:pt x="335" y="391"/>
                </a:moveTo>
                <a:cubicBezTo>
                  <a:pt x="335" y="0"/>
                  <a:pt x="335" y="0"/>
                  <a:pt x="335" y="0"/>
                </a:cubicBezTo>
                <a:cubicBezTo>
                  <a:pt x="150" y="3"/>
                  <a:pt x="0" y="155"/>
                  <a:pt x="0" y="341"/>
                </a:cubicBezTo>
                <a:cubicBezTo>
                  <a:pt x="0" y="358"/>
                  <a:pt x="1" y="374"/>
                  <a:pt x="4" y="391"/>
                </a:cubicBezTo>
                <a:lnTo>
                  <a:pt x="335" y="391"/>
                </a:lnTo>
                <a:close/>
              </a:path>
            </a:pathLst>
          </a:custGeom>
          <a:solidFill>
            <a:schemeClr val="accent2"/>
          </a:solidFill>
          <a:ln>
            <a:noFill/>
          </a:ln>
        </p:spPr>
        <p:txBody>
          <a:bodyPr/>
          <a:lstStyle/>
          <a:p>
            <a:endParaRPr lang="zh-CN" altLang="en-US">
              <a:solidFill>
                <a:schemeClr val="bg1">
                  <a:lumMod val="50000"/>
                </a:schemeClr>
              </a:solidFill>
            </a:endParaRPr>
          </a:p>
        </p:txBody>
      </p:sp>
      <p:sp>
        <p:nvSpPr>
          <p:cNvPr id="42016" name="Freeform 32"/>
          <p:cNvSpPr>
            <a:spLocks/>
          </p:cNvSpPr>
          <p:nvPr/>
        </p:nvSpPr>
        <p:spPr bwMode="auto">
          <a:xfrm>
            <a:off x="4583114" y="2557458"/>
            <a:ext cx="852487" cy="1043309"/>
          </a:xfrm>
          <a:custGeom>
            <a:avLst/>
            <a:gdLst>
              <a:gd name="T0" fmla="*/ 0 w 329"/>
              <a:gd name="T1" fmla="*/ 0 h 403"/>
              <a:gd name="T2" fmla="*/ 0 w 329"/>
              <a:gd name="T3" fmla="*/ 403 h 403"/>
              <a:gd name="T4" fmla="*/ 118 w 329"/>
              <a:gd name="T5" fmla="*/ 403 h 403"/>
              <a:gd name="T6" fmla="*/ 118 w 329"/>
              <a:gd name="T7" fmla="*/ 403 h 403"/>
              <a:gd name="T8" fmla="*/ 120 w 329"/>
              <a:gd name="T9" fmla="*/ 403 h 403"/>
              <a:gd name="T10" fmla="*/ 120 w 329"/>
              <a:gd name="T11" fmla="*/ 403 h 403"/>
              <a:gd name="T12" fmla="*/ 120 w 329"/>
              <a:gd name="T13" fmla="*/ 403 h 403"/>
              <a:gd name="T14" fmla="*/ 144 w 329"/>
              <a:gd name="T15" fmla="*/ 379 h 403"/>
              <a:gd name="T16" fmla="*/ 144 w 329"/>
              <a:gd name="T17" fmla="*/ 379 h 403"/>
              <a:gd name="T18" fmla="*/ 233 w 329"/>
              <a:gd name="T19" fmla="*/ 181 h 403"/>
              <a:gd name="T20" fmla="*/ 329 w 329"/>
              <a:gd name="T21" fmla="*/ 0 h 403"/>
              <a:gd name="T22" fmla="*/ 0 w 329"/>
              <a:gd name="T23" fmla="*/ 0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9" h="403">
                <a:moveTo>
                  <a:pt x="0" y="0"/>
                </a:moveTo>
                <a:cubicBezTo>
                  <a:pt x="0" y="403"/>
                  <a:pt x="0" y="403"/>
                  <a:pt x="0" y="403"/>
                </a:cubicBezTo>
                <a:cubicBezTo>
                  <a:pt x="118" y="403"/>
                  <a:pt x="118" y="403"/>
                  <a:pt x="118" y="403"/>
                </a:cubicBezTo>
                <a:cubicBezTo>
                  <a:pt x="118" y="403"/>
                  <a:pt x="118" y="403"/>
                  <a:pt x="118" y="403"/>
                </a:cubicBezTo>
                <a:cubicBezTo>
                  <a:pt x="118" y="403"/>
                  <a:pt x="119" y="403"/>
                  <a:pt x="120" y="403"/>
                </a:cubicBezTo>
                <a:cubicBezTo>
                  <a:pt x="120" y="403"/>
                  <a:pt x="120" y="403"/>
                  <a:pt x="120" y="403"/>
                </a:cubicBezTo>
                <a:cubicBezTo>
                  <a:pt x="120" y="403"/>
                  <a:pt x="120" y="403"/>
                  <a:pt x="120" y="403"/>
                </a:cubicBezTo>
                <a:cubicBezTo>
                  <a:pt x="133" y="403"/>
                  <a:pt x="144" y="392"/>
                  <a:pt x="144" y="379"/>
                </a:cubicBezTo>
                <a:cubicBezTo>
                  <a:pt x="144" y="379"/>
                  <a:pt x="144" y="379"/>
                  <a:pt x="144" y="379"/>
                </a:cubicBezTo>
                <a:cubicBezTo>
                  <a:pt x="157" y="273"/>
                  <a:pt x="233" y="182"/>
                  <a:pt x="233" y="181"/>
                </a:cubicBezTo>
                <a:cubicBezTo>
                  <a:pt x="284" y="124"/>
                  <a:pt x="316" y="63"/>
                  <a:pt x="329" y="0"/>
                </a:cubicBezTo>
                <a:lnTo>
                  <a:pt x="0" y="0"/>
                </a:lnTo>
                <a:close/>
              </a:path>
            </a:pathLst>
          </a:custGeom>
          <a:solidFill>
            <a:schemeClr val="accent1"/>
          </a:solidFill>
          <a:ln>
            <a:noFill/>
          </a:ln>
        </p:spPr>
        <p:txBody>
          <a:bodyPr/>
          <a:lstStyle/>
          <a:p>
            <a:endParaRPr lang="zh-CN" altLang="en-US">
              <a:solidFill>
                <a:schemeClr val="bg1">
                  <a:lumMod val="50000"/>
                </a:schemeClr>
              </a:solidFill>
            </a:endParaRPr>
          </a:p>
        </p:txBody>
      </p:sp>
      <p:sp>
        <p:nvSpPr>
          <p:cNvPr id="42017" name="Freeform 33"/>
          <p:cNvSpPr>
            <a:spLocks/>
          </p:cNvSpPr>
          <p:nvPr/>
        </p:nvSpPr>
        <p:spPr bwMode="auto">
          <a:xfrm>
            <a:off x="4583113" y="1517325"/>
            <a:ext cx="766762" cy="473221"/>
          </a:xfrm>
          <a:custGeom>
            <a:avLst/>
            <a:gdLst>
              <a:gd name="T0" fmla="*/ 296 w 296"/>
              <a:gd name="T1" fmla="*/ 183 h 183"/>
              <a:gd name="T2" fmla="*/ 0 w 296"/>
              <a:gd name="T3" fmla="*/ 0 h 183"/>
              <a:gd name="T4" fmla="*/ 0 w 296"/>
              <a:gd name="T5" fmla="*/ 183 h 183"/>
              <a:gd name="T6" fmla="*/ 296 w 296"/>
              <a:gd name="T7" fmla="*/ 183 h 183"/>
            </a:gdLst>
            <a:ahLst/>
            <a:cxnLst>
              <a:cxn ang="0">
                <a:pos x="T0" y="T1"/>
              </a:cxn>
              <a:cxn ang="0">
                <a:pos x="T2" y="T3"/>
              </a:cxn>
              <a:cxn ang="0">
                <a:pos x="T4" y="T5"/>
              </a:cxn>
              <a:cxn ang="0">
                <a:pos x="T6" y="T7"/>
              </a:cxn>
            </a:cxnLst>
            <a:rect l="0" t="0" r="r" b="b"/>
            <a:pathLst>
              <a:path w="296" h="183">
                <a:moveTo>
                  <a:pt x="296" y="183"/>
                </a:moveTo>
                <a:cubicBezTo>
                  <a:pt x="240" y="76"/>
                  <a:pt x="129" y="2"/>
                  <a:pt x="0" y="0"/>
                </a:cubicBezTo>
                <a:cubicBezTo>
                  <a:pt x="0" y="183"/>
                  <a:pt x="0" y="183"/>
                  <a:pt x="0" y="183"/>
                </a:cubicBezTo>
                <a:lnTo>
                  <a:pt x="296" y="183"/>
                </a:lnTo>
                <a:close/>
              </a:path>
            </a:pathLst>
          </a:custGeom>
          <a:solidFill>
            <a:schemeClr val="accent1"/>
          </a:solidFill>
          <a:ln>
            <a:noFill/>
          </a:ln>
        </p:spPr>
        <p:txBody>
          <a:bodyPr/>
          <a:lstStyle/>
          <a:p>
            <a:endParaRPr lang="zh-CN" altLang="en-US">
              <a:solidFill>
                <a:schemeClr val="bg1">
                  <a:lumMod val="50000"/>
                </a:schemeClr>
              </a:solidFill>
            </a:endParaRPr>
          </a:p>
        </p:txBody>
      </p:sp>
      <p:sp>
        <p:nvSpPr>
          <p:cNvPr id="42018" name="Freeform 34"/>
          <p:cNvSpPr>
            <a:spLocks/>
          </p:cNvSpPr>
          <p:nvPr/>
        </p:nvSpPr>
        <p:spPr bwMode="auto">
          <a:xfrm>
            <a:off x="4583114" y="2022306"/>
            <a:ext cx="866775" cy="506569"/>
          </a:xfrm>
          <a:custGeom>
            <a:avLst/>
            <a:gdLst>
              <a:gd name="T0" fmla="*/ 0 w 335"/>
              <a:gd name="T1" fmla="*/ 0 h 196"/>
              <a:gd name="T2" fmla="*/ 0 w 335"/>
              <a:gd name="T3" fmla="*/ 196 h 196"/>
              <a:gd name="T4" fmla="*/ 331 w 335"/>
              <a:gd name="T5" fmla="*/ 196 h 196"/>
              <a:gd name="T6" fmla="*/ 335 w 335"/>
              <a:gd name="T7" fmla="*/ 146 h 196"/>
              <a:gd name="T8" fmla="*/ 302 w 335"/>
              <a:gd name="T9" fmla="*/ 0 h 196"/>
              <a:gd name="T10" fmla="*/ 0 w 335"/>
              <a:gd name="T11" fmla="*/ 0 h 196"/>
            </a:gdLst>
            <a:ahLst/>
            <a:cxnLst>
              <a:cxn ang="0">
                <a:pos x="T0" y="T1"/>
              </a:cxn>
              <a:cxn ang="0">
                <a:pos x="T2" y="T3"/>
              </a:cxn>
              <a:cxn ang="0">
                <a:pos x="T4" y="T5"/>
              </a:cxn>
              <a:cxn ang="0">
                <a:pos x="T6" y="T7"/>
              </a:cxn>
              <a:cxn ang="0">
                <a:pos x="T8" y="T9"/>
              </a:cxn>
              <a:cxn ang="0">
                <a:pos x="T10" y="T11"/>
              </a:cxn>
            </a:cxnLst>
            <a:rect l="0" t="0" r="r" b="b"/>
            <a:pathLst>
              <a:path w="335" h="196">
                <a:moveTo>
                  <a:pt x="0" y="0"/>
                </a:moveTo>
                <a:cubicBezTo>
                  <a:pt x="0" y="196"/>
                  <a:pt x="0" y="196"/>
                  <a:pt x="0" y="196"/>
                </a:cubicBezTo>
                <a:cubicBezTo>
                  <a:pt x="331" y="196"/>
                  <a:pt x="331" y="196"/>
                  <a:pt x="331" y="196"/>
                </a:cubicBezTo>
                <a:cubicBezTo>
                  <a:pt x="334" y="179"/>
                  <a:pt x="335" y="163"/>
                  <a:pt x="335" y="146"/>
                </a:cubicBezTo>
                <a:cubicBezTo>
                  <a:pt x="335" y="93"/>
                  <a:pt x="323" y="44"/>
                  <a:pt x="302" y="0"/>
                </a:cubicBezTo>
                <a:lnTo>
                  <a:pt x="0" y="0"/>
                </a:lnTo>
                <a:close/>
              </a:path>
            </a:pathLst>
          </a:custGeom>
          <a:solidFill>
            <a:schemeClr val="accent2"/>
          </a:solidFill>
          <a:ln>
            <a:noFill/>
          </a:ln>
        </p:spPr>
        <p:txBody>
          <a:bodyPr/>
          <a:lstStyle/>
          <a:p>
            <a:endParaRPr lang="zh-CN" altLang="en-US">
              <a:solidFill>
                <a:schemeClr val="bg1">
                  <a:lumMod val="50000"/>
                </a:schemeClr>
              </a:solidFill>
            </a:endParaRPr>
          </a:p>
        </p:txBody>
      </p:sp>
      <p:sp>
        <p:nvSpPr>
          <p:cNvPr id="42030" name="Rectangle 46"/>
          <p:cNvSpPr>
            <a:spLocks noChangeArrowheads="1"/>
          </p:cNvSpPr>
          <p:nvPr/>
        </p:nvSpPr>
        <p:spPr bwMode="auto">
          <a:xfrm>
            <a:off x="438989" y="1517324"/>
            <a:ext cx="1870075" cy="84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buFont typeface="Arial" charset="0"/>
              <a:buNone/>
            </a:pPr>
            <a:r>
              <a:rPr lang="en-US" altLang="zh-CN" sz="1100" b="1" dirty="0">
                <a:solidFill>
                  <a:schemeClr val="bg1">
                    <a:lumMod val="50000"/>
                  </a:schemeClr>
                </a:solidFill>
              </a:rPr>
              <a:t>Docker</a:t>
            </a:r>
            <a:r>
              <a:rPr lang="zh-CN" altLang="en-US" sz="1100" b="1" dirty="0">
                <a:solidFill>
                  <a:schemeClr val="bg1">
                    <a:lumMod val="50000"/>
                  </a:schemeClr>
                </a:solidFill>
              </a:rPr>
              <a:t>是一种容器化技术，它允许开发者在不同的环境中运行应用程序。相比于虚拟机技术，</a:t>
            </a:r>
            <a:r>
              <a:rPr lang="en-US" altLang="zh-CN" sz="1100" b="1" dirty="0">
                <a:solidFill>
                  <a:schemeClr val="bg1">
                    <a:lumMod val="50000"/>
                  </a:schemeClr>
                </a:solidFill>
              </a:rPr>
              <a:t>Docker</a:t>
            </a:r>
            <a:r>
              <a:rPr lang="zh-CN" altLang="en-US" sz="1100" b="1" dirty="0">
                <a:solidFill>
                  <a:schemeClr val="bg1">
                    <a:lumMod val="50000"/>
                  </a:schemeClr>
                </a:solidFill>
              </a:rPr>
              <a:t>更加轻量级且易于使用</a:t>
            </a:r>
            <a:r>
              <a:rPr lang="zh-CN" altLang="en-US" sz="1100" dirty="0">
                <a:solidFill>
                  <a:schemeClr val="bg1">
                    <a:lumMod val="50000"/>
                  </a:schemeClr>
                </a:solidFill>
              </a:rPr>
              <a:t>.</a:t>
            </a:r>
          </a:p>
        </p:txBody>
      </p:sp>
      <p:sp>
        <p:nvSpPr>
          <p:cNvPr id="42031" name="Rectangle 47"/>
          <p:cNvSpPr>
            <a:spLocks noChangeArrowheads="1"/>
          </p:cNvSpPr>
          <p:nvPr/>
        </p:nvSpPr>
        <p:spPr bwMode="auto">
          <a:xfrm>
            <a:off x="391320" y="2537568"/>
            <a:ext cx="1870075" cy="84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buFont typeface="Arial" charset="0"/>
              <a:buNone/>
            </a:pPr>
            <a:r>
              <a:rPr lang="zh-CN" altLang="en-US" sz="1100" b="1" dirty="0">
                <a:solidFill>
                  <a:schemeClr val="bg1">
                    <a:lumMod val="50000"/>
                  </a:schemeClr>
                </a:solidFill>
              </a:rPr>
              <a:t>每个容器都包含了一个完整的应用程序以及它所需要的所有依赖项。通过使用</a:t>
            </a:r>
            <a:r>
              <a:rPr lang="en-US" altLang="zh-CN" sz="1100" b="1" dirty="0">
                <a:solidFill>
                  <a:schemeClr val="bg1">
                    <a:lumMod val="50000"/>
                  </a:schemeClr>
                </a:solidFill>
              </a:rPr>
              <a:t>Docker</a:t>
            </a:r>
            <a:r>
              <a:rPr lang="zh-CN" altLang="en-US" sz="1100" b="1" dirty="0">
                <a:solidFill>
                  <a:schemeClr val="bg1">
                    <a:lumMod val="50000"/>
                  </a:schemeClr>
                </a:solidFill>
              </a:rPr>
              <a:t>，开发者可以将应用程序打包到一个或多个容器中</a:t>
            </a:r>
            <a:r>
              <a:rPr lang="zh-CN" altLang="en-US" sz="1100" dirty="0">
                <a:solidFill>
                  <a:schemeClr val="bg1">
                    <a:lumMod val="50000"/>
                  </a:schemeClr>
                </a:solidFill>
              </a:rPr>
              <a:t>.。</a:t>
            </a:r>
          </a:p>
        </p:txBody>
      </p:sp>
      <p:sp>
        <p:nvSpPr>
          <p:cNvPr id="42032" name="Rectangle 48"/>
          <p:cNvSpPr>
            <a:spLocks noChangeArrowheads="1"/>
          </p:cNvSpPr>
          <p:nvPr/>
        </p:nvSpPr>
        <p:spPr bwMode="auto">
          <a:xfrm>
            <a:off x="388939" y="3614164"/>
            <a:ext cx="1870075" cy="84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buFont typeface="Arial" charset="0"/>
              <a:buNone/>
            </a:pPr>
            <a:r>
              <a:rPr lang="zh-CN" altLang="en-US" sz="1100" b="1" dirty="0">
                <a:solidFill>
                  <a:schemeClr val="bg1">
                    <a:lumMod val="50000"/>
                  </a:schemeClr>
                </a:solidFill>
              </a:rPr>
              <a:t>在不同的环境中运行这些容器时，无需担心应用程序与其依赖项之间的冲突。这样做的好处是可以使应用程序更加可靠、安全和易于部署、管理。</a:t>
            </a:r>
            <a:r>
              <a:rPr lang="zh-CN" altLang="en-US" sz="1100" dirty="0">
                <a:solidFill>
                  <a:schemeClr val="bg1">
                    <a:lumMod val="50000"/>
                  </a:schemeClr>
                </a:solidFill>
              </a:rPr>
              <a:t>.</a:t>
            </a:r>
          </a:p>
        </p:txBody>
      </p:sp>
      <p:sp>
        <p:nvSpPr>
          <p:cNvPr id="42033" name="Rectangle 49"/>
          <p:cNvSpPr>
            <a:spLocks noChangeArrowheads="1"/>
          </p:cNvSpPr>
          <p:nvPr/>
        </p:nvSpPr>
        <p:spPr bwMode="auto">
          <a:xfrm>
            <a:off x="6878639" y="1537991"/>
            <a:ext cx="1870075" cy="84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buFont typeface="Arial" charset="0"/>
              <a:buNone/>
            </a:pPr>
            <a:r>
              <a:rPr lang="zh-CN" altLang="en-US" sz="1100" b="1" dirty="0">
                <a:solidFill>
                  <a:schemeClr val="bg1">
                    <a:lumMod val="50000"/>
                  </a:schemeClr>
                </a:solidFill>
              </a:rPr>
              <a:t>镜像（</a:t>
            </a:r>
            <a:r>
              <a:rPr lang="en-US" altLang="zh-CN" sz="1100" b="1" dirty="0">
                <a:solidFill>
                  <a:schemeClr val="bg1">
                    <a:lumMod val="50000"/>
                  </a:schemeClr>
                </a:solidFill>
              </a:rPr>
              <a:t>Image</a:t>
            </a:r>
            <a:r>
              <a:rPr lang="zh-CN" altLang="en-US" sz="1100" b="1" dirty="0">
                <a:solidFill>
                  <a:schemeClr val="bg1">
                    <a:lumMod val="50000"/>
                  </a:schemeClr>
                </a:solidFill>
              </a:rPr>
              <a:t>）：</a:t>
            </a:r>
            <a:r>
              <a:rPr lang="en-US" altLang="zh-CN" sz="1100" b="1" dirty="0">
                <a:solidFill>
                  <a:schemeClr val="bg1">
                    <a:lumMod val="50000"/>
                  </a:schemeClr>
                </a:solidFill>
              </a:rPr>
              <a:t>Docker</a:t>
            </a:r>
            <a:r>
              <a:rPr lang="zh-CN" altLang="en-US" sz="1100" b="1" dirty="0">
                <a:solidFill>
                  <a:schemeClr val="bg1">
                    <a:lumMod val="50000"/>
                  </a:schemeClr>
                </a:solidFill>
              </a:rPr>
              <a:t>镜像是应用程序所需要的所有文件和依赖项的打包。镜像是只读的，不能被修改，并且可以根据需要进行创建、删除或更新。</a:t>
            </a:r>
            <a:endParaRPr lang="zh-CN" altLang="en-US" sz="1100" dirty="0">
              <a:solidFill>
                <a:schemeClr val="bg1">
                  <a:lumMod val="50000"/>
                </a:schemeClr>
              </a:solidFill>
            </a:endParaRPr>
          </a:p>
        </p:txBody>
      </p:sp>
      <p:sp>
        <p:nvSpPr>
          <p:cNvPr id="42034" name="Rectangle 50"/>
          <p:cNvSpPr>
            <a:spLocks noChangeArrowheads="1"/>
          </p:cNvSpPr>
          <p:nvPr/>
        </p:nvSpPr>
        <p:spPr bwMode="auto">
          <a:xfrm>
            <a:off x="6878639" y="2585104"/>
            <a:ext cx="18700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buFont typeface="Arial" charset="0"/>
              <a:buNone/>
            </a:pPr>
            <a:r>
              <a:rPr lang="zh-CN" altLang="en-US" sz="1100" b="1" dirty="0">
                <a:solidFill>
                  <a:schemeClr val="bg1">
                    <a:lumMod val="50000"/>
                  </a:schemeClr>
                </a:solidFill>
              </a:rPr>
              <a:t>容器（</a:t>
            </a:r>
            <a:r>
              <a:rPr lang="en-US" altLang="zh-CN" sz="1100" b="1" dirty="0">
                <a:solidFill>
                  <a:schemeClr val="bg1">
                    <a:lumMod val="50000"/>
                  </a:schemeClr>
                </a:solidFill>
              </a:rPr>
              <a:t>Container</a:t>
            </a:r>
            <a:r>
              <a:rPr lang="zh-CN" altLang="en-US" sz="1100" b="1" dirty="0">
                <a:solidFill>
                  <a:schemeClr val="bg1">
                    <a:lumMod val="50000"/>
                  </a:schemeClr>
                </a:solidFill>
              </a:rPr>
              <a:t>）：</a:t>
            </a:r>
            <a:r>
              <a:rPr lang="en-US" altLang="zh-CN" sz="1100" b="1" dirty="0">
                <a:solidFill>
                  <a:schemeClr val="bg1">
                    <a:lumMod val="50000"/>
                  </a:schemeClr>
                </a:solidFill>
              </a:rPr>
              <a:t>Docker</a:t>
            </a:r>
            <a:r>
              <a:rPr lang="zh-CN" altLang="en-US" sz="1100" b="1" dirty="0">
                <a:solidFill>
                  <a:schemeClr val="bg1">
                    <a:lumMod val="50000"/>
                  </a:schemeClr>
                </a:solidFill>
              </a:rPr>
              <a:t>容器是从镜像创建的实例。容器是可读写的，你可以在其中运行应用程序并修改其状态，但是当容器停止后，对于容器内部的任何改变都会被丢弃。</a:t>
            </a:r>
            <a:endParaRPr lang="zh-CN" altLang="en-US" sz="1000" dirty="0">
              <a:solidFill>
                <a:schemeClr val="bg1">
                  <a:lumMod val="50000"/>
                </a:schemeClr>
              </a:solidFill>
            </a:endParaRPr>
          </a:p>
        </p:txBody>
      </p:sp>
      <p:sp>
        <p:nvSpPr>
          <p:cNvPr id="42035" name="Rectangle 51"/>
          <p:cNvSpPr>
            <a:spLocks noChangeArrowheads="1"/>
          </p:cNvSpPr>
          <p:nvPr/>
        </p:nvSpPr>
        <p:spPr bwMode="auto">
          <a:xfrm>
            <a:off x="6869804" y="3711276"/>
            <a:ext cx="18700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buFont typeface="Arial" charset="0"/>
              <a:buNone/>
            </a:pPr>
            <a:r>
              <a:rPr lang="zh-CN" altLang="en-US" sz="1100" b="1" dirty="0">
                <a:solidFill>
                  <a:schemeClr val="bg1">
                    <a:lumMod val="50000"/>
                  </a:schemeClr>
                </a:solidFill>
              </a:rPr>
              <a:t>仓库（</a:t>
            </a:r>
            <a:r>
              <a:rPr lang="en-US" altLang="zh-CN" sz="1100" b="1" dirty="0">
                <a:solidFill>
                  <a:schemeClr val="bg1">
                    <a:lumMod val="50000"/>
                  </a:schemeClr>
                </a:solidFill>
              </a:rPr>
              <a:t>Repository</a:t>
            </a:r>
            <a:r>
              <a:rPr lang="zh-CN" altLang="en-US" sz="1100" b="1" dirty="0">
                <a:solidFill>
                  <a:schemeClr val="bg1">
                    <a:lumMod val="50000"/>
                  </a:schemeClr>
                </a:solidFill>
              </a:rPr>
              <a:t>）：</a:t>
            </a:r>
            <a:r>
              <a:rPr lang="en-US" altLang="zh-CN" sz="1100" b="1" dirty="0">
                <a:solidFill>
                  <a:schemeClr val="bg1">
                    <a:lumMod val="50000"/>
                  </a:schemeClr>
                </a:solidFill>
              </a:rPr>
              <a:t>Docker</a:t>
            </a:r>
            <a:r>
              <a:rPr lang="zh-CN" altLang="en-US" sz="1100" b="1" dirty="0">
                <a:solidFill>
                  <a:schemeClr val="bg1">
                    <a:lumMod val="50000"/>
                  </a:schemeClr>
                </a:solidFill>
              </a:rPr>
              <a:t>仓库是用于存储和共享</a:t>
            </a:r>
            <a:r>
              <a:rPr lang="en-US" altLang="zh-CN" sz="1100" b="1" dirty="0">
                <a:solidFill>
                  <a:schemeClr val="bg1">
                    <a:lumMod val="50000"/>
                  </a:schemeClr>
                </a:solidFill>
              </a:rPr>
              <a:t>Docker</a:t>
            </a:r>
            <a:r>
              <a:rPr lang="zh-CN" altLang="en-US" sz="1100" b="1" dirty="0">
                <a:solidFill>
                  <a:schemeClr val="bg1">
                    <a:lumMod val="50000"/>
                  </a:schemeClr>
                </a:solidFill>
              </a:rPr>
              <a:t>镜像的地方。开发者可以将自己创建的镜像上传到公共或私有的</a:t>
            </a:r>
            <a:r>
              <a:rPr lang="en-US" altLang="zh-CN" sz="1100" b="1" dirty="0">
                <a:solidFill>
                  <a:schemeClr val="bg1">
                    <a:lumMod val="50000"/>
                  </a:schemeClr>
                </a:solidFill>
              </a:rPr>
              <a:t>Docker</a:t>
            </a:r>
            <a:r>
              <a:rPr lang="zh-CN" altLang="en-US" sz="1100" b="1" dirty="0">
                <a:solidFill>
                  <a:schemeClr val="bg1">
                    <a:lumMod val="50000"/>
                  </a:schemeClr>
                </a:solidFill>
              </a:rPr>
              <a:t>仓库中，从而使其他人可以轻松地使用它。</a:t>
            </a:r>
            <a:endParaRPr lang="zh-CN" altLang="en-US" sz="1100" dirty="0">
              <a:solidFill>
                <a:schemeClr val="bg1">
                  <a:lumMod val="50000"/>
                </a:schemeClr>
              </a:solidFill>
            </a:endParaRPr>
          </a:p>
        </p:txBody>
      </p:sp>
      <p:sp>
        <p:nvSpPr>
          <p:cNvPr id="51" name="Text Box 42"/>
          <p:cNvSpPr txBox="1">
            <a:spLocks noChangeArrowheads="1"/>
          </p:cNvSpPr>
          <p:nvPr/>
        </p:nvSpPr>
        <p:spPr bwMode="auto">
          <a:xfrm>
            <a:off x="3933845" y="290122"/>
            <a:ext cx="12763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 typeface="Arial" charset="0"/>
              <a:buNone/>
            </a:pPr>
            <a:r>
              <a:rPr lang="en-US" altLang="zh-CN" sz="2400" b="1" dirty="0">
                <a:solidFill>
                  <a:schemeClr val="accent1"/>
                </a:solidFill>
                <a:latin typeface="微软雅黑" pitchFamily="34" charset="-122"/>
                <a:ea typeface="微软雅黑" pitchFamily="34" charset="-122"/>
              </a:rPr>
              <a:t>Docker</a:t>
            </a:r>
          </a:p>
        </p:txBody>
      </p:sp>
      <p:cxnSp>
        <p:nvCxnSpPr>
          <p:cNvPr id="53" name="直接连接符 52"/>
          <p:cNvCxnSpPr/>
          <p:nvPr/>
        </p:nvCxnSpPr>
        <p:spPr>
          <a:xfrm>
            <a:off x="4226801" y="974973"/>
            <a:ext cx="690398"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Freeform 6"/>
          <p:cNvSpPr>
            <a:spLocks/>
          </p:cNvSpPr>
          <p:nvPr/>
        </p:nvSpPr>
        <p:spPr bwMode="auto">
          <a:xfrm>
            <a:off x="2641025" y="3619832"/>
            <a:ext cx="159902" cy="284962"/>
          </a:xfrm>
          <a:custGeom>
            <a:avLst/>
            <a:gdLst>
              <a:gd name="T0" fmla="*/ 59 w 179"/>
              <a:gd name="T1" fmla="*/ 0 h 319"/>
              <a:gd name="T2" fmla="*/ 0 w 179"/>
              <a:gd name="T3" fmla="*/ 168 h 319"/>
              <a:gd name="T4" fmla="*/ 73 w 179"/>
              <a:gd name="T5" fmla="*/ 168 h 319"/>
              <a:gd name="T6" fmla="*/ 0 w 179"/>
              <a:gd name="T7" fmla="*/ 319 h 319"/>
              <a:gd name="T8" fmla="*/ 179 w 179"/>
              <a:gd name="T9" fmla="*/ 99 h 319"/>
              <a:gd name="T10" fmla="*/ 80 w 179"/>
              <a:gd name="T11" fmla="*/ 99 h 319"/>
              <a:gd name="T12" fmla="*/ 139 w 179"/>
              <a:gd name="T13" fmla="*/ 0 h 319"/>
              <a:gd name="T14" fmla="*/ 59 w 179"/>
              <a:gd name="T15" fmla="*/ 0 h 3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9" h="319">
                <a:moveTo>
                  <a:pt x="59" y="0"/>
                </a:moveTo>
                <a:lnTo>
                  <a:pt x="0" y="168"/>
                </a:lnTo>
                <a:lnTo>
                  <a:pt x="73" y="168"/>
                </a:lnTo>
                <a:lnTo>
                  <a:pt x="0" y="319"/>
                </a:lnTo>
                <a:lnTo>
                  <a:pt x="179" y="99"/>
                </a:lnTo>
                <a:lnTo>
                  <a:pt x="80" y="99"/>
                </a:lnTo>
                <a:lnTo>
                  <a:pt x="139" y="0"/>
                </a:lnTo>
                <a:lnTo>
                  <a:pt x="59" y="0"/>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9" name="组合 28"/>
          <p:cNvGrpSpPr/>
          <p:nvPr/>
        </p:nvGrpSpPr>
        <p:grpSpPr>
          <a:xfrm>
            <a:off x="6321035" y="1961184"/>
            <a:ext cx="210818" cy="255484"/>
            <a:chOff x="-92075" y="6354763"/>
            <a:chExt cx="374650" cy="454026"/>
          </a:xfrm>
        </p:grpSpPr>
        <p:sp>
          <p:nvSpPr>
            <p:cNvPr id="5" name="Freeform 7"/>
            <p:cNvSpPr>
              <a:spLocks/>
            </p:cNvSpPr>
            <p:nvPr/>
          </p:nvSpPr>
          <p:spPr bwMode="auto">
            <a:xfrm>
              <a:off x="-92075" y="6354763"/>
              <a:ext cx="374650" cy="374650"/>
            </a:xfrm>
            <a:custGeom>
              <a:avLst/>
              <a:gdLst>
                <a:gd name="T0" fmla="*/ 100 w 100"/>
                <a:gd name="T1" fmla="*/ 92 h 100"/>
                <a:gd name="T2" fmla="*/ 100 w 100"/>
                <a:gd name="T3" fmla="*/ 92 h 100"/>
                <a:gd name="T4" fmla="*/ 76 w 100"/>
                <a:gd name="T5" fmla="*/ 38 h 100"/>
                <a:gd name="T6" fmla="*/ 57 w 100"/>
                <a:gd name="T7" fmla="*/ 8 h 100"/>
                <a:gd name="T8" fmla="*/ 50 w 100"/>
                <a:gd name="T9" fmla="*/ 0 h 100"/>
                <a:gd name="T10" fmla="*/ 43 w 100"/>
                <a:gd name="T11" fmla="*/ 8 h 100"/>
                <a:gd name="T12" fmla="*/ 24 w 100"/>
                <a:gd name="T13" fmla="*/ 38 h 100"/>
                <a:gd name="T14" fmla="*/ 0 w 100"/>
                <a:gd name="T15" fmla="*/ 97 h 100"/>
                <a:gd name="T16" fmla="*/ 0 w 100"/>
                <a:gd name="T17" fmla="*/ 97 h 100"/>
                <a:gd name="T18" fmla="*/ 0 w 100"/>
                <a:gd name="T19" fmla="*/ 100 h 100"/>
                <a:gd name="T20" fmla="*/ 0 w 100"/>
                <a:gd name="T21" fmla="*/ 100 h 100"/>
                <a:gd name="T22" fmla="*/ 100 w 100"/>
                <a:gd name="T23" fmla="*/ 100 h 100"/>
                <a:gd name="T24" fmla="*/ 100 w 100"/>
                <a:gd name="T25" fmla="*/ 100 h 100"/>
                <a:gd name="T26" fmla="*/ 100 w 100"/>
                <a:gd name="T27" fmla="*/ 92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0" h="100">
                  <a:moveTo>
                    <a:pt x="100" y="92"/>
                  </a:moveTo>
                  <a:cubicBezTo>
                    <a:pt x="100" y="92"/>
                    <a:pt x="100" y="92"/>
                    <a:pt x="100" y="92"/>
                  </a:cubicBezTo>
                  <a:cubicBezTo>
                    <a:pt x="97" y="64"/>
                    <a:pt x="76" y="65"/>
                    <a:pt x="76" y="38"/>
                  </a:cubicBezTo>
                  <a:cubicBezTo>
                    <a:pt x="76" y="8"/>
                    <a:pt x="57" y="8"/>
                    <a:pt x="57" y="8"/>
                  </a:cubicBezTo>
                  <a:cubicBezTo>
                    <a:pt x="57" y="8"/>
                    <a:pt x="57" y="0"/>
                    <a:pt x="50" y="0"/>
                  </a:cubicBezTo>
                  <a:cubicBezTo>
                    <a:pt x="43" y="0"/>
                    <a:pt x="43" y="8"/>
                    <a:pt x="43" y="8"/>
                  </a:cubicBezTo>
                  <a:cubicBezTo>
                    <a:pt x="43" y="8"/>
                    <a:pt x="24" y="8"/>
                    <a:pt x="24" y="38"/>
                  </a:cubicBezTo>
                  <a:cubicBezTo>
                    <a:pt x="24" y="67"/>
                    <a:pt x="0" y="64"/>
                    <a:pt x="0" y="97"/>
                  </a:cubicBezTo>
                  <a:cubicBezTo>
                    <a:pt x="0" y="97"/>
                    <a:pt x="0" y="97"/>
                    <a:pt x="0" y="97"/>
                  </a:cubicBezTo>
                  <a:cubicBezTo>
                    <a:pt x="0" y="98"/>
                    <a:pt x="0" y="99"/>
                    <a:pt x="0" y="100"/>
                  </a:cubicBezTo>
                  <a:cubicBezTo>
                    <a:pt x="0" y="100"/>
                    <a:pt x="0" y="100"/>
                    <a:pt x="0" y="100"/>
                  </a:cubicBezTo>
                  <a:cubicBezTo>
                    <a:pt x="0" y="100"/>
                    <a:pt x="100" y="100"/>
                    <a:pt x="100" y="100"/>
                  </a:cubicBezTo>
                  <a:cubicBezTo>
                    <a:pt x="100" y="100"/>
                    <a:pt x="100" y="100"/>
                    <a:pt x="100" y="100"/>
                  </a:cubicBezTo>
                  <a:cubicBezTo>
                    <a:pt x="100" y="100"/>
                    <a:pt x="100" y="94"/>
                    <a:pt x="100" y="92"/>
                  </a:cubicBez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8"/>
            <p:cNvSpPr>
              <a:spLocks noChangeArrowheads="1"/>
            </p:cNvSpPr>
            <p:nvPr/>
          </p:nvSpPr>
          <p:spPr bwMode="auto">
            <a:xfrm>
              <a:off x="69850" y="6756401"/>
              <a:ext cx="52388" cy="52388"/>
            </a:xfrm>
            <a:prstGeom prst="ellipse">
              <a:avLst/>
            </a:pr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8" name="组合 27"/>
          <p:cNvGrpSpPr/>
          <p:nvPr/>
        </p:nvGrpSpPr>
        <p:grpSpPr>
          <a:xfrm>
            <a:off x="2600827" y="2757983"/>
            <a:ext cx="240298" cy="284962"/>
            <a:chOff x="-2011363" y="6327776"/>
            <a:chExt cx="427038" cy="506413"/>
          </a:xfrm>
        </p:grpSpPr>
        <p:sp>
          <p:nvSpPr>
            <p:cNvPr id="7" name="Oval 9"/>
            <p:cNvSpPr>
              <a:spLocks noChangeArrowheads="1"/>
            </p:cNvSpPr>
            <p:nvPr/>
          </p:nvSpPr>
          <p:spPr bwMode="auto">
            <a:xfrm>
              <a:off x="-2011363" y="6542088"/>
              <a:ext cx="77788" cy="77788"/>
            </a:xfrm>
            <a:prstGeom prst="ellipse">
              <a:avLst/>
            </a:pr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Oval 10"/>
            <p:cNvSpPr>
              <a:spLocks noChangeArrowheads="1"/>
            </p:cNvSpPr>
            <p:nvPr/>
          </p:nvSpPr>
          <p:spPr bwMode="auto">
            <a:xfrm>
              <a:off x="-1666875" y="6327776"/>
              <a:ext cx="82550" cy="79375"/>
            </a:xfrm>
            <a:prstGeom prst="ellipse">
              <a:avLst/>
            </a:pr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Line 11"/>
            <p:cNvSpPr>
              <a:spLocks noChangeShapeType="1"/>
            </p:cNvSpPr>
            <p:nvPr/>
          </p:nvSpPr>
          <p:spPr bwMode="auto">
            <a:xfrm flipH="1">
              <a:off x="-1936750" y="6388101"/>
              <a:ext cx="277813" cy="173038"/>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2"/>
            <p:cNvSpPr>
              <a:spLocks noChangeArrowheads="1"/>
            </p:cNvSpPr>
            <p:nvPr/>
          </p:nvSpPr>
          <p:spPr bwMode="auto">
            <a:xfrm>
              <a:off x="-1666875" y="6756401"/>
              <a:ext cx="82550" cy="77788"/>
            </a:xfrm>
            <a:prstGeom prst="ellipse">
              <a:avLst/>
            </a:pr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Line 13"/>
            <p:cNvSpPr>
              <a:spLocks noChangeShapeType="1"/>
            </p:cNvSpPr>
            <p:nvPr/>
          </p:nvSpPr>
          <p:spPr bwMode="auto">
            <a:xfrm flipH="1" flipV="1">
              <a:off x="-1936750" y="6602413"/>
              <a:ext cx="277813" cy="17145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1" name="组合 30"/>
          <p:cNvGrpSpPr/>
          <p:nvPr/>
        </p:nvGrpSpPr>
        <p:grpSpPr>
          <a:xfrm>
            <a:off x="6298701" y="3711276"/>
            <a:ext cx="255486" cy="246552"/>
            <a:chOff x="4722812" y="7262813"/>
            <a:chExt cx="454025" cy="438150"/>
          </a:xfrm>
        </p:grpSpPr>
        <p:sp>
          <p:nvSpPr>
            <p:cNvPr id="12" name="Line 14"/>
            <p:cNvSpPr>
              <a:spLocks noChangeShapeType="1"/>
            </p:cNvSpPr>
            <p:nvPr/>
          </p:nvSpPr>
          <p:spPr bwMode="auto">
            <a:xfrm>
              <a:off x="4722812" y="7662863"/>
              <a:ext cx="45402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Freeform 15"/>
            <p:cNvSpPr>
              <a:spLocks/>
            </p:cNvSpPr>
            <p:nvPr/>
          </p:nvSpPr>
          <p:spPr bwMode="auto">
            <a:xfrm>
              <a:off x="4791075" y="7262813"/>
              <a:ext cx="322263" cy="239713"/>
            </a:xfrm>
            <a:custGeom>
              <a:avLst/>
              <a:gdLst>
                <a:gd name="T0" fmla="*/ 86 w 86"/>
                <a:gd name="T1" fmla="*/ 5 h 64"/>
                <a:gd name="T2" fmla="*/ 80 w 86"/>
                <a:gd name="T3" fmla="*/ 0 h 64"/>
                <a:gd name="T4" fmla="*/ 6 w 86"/>
                <a:gd name="T5" fmla="*/ 0 h 64"/>
                <a:gd name="T6" fmla="*/ 0 w 86"/>
                <a:gd name="T7" fmla="*/ 5 h 64"/>
                <a:gd name="T8" fmla="*/ 0 w 86"/>
                <a:gd name="T9" fmla="*/ 59 h 64"/>
                <a:gd name="T10" fmla="*/ 6 w 86"/>
                <a:gd name="T11" fmla="*/ 64 h 64"/>
                <a:gd name="T12" fmla="*/ 80 w 86"/>
                <a:gd name="T13" fmla="*/ 64 h 64"/>
                <a:gd name="T14" fmla="*/ 86 w 86"/>
                <a:gd name="T15" fmla="*/ 59 h 64"/>
                <a:gd name="T16" fmla="*/ 86 w 86"/>
                <a:gd name="T17" fmla="*/ 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 h="64">
                  <a:moveTo>
                    <a:pt x="86" y="5"/>
                  </a:moveTo>
                  <a:cubicBezTo>
                    <a:pt x="86" y="2"/>
                    <a:pt x="83" y="0"/>
                    <a:pt x="80" y="0"/>
                  </a:cubicBezTo>
                  <a:cubicBezTo>
                    <a:pt x="6" y="0"/>
                    <a:pt x="6" y="0"/>
                    <a:pt x="6" y="0"/>
                  </a:cubicBezTo>
                  <a:cubicBezTo>
                    <a:pt x="3" y="0"/>
                    <a:pt x="0" y="2"/>
                    <a:pt x="0" y="5"/>
                  </a:cubicBezTo>
                  <a:cubicBezTo>
                    <a:pt x="0" y="59"/>
                    <a:pt x="0" y="59"/>
                    <a:pt x="0" y="59"/>
                  </a:cubicBezTo>
                  <a:cubicBezTo>
                    <a:pt x="0" y="61"/>
                    <a:pt x="3" y="64"/>
                    <a:pt x="6" y="64"/>
                  </a:cubicBezTo>
                  <a:cubicBezTo>
                    <a:pt x="80" y="64"/>
                    <a:pt x="80" y="64"/>
                    <a:pt x="80" y="64"/>
                  </a:cubicBezTo>
                  <a:cubicBezTo>
                    <a:pt x="83" y="64"/>
                    <a:pt x="86" y="61"/>
                    <a:pt x="86" y="59"/>
                  </a:cubicBezTo>
                  <a:lnTo>
                    <a:pt x="86" y="5"/>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Line 16"/>
            <p:cNvSpPr>
              <a:spLocks noChangeShapeType="1"/>
            </p:cNvSpPr>
            <p:nvPr/>
          </p:nvSpPr>
          <p:spPr bwMode="auto">
            <a:xfrm>
              <a:off x="4805362" y="7450138"/>
              <a:ext cx="29210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Line 17"/>
            <p:cNvSpPr>
              <a:spLocks noChangeShapeType="1"/>
            </p:cNvSpPr>
            <p:nvPr/>
          </p:nvSpPr>
          <p:spPr bwMode="auto">
            <a:xfrm flipV="1">
              <a:off x="4951412" y="7513638"/>
              <a:ext cx="0" cy="134938"/>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Oval 18"/>
            <p:cNvSpPr>
              <a:spLocks noChangeArrowheads="1"/>
            </p:cNvSpPr>
            <p:nvPr/>
          </p:nvSpPr>
          <p:spPr bwMode="auto">
            <a:xfrm>
              <a:off x="4910137" y="7621588"/>
              <a:ext cx="82550" cy="79375"/>
            </a:xfrm>
            <a:prstGeom prst="ellipse">
              <a:avLst/>
            </a:prstGeom>
            <a:solidFill>
              <a:schemeClr val="bg1"/>
            </a:solidFill>
            <a:ln w="12700">
              <a:solidFill>
                <a:schemeClr val="bg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27" name="组合 26"/>
          <p:cNvGrpSpPr/>
          <p:nvPr/>
        </p:nvGrpSpPr>
        <p:grpSpPr>
          <a:xfrm>
            <a:off x="2593881" y="1962847"/>
            <a:ext cx="270670" cy="269776"/>
            <a:chOff x="-2998788" y="6354763"/>
            <a:chExt cx="481013" cy="479425"/>
          </a:xfrm>
        </p:grpSpPr>
        <p:sp>
          <p:nvSpPr>
            <p:cNvPr id="17" name="Oval 19"/>
            <p:cNvSpPr>
              <a:spLocks noChangeArrowheads="1"/>
            </p:cNvSpPr>
            <p:nvPr/>
          </p:nvSpPr>
          <p:spPr bwMode="auto">
            <a:xfrm>
              <a:off x="-2998788" y="6354763"/>
              <a:ext cx="481013" cy="479425"/>
            </a:xfrm>
            <a:prstGeom prst="ellipse">
              <a:avLst/>
            </a:pr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Freeform 20"/>
            <p:cNvSpPr>
              <a:spLocks/>
            </p:cNvSpPr>
            <p:nvPr/>
          </p:nvSpPr>
          <p:spPr bwMode="auto">
            <a:xfrm>
              <a:off x="-2828925" y="6421438"/>
              <a:ext cx="141288" cy="346075"/>
            </a:xfrm>
            <a:custGeom>
              <a:avLst/>
              <a:gdLst>
                <a:gd name="T0" fmla="*/ 75 w 89"/>
                <a:gd name="T1" fmla="*/ 121 h 218"/>
                <a:gd name="T2" fmla="*/ 0 w 89"/>
                <a:gd name="T3" fmla="*/ 218 h 218"/>
                <a:gd name="T4" fmla="*/ 14 w 89"/>
                <a:gd name="T5" fmla="*/ 97 h 218"/>
                <a:gd name="T6" fmla="*/ 89 w 89"/>
                <a:gd name="T7" fmla="*/ 0 h 218"/>
                <a:gd name="T8" fmla="*/ 75 w 89"/>
                <a:gd name="T9" fmla="*/ 121 h 218"/>
              </a:gdLst>
              <a:ahLst/>
              <a:cxnLst>
                <a:cxn ang="0">
                  <a:pos x="T0" y="T1"/>
                </a:cxn>
                <a:cxn ang="0">
                  <a:pos x="T2" y="T3"/>
                </a:cxn>
                <a:cxn ang="0">
                  <a:pos x="T4" y="T5"/>
                </a:cxn>
                <a:cxn ang="0">
                  <a:pos x="T6" y="T7"/>
                </a:cxn>
                <a:cxn ang="0">
                  <a:pos x="T8" y="T9"/>
                </a:cxn>
              </a:cxnLst>
              <a:rect l="0" t="0" r="r" b="b"/>
              <a:pathLst>
                <a:path w="89" h="218">
                  <a:moveTo>
                    <a:pt x="75" y="121"/>
                  </a:moveTo>
                  <a:lnTo>
                    <a:pt x="0" y="218"/>
                  </a:lnTo>
                  <a:lnTo>
                    <a:pt x="14" y="97"/>
                  </a:lnTo>
                  <a:lnTo>
                    <a:pt x="89" y="0"/>
                  </a:lnTo>
                  <a:lnTo>
                    <a:pt x="75" y="121"/>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Line 21"/>
            <p:cNvSpPr>
              <a:spLocks noChangeShapeType="1"/>
            </p:cNvSpPr>
            <p:nvPr/>
          </p:nvSpPr>
          <p:spPr bwMode="auto">
            <a:xfrm>
              <a:off x="-2806700" y="6575426"/>
              <a:ext cx="96838" cy="3810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Line 22"/>
            <p:cNvSpPr>
              <a:spLocks noChangeShapeType="1"/>
            </p:cNvSpPr>
            <p:nvPr/>
          </p:nvSpPr>
          <p:spPr bwMode="auto">
            <a:xfrm>
              <a:off x="-2757488" y="6380163"/>
              <a:ext cx="0" cy="26988"/>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Line 23"/>
            <p:cNvSpPr>
              <a:spLocks noChangeShapeType="1"/>
            </p:cNvSpPr>
            <p:nvPr/>
          </p:nvSpPr>
          <p:spPr bwMode="auto">
            <a:xfrm>
              <a:off x="-2757488" y="6781801"/>
              <a:ext cx="0" cy="26988"/>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Line 24"/>
            <p:cNvSpPr>
              <a:spLocks noChangeShapeType="1"/>
            </p:cNvSpPr>
            <p:nvPr/>
          </p:nvSpPr>
          <p:spPr bwMode="auto">
            <a:xfrm>
              <a:off x="-2971800" y="6594476"/>
              <a:ext cx="2540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Line 25"/>
            <p:cNvSpPr>
              <a:spLocks noChangeShapeType="1"/>
            </p:cNvSpPr>
            <p:nvPr/>
          </p:nvSpPr>
          <p:spPr bwMode="auto">
            <a:xfrm>
              <a:off x="-2570163" y="6594476"/>
              <a:ext cx="2540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0" name="组合 29"/>
          <p:cNvGrpSpPr/>
          <p:nvPr/>
        </p:nvGrpSpPr>
        <p:grpSpPr>
          <a:xfrm>
            <a:off x="6320646" y="2757334"/>
            <a:ext cx="192060" cy="284962"/>
            <a:chOff x="920750" y="6756401"/>
            <a:chExt cx="341313" cy="506413"/>
          </a:xfrm>
        </p:grpSpPr>
        <p:sp>
          <p:nvSpPr>
            <p:cNvPr id="24" name="Freeform 26"/>
            <p:cNvSpPr>
              <a:spLocks/>
            </p:cNvSpPr>
            <p:nvPr/>
          </p:nvSpPr>
          <p:spPr bwMode="auto">
            <a:xfrm>
              <a:off x="920750" y="6756401"/>
              <a:ext cx="341313" cy="506413"/>
            </a:xfrm>
            <a:custGeom>
              <a:avLst/>
              <a:gdLst>
                <a:gd name="T0" fmla="*/ 84 w 91"/>
                <a:gd name="T1" fmla="*/ 28 h 135"/>
                <a:gd name="T2" fmla="*/ 83 w 91"/>
                <a:gd name="T3" fmla="*/ 28 h 135"/>
                <a:gd name="T4" fmla="*/ 75 w 91"/>
                <a:gd name="T5" fmla="*/ 36 h 135"/>
                <a:gd name="T6" fmla="*/ 75 w 91"/>
                <a:gd name="T7" fmla="*/ 21 h 135"/>
                <a:gd name="T8" fmla="*/ 67 w 91"/>
                <a:gd name="T9" fmla="*/ 13 h 135"/>
                <a:gd name="T10" fmla="*/ 66 w 91"/>
                <a:gd name="T11" fmla="*/ 13 h 135"/>
                <a:gd name="T12" fmla="*/ 58 w 91"/>
                <a:gd name="T13" fmla="*/ 21 h 135"/>
                <a:gd name="T14" fmla="*/ 58 w 91"/>
                <a:gd name="T15" fmla="*/ 7 h 135"/>
                <a:gd name="T16" fmla="*/ 50 w 91"/>
                <a:gd name="T17" fmla="*/ 0 h 135"/>
                <a:gd name="T18" fmla="*/ 49 w 91"/>
                <a:gd name="T19" fmla="*/ 0 h 135"/>
                <a:gd name="T20" fmla="*/ 41 w 91"/>
                <a:gd name="T21" fmla="*/ 7 h 135"/>
                <a:gd name="T22" fmla="*/ 41 w 91"/>
                <a:gd name="T23" fmla="*/ 21 h 135"/>
                <a:gd name="T24" fmla="*/ 33 w 91"/>
                <a:gd name="T25" fmla="*/ 13 h 135"/>
                <a:gd name="T26" fmla="*/ 32 w 91"/>
                <a:gd name="T27" fmla="*/ 13 h 135"/>
                <a:gd name="T28" fmla="*/ 24 w 91"/>
                <a:gd name="T29" fmla="*/ 21 h 135"/>
                <a:gd name="T30" fmla="*/ 24 w 91"/>
                <a:gd name="T31" fmla="*/ 71 h 135"/>
                <a:gd name="T32" fmla="*/ 24 w 91"/>
                <a:gd name="T33" fmla="*/ 71 h 135"/>
                <a:gd name="T34" fmla="*/ 16 w 91"/>
                <a:gd name="T35" fmla="*/ 49 h 135"/>
                <a:gd name="T36" fmla="*/ 5 w 91"/>
                <a:gd name="T37" fmla="*/ 47 h 135"/>
                <a:gd name="T38" fmla="*/ 4 w 91"/>
                <a:gd name="T39" fmla="*/ 48 h 135"/>
                <a:gd name="T40" fmla="*/ 2 w 91"/>
                <a:gd name="T41" fmla="*/ 59 h 135"/>
                <a:gd name="T42" fmla="*/ 7 w 91"/>
                <a:gd name="T43" fmla="*/ 81 h 135"/>
                <a:gd name="T44" fmla="*/ 7 w 91"/>
                <a:gd name="T45" fmla="*/ 92 h 135"/>
                <a:gd name="T46" fmla="*/ 7 w 91"/>
                <a:gd name="T47" fmla="*/ 94 h 135"/>
                <a:gd name="T48" fmla="*/ 7 w 91"/>
                <a:gd name="T49" fmla="*/ 96 h 135"/>
                <a:gd name="T50" fmla="*/ 47 w 91"/>
                <a:gd name="T51" fmla="*/ 135 h 135"/>
                <a:gd name="T52" fmla="*/ 53 w 91"/>
                <a:gd name="T53" fmla="*/ 135 h 135"/>
                <a:gd name="T54" fmla="*/ 91 w 91"/>
                <a:gd name="T55" fmla="*/ 96 h 135"/>
                <a:gd name="T56" fmla="*/ 91 w 91"/>
                <a:gd name="T57" fmla="*/ 77 h 135"/>
                <a:gd name="T58" fmla="*/ 91 w 91"/>
                <a:gd name="T59" fmla="*/ 36 h 135"/>
                <a:gd name="T60" fmla="*/ 84 w 91"/>
                <a:gd name="T61" fmla="*/ 2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1" h="135">
                  <a:moveTo>
                    <a:pt x="84" y="28"/>
                  </a:moveTo>
                  <a:cubicBezTo>
                    <a:pt x="83" y="28"/>
                    <a:pt x="83" y="28"/>
                    <a:pt x="83" y="28"/>
                  </a:cubicBezTo>
                  <a:cubicBezTo>
                    <a:pt x="78" y="28"/>
                    <a:pt x="75" y="32"/>
                    <a:pt x="75" y="36"/>
                  </a:cubicBezTo>
                  <a:cubicBezTo>
                    <a:pt x="75" y="21"/>
                    <a:pt x="75" y="21"/>
                    <a:pt x="75" y="21"/>
                  </a:cubicBezTo>
                  <a:cubicBezTo>
                    <a:pt x="75" y="16"/>
                    <a:pt x="72" y="13"/>
                    <a:pt x="67" y="13"/>
                  </a:cubicBezTo>
                  <a:cubicBezTo>
                    <a:pt x="66" y="13"/>
                    <a:pt x="66" y="13"/>
                    <a:pt x="66" y="13"/>
                  </a:cubicBezTo>
                  <a:cubicBezTo>
                    <a:pt x="62" y="13"/>
                    <a:pt x="58" y="16"/>
                    <a:pt x="58" y="21"/>
                  </a:cubicBezTo>
                  <a:cubicBezTo>
                    <a:pt x="58" y="7"/>
                    <a:pt x="58" y="7"/>
                    <a:pt x="58" y="7"/>
                  </a:cubicBezTo>
                  <a:cubicBezTo>
                    <a:pt x="58" y="3"/>
                    <a:pt x="55" y="0"/>
                    <a:pt x="50" y="0"/>
                  </a:cubicBezTo>
                  <a:cubicBezTo>
                    <a:pt x="49" y="0"/>
                    <a:pt x="49" y="0"/>
                    <a:pt x="49" y="0"/>
                  </a:cubicBezTo>
                  <a:cubicBezTo>
                    <a:pt x="45" y="0"/>
                    <a:pt x="41" y="3"/>
                    <a:pt x="41" y="7"/>
                  </a:cubicBezTo>
                  <a:cubicBezTo>
                    <a:pt x="41" y="21"/>
                    <a:pt x="41" y="21"/>
                    <a:pt x="41" y="21"/>
                  </a:cubicBezTo>
                  <a:cubicBezTo>
                    <a:pt x="41" y="16"/>
                    <a:pt x="38" y="13"/>
                    <a:pt x="33" y="13"/>
                  </a:cubicBezTo>
                  <a:cubicBezTo>
                    <a:pt x="32" y="13"/>
                    <a:pt x="32" y="13"/>
                    <a:pt x="32" y="13"/>
                  </a:cubicBezTo>
                  <a:cubicBezTo>
                    <a:pt x="28" y="13"/>
                    <a:pt x="24" y="16"/>
                    <a:pt x="24" y="21"/>
                  </a:cubicBezTo>
                  <a:cubicBezTo>
                    <a:pt x="24" y="71"/>
                    <a:pt x="24" y="71"/>
                    <a:pt x="24" y="71"/>
                  </a:cubicBezTo>
                  <a:cubicBezTo>
                    <a:pt x="24" y="71"/>
                    <a:pt x="24" y="71"/>
                    <a:pt x="24" y="71"/>
                  </a:cubicBezTo>
                  <a:cubicBezTo>
                    <a:pt x="23" y="57"/>
                    <a:pt x="16" y="49"/>
                    <a:pt x="16" y="49"/>
                  </a:cubicBezTo>
                  <a:cubicBezTo>
                    <a:pt x="13" y="45"/>
                    <a:pt x="8" y="44"/>
                    <a:pt x="5" y="47"/>
                  </a:cubicBezTo>
                  <a:cubicBezTo>
                    <a:pt x="4" y="48"/>
                    <a:pt x="4" y="48"/>
                    <a:pt x="4" y="48"/>
                  </a:cubicBezTo>
                  <a:cubicBezTo>
                    <a:pt x="0" y="50"/>
                    <a:pt x="0" y="55"/>
                    <a:pt x="2" y="59"/>
                  </a:cubicBezTo>
                  <a:cubicBezTo>
                    <a:pt x="2" y="59"/>
                    <a:pt x="7" y="66"/>
                    <a:pt x="7" y="81"/>
                  </a:cubicBezTo>
                  <a:cubicBezTo>
                    <a:pt x="7" y="84"/>
                    <a:pt x="7" y="89"/>
                    <a:pt x="7" y="92"/>
                  </a:cubicBezTo>
                  <a:cubicBezTo>
                    <a:pt x="7" y="93"/>
                    <a:pt x="7" y="94"/>
                    <a:pt x="7" y="94"/>
                  </a:cubicBezTo>
                  <a:cubicBezTo>
                    <a:pt x="7" y="96"/>
                    <a:pt x="7" y="96"/>
                    <a:pt x="7" y="96"/>
                  </a:cubicBezTo>
                  <a:cubicBezTo>
                    <a:pt x="7" y="117"/>
                    <a:pt x="25" y="135"/>
                    <a:pt x="47" y="135"/>
                  </a:cubicBezTo>
                  <a:cubicBezTo>
                    <a:pt x="53" y="135"/>
                    <a:pt x="53" y="135"/>
                    <a:pt x="53" y="135"/>
                  </a:cubicBezTo>
                  <a:cubicBezTo>
                    <a:pt x="75" y="135"/>
                    <a:pt x="91" y="117"/>
                    <a:pt x="91" y="96"/>
                  </a:cubicBezTo>
                  <a:cubicBezTo>
                    <a:pt x="91" y="77"/>
                    <a:pt x="91" y="77"/>
                    <a:pt x="91" y="77"/>
                  </a:cubicBezTo>
                  <a:cubicBezTo>
                    <a:pt x="91" y="36"/>
                    <a:pt x="91" y="36"/>
                    <a:pt x="91" y="36"/>
                  </a:cubicBezTo>
                  <a:cubicBezTo>
                    <a:pt x="91" y="32"/>
                    <a:pt x="88" y="28"/>
                    <a:pt x="84" y="28"/>
                  </a:cubicBez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Line 27"/>
            <p:cNvSpPr>
              <a:spLocks noChangeShapeType="1"/>
            </p:cNvSpPr>
            <p:nvPr/>
          </p:nvSpPr>
          <p:spPr bwMode="auto">
            <a:xfrm>
              <a:off x="1138237" y="6834188"/>
              <a:ext cx="0" cy="161925"/>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Line 28"/>
            <p:cNvSpPr>
              <a:spLocks noChangeShapeType="1"/>
            </p:cNvSpPr>
            <p:nvPr/>
          </p:nvSpPr>
          <p:spPr bwMode="auto">
            <a:xfrm>
              <a:off x="1074737" y="6834188"/>
              <a:ext cx="0" cy="161925"/>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1673048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3" name="Rectangle 11"/>
          <p:cNvSpPr>
            <a:spLocks noChangeArrowheads="1"/>
          </p:cNvSpPr>
          <p:nvPr/>
        </p:nvSpPr>
        <p:spPr bwMode="auto">
          <a:xfrm>
            <a:off x="1078708" y="2970441"/>
            <a:ext cx="1512888"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buFont typeface="Arial" charset="0"/>
              <a:buNone/>
            </a:pPr>
            <a:r>
              <a:rPr lang="en-US" altLang="zh-CN" sz="1200" b="1" dirty="0">
                <a:solidFill>
                  <a:schemeClr val="bg1">
                    <a:lumMod val="50000"/>
                  </a:schemeClr>
                </a:solidFill>
              </a:rPr>
              <a:t>Kubernetes </a:t>
            </a:r>
            <a:r>
              <a:rPr lang="zh-CN" altLang="en-US" sz="1200" b="1" dirty="0">
                <a:solidFill>
                  <a:schemeClr val="bg1">
                    <a:lumMod val="50000"/>
                  </a:schemeClr>
                </a:solidFill>
              </a:rPr>
              <a:t>通过将容器打包成逻辑单元以及对这些容器的组合进行编排和管理来实现其目标。这些逻辑单元称为 </a:t>
            </a:r>
            <a:r>
              <a:rPr lang="en-US" altLang="zh-CN" sz="1200" b="1" dirty="0">
                <a:solidFill>
                  <a:schemeClr val="bg1">
                    <a:lumMod val="50000"/>
                  </a:schemeClr>
                </a:solidFill>
              </a:rPr>
              <a:t>Pods</a:t>
            </a:r>
            <a:r>
              <a:rPr lang="zh-CN" altLang="en-US" sz="1200" b="1" dirty="0">
                <a:solidFill>
                  <a:schemeClr val="bg1">
                    <a:lumMod val="50000"/>
                  </a:schemeClr>
                </a:solidFill>
              </a:rPr>
              <a:t>，它们是 </a:t>
            </a:r>
            <a:r>
              <a:rPr lang="en-US" altLang="zh-CN" sz="1200" b="1" dirty="0">
                <a:solidFill>
                  <a:schemeClr val="bg1">
                    <a:lumMod val="50000"/>
                  </a:schemeClr>
                </a:solidFill>
              </a:rPr>
              <a:t>Kubernetes </a:t>
            </a:r>
            <a:r>
              <a:rPr lang="zh-CN" altLang="en-US" sz="1200" b="1" dirty="0">
                <a:solidFill>
                  <a:schemeClr val="bg1">
                    <a:lumMod val="50000"/>
                  </a:schemeClr>
                </a:solidFill>
              </a:rPr>
              <a:t>调度单位的最小单元。</a:t>
            </a:r>
            <a:r>
              <a:rPr lang="en-US" altLang="zh-CN" sz="1200" b="1" dirty="0">
                <a:solidFill>
                  <a:schemeClr val="bg1">
                    <a:lumMod val="50000"/>
                  </a:schemeClr>
                </a:solidFill>
              </a:rPr>
              <a:t>Pods </a:t>
            </a:r>
            <a:r>
              <a:rPr lang="zh-CN" altLang="en-US" sz="1200" b="1" dirty="0">
                <a:solidFill>
                  <a:schemeClr val="bg1">
                    <a:lumMod val="50000"/>
                  </a:schemeClr>
                </a:solidFill>
              </a:rPr>
              <a:t>可以包含一个或多个容器，它们共享网络和存储资源。</a:t>
            </a:r>
            <a:r>
              <a:rPr lang="zh-CN" altLang="en-US" sz="1200" dirty="0">
                <a:solidFill>
                  <a:schemeClr val="bg1">
                    <a:lumMod val="50000"/>
                  </a:schemeClr>
                </a:solidFill>
              </a:rPr>
              <a:t>.</a:t>
            </a:r>
          </a:p>
        </p:txBody>
      </p:sp>
      <p:sp>
        <p:nvSpPr>
          <p:cNvPr id="23564" name="Rectangle 12"/>
          <p:cNvSpPr>
            <a:spLocks noChangeArrowheads="1"/>
          </p:cNvSpPr>
          <p:nvPr/>
        </p:nvSpPr>
        <p:spPr bwMode="auto">
          <a:xfrm>
            <a:off x="1111529" y="1157396"/>
            <a:ext cx="1512888"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buFont typeface="Arial" charset="0"/>
              <a:buNone/>
            </a:pPr>
            <a:r>
              <a:rPr lang="en-US" altLang="zh-CN" sz="1200" b="1" dirty="0">
                <a:solidFill>
                  <a:schemeClr val="bg1">
                    <a:lumMod val="50000"/>
                  </a:schemeClr>
                </a:solidFill>
              </a:rPr>
              <a:t>Kubernetes </a:t>
            </a:r>
            <a:r>
              <a:rPr lang="zh-CN" altLang="en-US" sz="1200" b="1" dirty="0">
                <a:solidFill>
                  <a:schemeClr val="bg1">
                    <a:lumMod val="50000"/>
                  </a:schemeClr>
                </a:solidFill>
              </a:rPr>
              <a:t>是一个开源的容器编排平台，由 </a:t>
            </a:r>
            <a:r>
              <a:rPr lang="en-US" altLang="zh-CN" sz="1200" b="1" dirty="0">
                <a:solidFill>
                  <a:schemeClr val="bg1">
                    <a:lumMod val="50000"/>
                  </a:schemeClr>
                </a:solidFill>
              </a:rPr>
              <a:t>Google </a:t>
            </a:r>
            <a:r>
              <a:rPr lang="zh-CN" altLang="en-US" sz="1200" b="1" dirty="0">
                <a:solidFill>
                  <a:schemeClr val="bg1">
                    <a:lumMod val="50000"/>
                  </a:schemeClr>
                </a:solidFill>
              </a:rPr>
              <a:t>公司开发并捐赠给 </a:t>
            </a:r>
            <a:r>
              <a:rPr lang="en-US" altLang="zh-CN" sz="1200" b="1" dirty="0">
                <a:solidFill>
                  <a:schemeClr val="bg1">
                    <a:lumMod val="50000"/>
                  </a:schemeClr>
                </a:solidFill>
              </a:rPr>
              <a:t>Cloud Native Computing Foundation (CNCF) </a:t>
            </a:r>
            <a:r>
              <a:rPr lang="zh-CN" altLang="en-US" sz="1200" b="1" dirty="0">
                <a:solidFill>
                  <a:schemeClr val="bg1">
                    <a:lumMod val="50000"/>
                  </a:schemeClr>
                </a:solidFill>
              </a:rPr>
              <a:t>管理，旨在简化部署、维护和扩展容器化应用程序。</a:t>
            </a:r>
            <a:r>
              <a:rPr lang="zh-CN" altLang="en-US" sz="1200" dirty="0">
                <a:solidFill>
                  <a:schemeClr val="bg1">
                    <a:lumMod val="50000"/>
                  </a:schemeClr>
                </a:solidFill>
              </a:rPr>
              <a:t>.</a:t>
            </a:r>
          </a:p>
        </p:txBody>
      </p:sp>
      <p:sp>
        <p:nvSpPr>
          <p:cNvPr id="23565" name="Rectangle 13"/>
          <p:cNvSpPr>
            <a:spLocks noChangeArrowheads="1"/>
          </p:cNvSpPr>
          <p:nvPr/>
        </p:nvSpPr>
        <p:spPr bwMode="auto">
          <a:xfrm>
            <a:off x="6511924" y="2056752"/>
            <a:ext cx="1512887"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buFont typeface="Arial" charset="0"/>
              <a:buNone/>
            </a:pPr>
            <a:r>
              <a:rPr lang="en-US" altLang="zh-CN" sz="1200" b="1" dirty="0">
                <a:solidFill>
                  <a:schemeClr val="bg1">
                    <a:lumMod val="50000"/>
                  </a:schemeClr>
                </a:solidFill>
              </a:rPr>
              <a:t>Kubernetes </a:t>
            </a:r>
            <a:r>
              <a:rPr lang="zh-CN" altLang="en-US" sz="1200" b="1" dirty="0">
                <a:solidFill>
                  <a:schemeClr val="bg1">
                    <a:lumMod val="50000"/>
                  </a:schemeClr>
                </a:solidFill>
              </a:rPr>
              <a:t>的起源可以追溯到 </a:t>
            </a:r>
            <a:r>
              <a:rPr lang="en-US" altLang="zh-CN" sz="1200" b="1" dirty="0">
                <a:solidFill>
                  <a:schemeClr val="bg1">
                    <a:lumMod val="50000"/>
                  </a:schemeClr>
                </a:solidFill>
              </a:rPr>
              <a:t>Google </a:t>
            </a:r>
            <a:r>
              <a:rPr lang="zh-CN" altLang="en-US" sz="1200" b="1" dirty="0">
                <a:solidFill>
                  <a:schemeClr val="bg1">
                    <a:lumMod val="50000"/>
                  </a:schemeClr>
                </a:solidFill>
              </a:rPr>
              <a:t>内部的 </a:t>
            </a:r>
            <a:r>
              <a:rPr lang="en-US" altLang="zh-CN" sz="1200" b="1" dirty="0">
                <a:solidFill>
                  <a:schemeClr val="bg1">
                    <a:lumMod val="50000"/>
                  </a:schemeClr>
                </a:solidFill>
              </a:rPr>
              <a:t>Borg </a:t>
            </a:r>
            <a:r>
              <a:rPr lang="zh-CN" altLang="en-US" sz="1200" b="1" dirty="0">
                <a:solidFill>
                  <a:schemeClr val="bg1">
                    <a:lumMod val="50000"/>
                  </a:schemeClr>
                </a:solidFill>
              </a:rPr>
              <a:t>系统，</a:t>
            </a:r>
            <a:r>
              <a:rPr lang="en-US" altLang="zh-CN" sz="1200" b="1" dirty="0">
                <a:solidFill>
                  <a:schemeClr val="bg1">
                    <a:lumMod val="50000"/>
                  </a:schemeClr>
                </a:solidFill>
              </a:rPr>
              <a:t>Borg </a:t>
            </a:r>
            <a:r>
              <a:rPr lang="zh-CN" altLang="en-US" sz="1200" b="1" dirty="0">
                <a:solidFill>
                  <a:schemeClr val="bg1">
                    <a:lumMod val="50000"/>
                  </a:schemeClr>
                </a:solidFill>
              </a:rPr>
              <a:t>系统是 </a:t>
            </a:r>
            <a:r>
              <a:rPr lang="en-US" altLang="zh-CN" sz="1200" b="1" dirty="0">
                <a:solidFill>
                  <a:schemeClr val="bg1">
                    <a:lumMod val="50000"/>
                  </a:schemeClr>
                </a:solidFill>
              </a:rPr>
              <a:t>Google </a:t>
            </a:r>
            <a:r>
              <a:rPr lang="zh-CN" altLang="en-US" sz="1200" b="1" dirty="0">
                <a:solidFill>
                  <a:schemeClr val="bg1">
                    <a:lumMod val="50000"/>
                  </a:schemeClr>
                </a:solidFill>
              </a:rPr>
              <a:t>自己的容器编排系统，用于管理 </a:t>
            </a:r>
            <a:r>
              <a:rPr lang="en-US" altLang="zh-CN" sz="1200" b="1" dirty="0">
                <a:solidFill>
                  <a:schemeClr val="bg1">
                    <a:lumMod val="50000"/>
                  </a:schemeClr>
                </a:solidFill>
              </a:rPr>
              <a:t>Google </a:t>
            </a:r>
            <a:r>
              <a:rPr lang="zh-CN" altLang="en-US" sz="1200" b="1" dirty="0">
                <a:solidFill>
                  <a:schemeClr val="bg1">
                    <a:lumMod val="50000"/>
                  </a:schemeClr>
                </a:solidFill>
              </a:rPr>
              <a:t>内部的服务。</a:t>
            </a:r>
            <a:r>
              <a:rPr lang="en-US" altLang="zh-CN" sz="1200" b="1" dirty="0">
                <a:solidFill>
                  <a:schemeClr val="bg1">
                    <a:lumMod val="50000"/>
                  </a:schemeClr>
                </a:solidFill>
              </a:rPr>
              <a:t>2014 </a:t>
            </a:r>
            <a:r>
              <a:rPr lang="zh-CN" altLang="en-US" sz="1200" b="1" dirty="0">
                <a:solidFill>
                  <a:schemeClr val="bg1">
                    <a:lumMod val="50000"/>
                  </a:schemeClr>
                </a:solidFill>
              </a:rPr>
              <a:t>年，</a:t>
            </a:r>
            <a:r>
              <a:rPr lang="en-US" altLang="zh-CN" sz="1200" b="1" dirty="0">
                <a:solidFill>
                  <a:schemeClr val="bg1">
                    <a:lumMod val="50000"/>
                  </a:schemeClr>
                </a:solidFill>
              </a:rPr>
              <a:t>Google </a:t>
            </a:r>
            <a:r>
              <a:rPr lang="zh-CN" altLang="en-US" sz="1200" b="1" dirty="0">
                <a:solidFill>
                  <a:schemeClr val="bg1">
                    <a:lumMod val="50000"/>
                  </a:schemeClr>
                </a:solidFill>
              </a:rPr>
              <a:t>将 </a:t>
            </a:r>
            <a:r>
              <a:rPr lang="en-US" altLang="zh-CN" sz="1200" b="1" dirty="0">
                <a:solidFill>
                  <a:schemeClr val="bg1">
                    <a:lumMod val="50000"/>
                  </a:schemeClr>
                </a:solidFill>
              </a:rPr>
              <a:t>Borg </a:t>
            </a:r>
            <a:r>
              <a:rPr lang="zh-CN" altLang="en-US" sz="1200" b="1" dirty="0">
                <a:solidFill>
                  <a:schemeClr val="bg1">
                    <a:lumMod val="50000"/>
                  </a:schemeClr>
                </a:solidFill>
              </a:rPr>
              <a:t>的经验和技术转化为开源项目 </a:t>
            </a:r>
            <a:r>
              <a:rPr lang="en-US" altLang="zh-CN" sz="1200" b="1" dirty="0">
                <a:solidFill>
                  <a:schemeClr val="bg1">
                    <a:lumMod val="50000"/>
                  </a:schemeClr>
                </a:solidFill>
              </a:rPr>
              <a:t>Kubernetes</a:t>
            </a:r>
            <a:r>
              <a:rPr lang="zh-CN" altLang="en-US" sz="1200" b="1" dirty="0">
                <a:solidFill>
                  <a:schemeClr val="bg1">
                    <a:lumMod val="50000"/>
                  </a:schemeClr>
                </a:solidFill>
              </a:rPr>
              <a:t>，并开放给整个社区使用。</a:t>
            </a:r>
            <a:endParaRPr lang="zh-CN" altLang="en-US" sz="1200" dirty="0">
              <a:solidFill>
                <a:schemeClr val="bg1">
                  <a:lumMod val="50000"/>
                </a:schemeClr>
              </a:solidFill>
            </a:endParaRPr>
          </a:p>
        </p:txBody>
      </p:sp>
      <p:sp>
        <p:nvSpPr>
          <p:cNvPr id="23566" name="Freeform 14"/>
          <p:cNvSpPr>
            <a:spLocks/>
          </p:cNvSpPr>
          <p:nvPr/>
        </p:nvSpPr>
        <p:spPr bwMode="auto">
          <a:xfrm>
            <a:off x="2700339" y="1896060"/>
            <a:ext cx="1436687" cy="274723"/>
          </a:xfrm>
          <a:custGeom>
            <a:avLst/>
            <a:gdLst>
              <a:gd name="T0" fmla="*/ 905 w 905"/>
              <a:gd name="T1" fmla="*/ 173 h 173"/>
              <a:gd name="T2" fmla="*/ 732 w 905"/>
              <a:gd name="T3" fmla="*/ 0 h 173"/>
              <a:gd name="T4" fmla="*/ 0 w 905"/>
              <a:gd name="T5" fmla="*/ 0 h 173"/>
            </a:gdLst>
            <a:ahLst/>
            <a:cxnLst>
              <a:cxn ang="0">
                <a:pos x="T0" y="T1"/>
              </a:cxn>
              <a:cxn ang="0">
                <a:pos x="T2" y="T3"/>
              </a:cxn>
              <a:cxn ang="0">
                <a:pos x="T4" y="T5"/>
              </a:cxn>
            </a:cxnLst>
            <a:rect l="0" t="0" r="r" b="b"/>
            <a:pathLst>
              <a:path w="905" h="173">
                <a:moveTo>
                  <a:pt x="905" y="173"/>
                </a:moveTo>
                <a:lnTo>
                  <a:pt x="732" y="0"/>
                </a:lnTo>
                <a:lnTo>
                  <a:pt x="0" y="0"/>
                </a:lnTo>
              </a:path>
            </a:pathLst>
          </a:custGeom>
          <a:noFill/>
          <a:ln w="6350" cap="flat" cmpd="sng">
            <a:solidFill>
              <a:schemeClr val="bg1">
                <a:lumMod val="50000"/>
              </a:schemeClr>
            </a:solidFill>
            <a:prstDash val="solid"/>
            <a:round/>
            <a:headE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7" name="Freeform 15"/>
          <p:cNvSpPr>
            <a:spLocks/>
          </p:cNvSpPr>
          <p:nvPr/>
        </p:nvSpPr>
        <p:spPr bwMode="auto">
          <a:xfrm>
            <a:off x="2700339" y="3592033"/>
            <a:ext cx="1190625" cy="255667"/>
          </a:xfrm>
          <a:custGeom>
            <a:avLst/>
            <a:gdLst>
              <a:gd name="T0" fmla="*/ 750 w 750"/>
              <a:gd name="T1" fmla="*/ 0 h 161"/>
              <a:gd name="T2" fmla="*/ 591 w 750"/>
              <a:gd name="T3" fmla="*/ 161 h 161"/>
              <a:gd name="T4" fmla="*/ 0 w 750"/>
              <a:gd name="T5" fmla="*/ 161 h 161"/>
            </a:gdLst>
            <a:ahLst/>
            <a:cxnLst>
              <a:cxn ang="0">
                <a:pos x="T0" y="T1"/>
              </a:cxn>
              <a:cxn ang="0">
                <a:pos x="T2" y="T3"/>
              </a:cxn>
              <a:cxn ang="0">
                <a:pos x="T4" y="T5"/>
              </a:cxn>
            </a:cxnLst>
            <a:rect l="0" t="0" r="r" b="b"/>
            <a:pathLst>
              <a:path w="750" h="161">
                <a:moveTo>
                  <a:pt x="750" y="0"/>
                </a:moveTo>
                <a:lnTo>
                  <a:pt x="591" y="161"/>
                </a:lnTo>
                <a:lnTo>
                  <a:pt x="0" y="161"/>
                </a:lnTo>
              </a:path>
            </a:pathLst>
          </a:custGeom>
          <a:noFill/>
          <a:ln w="6350" cap="flat" cmpd="sng">
            <a:solidFill>
              <a:schemeClr val="bg1">
                <a:lumMod val="50000"/>
              </a:schemeClr>
            </a:solidFill>
            <a:prstDash val="solid"/>
            <a:round/>
            <a:headE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8" name="Line 16"/>
          <p:cNvSpPr>
            <a:spLocks noChangeShapeType="1"/>
          </p:cNvSpPr>
          <p:nvPr/>
        </p:nvSpPr>
        <p:spPr bwMode="auto">
          <a:xfrm>
            <a:off x="5754688" y="3039413"/>
            <a:ext cx="544512" cy="0"/>
          </a:xfrm>
          <a:prstGeom prst="line">
            <a:avLst/>
          </a:prstGeom>
          <a:noFill/>
          <a:ln w="6350">
            <a:solidFill>
              <a:schemeClr val="bg1">
                <a:lumMod val="50000"/>
              </a:schemeClr>
            </a:solidFill>
            <a:prstDash val="solid"/>
            <a:round/>
            <a:headE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3569" name="Freeform 17"/>
          <p:cNvSpPr>
            <a:spLocks/>
          </p:cNvSpPr>
          <p:nvPr/>
        </p:nvSpPr>
        <p:spPr bwMode="auto">
          <a:xfrm>
            <a:off x="4268788" y="2316878"/>
            <a:ext cx="1060450" cy="2826622"/>
          </a:xfrm>
          <a:custGeom>
            <a:avLst/>
            <a:gdLst>
              <a:gd name="T0" fmla="*/ 232 w 668"/>
              <a:gd name="T1" fmla="*/ 1571 h 1571"/>
              <a:gd name="T2" fmla="*/ 437 w 668"/>
              <a:gd name="T3" fmla="*/ 1571 h 1571"/>
              <a:gd name="T4" fmla="*/ 384 w 668"/>
              <a:gd name="T5" fmla="*/ 806 h 1571"/>
              <a:gd name="T6" fmla="*/ 668 w 668"/>
              <a:gd name="T7" fmla="*/ 434 h 1571"/>
              <a:gd name="T8" fmla="*/ 366 w 668"/>
              <a:gd name="T9" fmla="*/ 705 h 1571"/>
              <a:gd name="T10" fmla="*/ 327 w 668"/>
              <a:gd name="T11" fmla="*/ 0 h 1571"/>
              <a:gd name="T12" fmla="*/ 276 w 668"/>
              <a:gd name="T13" fmla="*/ 848 h 1571"/>
              <a:gd name="T14" fmla="*/ 0 w 668"/>
              <a:gd name="T15" fmla="*/ 582 h 1571"/>
              <a:gd name="T16" fmla="*/ 269 w 668"/>
              <a:gd name="T17" fmla="*/ 956 h 1571"/>
              <a:gd name="T18" fmla="*/ 232 w 668"/>
              <a:gd name="T19" fmla="*/ 1571 h 1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8" h="1571">
                <a:moveTo>
                  <a:pt x="232" y="1571"/>
                </a:moveTo>
                <a:lnTo>
                  <a:pt x="437" y="1571"/>
                </a:lnTo>
                <a:lnTo>
                  <a:pt x="384" y="806"/>
                </a:lnTo>
                <a:lnTo>
                  <a:pt x="668" y="434"/>
                </a:lnTo>
                <a:lnTo>
                  <a:pt x="366" y="705"/>
                </a:lnTo>
                <a:lnTo>
                  <a:pt x="327" y="0"/>
                </a:lnTo>
                <a:lnTo>
                  <a:pt x="276" y="848"/>
                </a:lnTo>
                <a:lnTo>
                  <a:pt x="0" y="582"/>
                </a:lnTo>
                <a:lnTo>
                  <a:pt x="269" y="956"/>
                </a:lnTo>
                <a:lnTo>
                  <a:pt x="232" y="1571"/>
                </a:lnTo>
                <a:close/>
              </a:path>
            </a:pathLst>
          </a:custGeom>
          <a:solidFill>
            <a:schemeClr val="bg1">
              <a:lumMod val="50000"/>
              <a:alpha val="20000"/>
            </a:schemeClr>
          </a:solidFill>
          <a:ln>
            <a:noFill/>
          </a:ln>
        </p:spPr>
        <p:txBody>
          <a:bodyPr/>
          <a:lstStyle/>
          <a:p>
            <a:endParaRPr lang="zh-CN" altLang="en-US">
              <a:solidFill>
                <a:schemeClr val="bg1">
                  <a:lumMod val="50000"/>
                </a:schemeClr>
              </a:solidFill>
            </a:endParaRPr>
          </a:p>
        </p:txBody>
      </p:sp>
      <p:sp>
        <p:nvSpPr>
          <p:cNvPr id="23570" name="Oval 18"/>
          <p:cNvSpPr>
            <a:spLocks noChangeArrowheads="1"/>
          </p:cNvSpPr>
          <p:nvPr/>
        </p:nvSpPr>
        <p:spPr bwMode="auto">
          <a:xfrm>
            <a:off x="4975225" y="2624948"/>
            <a:ext cx="831850" cy="830518"/>
          </a:xfrm>
          <a:prstGeom prst="ellipse">
            <a:avLst/>
          </a:prstGeom>
          <a:solidFill>
            <a:schemeClr val="accent1">
              <a:lumMod val="60000"/>
              <a:lumOff val="40000"/>
            </a:schemeClr>
          </a:solidFill>
          <a:ln>
            <a:noFill/>
          </a:ln>
        </p:spPr>
        <p:txBody>
          <a:bodyPr/>
          <a:lstStyle/>
          <a:p>
            <a:endParaRPr lang="zh-CN" altLang="en-US"/>
          </a:p>
        </p:txBody>
      </p:sp>
      <p:sp>
        <p:nvSpPr>
          <p:cNvPr id="23571" name="Oval 19"/>
          <p:cNvSpPr>
            <a:spLocks noChangeArrowheads="1"/>
          </p:cNvSpPr>
          <p:nvPr/>
        </p:nvSpPr>
        <p:spPr bwMode="auto">
          <a:xfrm>
            <a:off x="5103814" y="2751987"/>
            <a:ext cx="574675" cy="576440"/>
          </a:xfrm>
          <a:prstGeom prst="ellipse">
            <a:avLst/>
          </a:prstGeom>
          <a:solidFill>
            <a:schemeClr val="bg2"/>
          </a:solidFill>
          <a:ln>
            <a:noFill/>
          </a:ln>
        </p:spPr>
        <p:txBody>
          <a:bodyPr/>
          <a:lstStyle/>
          <a:p>
            <a:endParaRPr lang="zh-CN" altLang="en-US"/>
          </a:p>
        </p:txBody>
      </p:sp>
      <p:sp>
        <p:nvSpPr>
          <p:cNvPr id="23572" name="Oval 20"/>
          <p:cNvSpPr>
            <a:spLocks noChangeArrowheads="1"/>
          </p:cNvSpPr>
          <p:nvPr/>
        </p:nvSpPr>
        <p:spPr bwMode="auto">
          <a:xfrm>
            <a:off x="3617913" y="2677352"/>
            <a:ext cx="1041400" cy="1040134"/>
          </a:xfrm>
          <a:prstGeom prst="ellipse">
            <a:avLst/>
          </a:prstGeom>
          <a:solidFill>
            <a:schemeClr val="accent1"/>
          </a:solidFill>
          <a:ln>
            <a:noFill/>
          </a:ln>
        </p:spPr>
        <p:txBody>
          <a:bodyPr/>
          <a:lstStyle/>
          <a:p>
            <a:endParaRPr lang="zh-CN" altLang="en-US"/>
          </a:p>
        </p:txBody>
      </p:sp>
      <p:sp>
        <p:nvSpPr>
          <p:cNvPr id="23573" name="Oval 21"/>
          <p:cNvSpPr>
            <a:spLocks noChangeArrowheads="1"/>
          </p:cNvSpPr>
          <p:nvPr/>
        </p:nvSpPr>
        <p:spPr bwMode="auto">
          <a:xfrm>
            <a:off x="3778251" y="2837739"/>
            <a:ext cx="720725" cy="719359"/>
          </a:xfrm>
          <a:prstGeom prst="ellipse">
            <a:avLst/>
          </a:prstGeom>
          <a:solidFill>
            <a:schemeClr val="bg2"/>
          </a:solidFill>
          <a:ln>
            <a:noFill/>
          </a:ln>
        </p:spPr>
        <p:txBody>
          <a:bodyPr/>
          <a:lstStyle/>
          <a:p>
            <a:endParaRPr lang="zh-CN" altLang="en-US"/>
          </a:p>
        </p:txBody>
      </p:sp>
      <p:sp>
        <p:nvSpPr>
          <p:cNvPr id="23574" name="Oval 22"/>
          <p:cNvSpPr>
            <a:spLocks noChangeArrowheads="1"/>
          </p:cNvSpPr>
          <p:nvPr/>
        </p:nvSpPr>
        <p:spPr bwMode="auto">
          <a:xfrm>
            <a:off x="4051301" y="1664214"/>
            <a:ext cx="1425575" cy="1426015"/>
          </a:xfrm>
          <a:prstGeom prst="ellipse">
            <a:avLst/>
          </a:prstGeom>
          <a:solidFill>
            <a:schemeClr val="accent2"/>
          </a:solidFill>
          <a:ln>
            <a:noFill/>
          </a:ln>
        </p:spPr>
        <p:txBody>
          <a:bodyPr/>
          <a:lstStyle/>
          <a:p>
            <a:endParaRPr lang="zh-CN" altLang="en-US"/>
          </a:p>
        </p:txBody>
      </p:sp>
      <p:sp>
        <p:nvSpPr>
          <p:cNvPr id="23575" name="Oval 23"/>
          <p:cNvSpPr>
            <a:spLocks noChangeArrowheads="1"/>
          </p:cNvSpPr>
          <p:nvPr/>
        </p:nvSpPr>
        <p:spPr bwMode="auto">
          <a:xfrm>
            <a:off x="4270376" y="1883356"/>
            <a:ext cx="987425" cy="987730"/>
          </a:xfrm>
          <a:prstGeom prst="ellipse">
            <a:avLst/>
          </a:prstGeom>
          <a:solidFill>
            <a:schemeClr val="bg2"/>
          </a:solidFill>
          <a:ln>
            <a:noFill/>
          </a:ln>
        </p:spPr>
        <p:txBody>
          <a:bodyPr/>
          <a:lstStyle/>
          <a:p>
            <a:endParaRPr lang="zh-CN" altLang="en-US"/>
          </a:p>
        </p:txBody>
      </p:sp>
      <p:sp>
        <p:nvSpPr>
          <p:cNvPr id="23" name="Text Box 42"/>
          <p:cNvSpPr txBox="1">
            <a:spLocks noChangeArrowheads="1"/>
          </p:cNvSpPr>
          <p:nvPr/>
        </p:nvSpPr>
        <p:spPr bwMode="auto">
          <a:xfrm>
            <a:off x="3597505" y="290122"/>
            <a:ext cx="19489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 typeface="Arial" charset="0"/>
              <a:buNone/>
            </a:pPr>
            <a:r>
              <a:rPr lang="en-US" altLang="zh-CN" sz="2400" b="1" dirty="0">
                <a:solidFill>
                  <a:schemeClr val="accent1"/>
                </a:solidFill>
                <a:latin typeface="微软雅黑" pitchFamily="34" charset="-122"/>
                <a:ea typeface="微软雅黑" pitchFamily="34" charset="-122"/>
              </a:rPr>
              <a:t>Kubernetes</a:t>
            </a:r>
          </a:p>
        </p:txBody>
      </p:sp>
      <p:cxnSp>
        <p:nvCxnSpPr>
          <p:cNvPr id="28" name="直接连接符 27"/>
          <p:cNvCxnSpPr/>
          <p:nvPr/>
        </p:nvCxnSpPr>
        <p:spPr>
          <a:xfrm>
            <a:off x="4226801" y="974973"/>
            <a:ext cx="690398"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4571097" y="2192867"/>
            <a:ext cx="368710" cy="368708"/>
            <a:chOff x="6913563" y="-744538"/>
            <a:chExt cx="371475" cy="371475"/>
          </a:xfrm>
        </p:grpSpPr>
        <p:sp>
          <p:nvSpPr>
            <p:cNvPr id="30" name="Freeform 10"/>
            <p:cNvSpPr>
              <a:spLocks/>
            </p:cNvSpPr>
            <p:nvPr/>
          </p:nvSpPr>
          <p:spPr bwMode="auto">
            <a:xfrm>
              <a:off x="6913563" y="-744538"/>
              <a:ext cx="371475" cy="371475"/>
            </a:xfrm>
            <a:custGeom>
              <a:avLst/>
              <a:gdLst>
                <a:gd name="T0" fmla="*/ 83 w 99"/>
                <a:gd name="T1" fmla="*/ 38 h 99"/>
                <a:gd name="T2" fmla="*/ 81 w 99"/>
                <a:gd name="T3" fmla="*/ 35 h 99"/>
                <a:gd name="T4" fmla="*/ 88 w 99"/>
                <a:gd name="T5" fmla="*/ 22 h 99"/>
                <a:gd name="T6" fmla="*/ 81 w 99"/>
                <a:gd name="T7" fmla="*/ 12 h 99"/>
                <a:gd name="T8" fmla="*/ 69 w 99"/>
                <a:gd name="T9" fmla="*/ 17 h 99"/>
                <a:gd name="T10" fmla="*/ 61 w 99"/>
                <a:gd name="T11" fmla="*/ 17 h 99"/>
                <a:gd name="T12" fmla="*/ 57 w 99"/>
                <a:gd name="T13" fmla="*/ 3 h 99"/>
                <a:gd name="T14" fmla="*/ 45 w 99"/>
                <a:gd name="T15" fmla="*/ 0 h 99"/>
                <a:gd name="T16" fmla="*/ 40 w 99"/>
                <a:gd name="T17" fmla="*/ 13 h 99"/>
                <a:gd name="T18" fmla="*/ 36 w 99"/>
                <a:gd name="T19" fmla="*/ 17 h 99"/>
                <a:gd name="T20" fmla="*/ 30 w 99"/>
                <a:gd name="T21" fmla="*/ 17 h 99"/>
                <a:gd name="T22" fmla="*/ 18 w 99"/>
                <a:gd name="T23" fmla="*/ 12 h 99"/>
                <a:gd name="T24" fmla="*/ 11 w 99"/>
                <a:gd name="T25" fmla="*/ 22 h 99"/>
                <a:gd name="T26" fmla="*/ 17 w 99"/>
                <a:gd name="T27" fmla="*/ 35 h 99"/>
                <a:gd name="T28" fmla="*/ 13 w 99"/>
                <a:gd name="T29" fmla="*/ 41 h 99"/>
                <a:gd name="T30" fmla="*/ 0 w 99"/>
                <a:gd name="T31" fmla="*/ 45 h 99"/>
                <a:gd name="T32" fmla="*/ 2 w 99"/>
                <a:gd name="T33" fmla="*/ 57 h 99"/>
                <a:gd name="T34" fmla="*/ 16 w 99"/>
                <a:gd name="T35" fmla="*/ 62 h 99"/>
                <a:gd name="T36" fmla="*/ 17 w 99"/>
                <a:gd name="T37" fmla="*/ 65 h 99"/>
                <a:gd name="T38" fmla="*/ 11 w 99"/>
                <a:gd name="T39" fmla="*/ 78 h 99"/>
                <a:gd name="T40" fmla="*/ 18 w 99"/>
                <a:gd name="T41" fmla="*/ 88 h 99"/>
                <a:gd name="T42" fmla="*/ 30 w 99"/>
                <a:gd name="T43" fmla="*/ 82 h 99"/>
                <a:gd name="T44" fmla="*/ 37 w 99"/>
                <a:gd name="T45" fmla="*/ 83 h 99"/>
                <a:gd name="T46" fmla="*/ 42 w 99"/>
                <a:gd name="T47" fmla="*/ 97 h 99"/>
                <a:gd name="T48" fmla="*/ 54 w 99"/>
                <a:gd name="T49" fmla="*/ 99 h 99"/>
                <a:gd name="T50" fmla="*/ 59 w 99"/>
                <a:gd name="T51" fmla="*/ 86 h 99"/>
                <a:gd name="T52" fmla="*/ 63 w 99"/>
                <a:gd name="T53" fmla="*/ 83 h 99"/>
                <a:gd name="T54" fmla="*/ 69 w 99"/>
                <a:gd name="T55" fmla="*/ 82 h 99"/>
                <a:gd name="T56" fmla="*/ 81 w 99"/>
                <a:gd name="T57" fmla="*/ 88 h 99"/>
                <a:gd name="T58" fmla="*/ 88 w 99"/>
                <a:gd name="T59" fmla="*/ 78 h 99"/>
                <a:gd name="T60" fmla="*/ 81 w 99"/>
                <a:gd name="T61" fmla="*/ 65 h 99"/>
                <a:gd name="T62" fmla="*/ 86 w 99"/>
                <a:gd name="T63" fmla="*/ 59 h 99"/>
                <a:gd name="T64" fmla="*/ 99 w 99"/>
                <a:gd name="T65" fmla="*/ 54 h 99"/>
                <a:gd name="T66" fmla="*/ 96 w 99"/>
                <a:gd name="T67" fmla="*/ 4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 h="99">
                  <a:moveTo>
                    <a:pt x="86" y="41"/>
                  </a:moveTo>
                  <a:cubicBezTo>
                    <a:pt x="85" y="40"/>
                    <a:pt x="83" y="39"/>
                    <a:pt x="83" y="38"/>
                  </a:cubicBezTo>
                  <a:cubicBezTo>
                    <a:pt x="83" y="38"/>
                    <a:pt x="83" y="38"/>
                    <a:pt x="82" y="36"/>
                  </a:cubicBezTo>
                  <a:cubicBezTo>
                    <a:pt x="82" y="35"/>
                    <a:pt x="81" y="35"/>
                    <a:pt x="81" y="35"/>
                  </a:cubicBezTo>
                  <a:cubicBezTo>
                    <a:pt x="81" y="34"/>
                    <a:pt x="81" y="32"/>
                    <a:pt x="82" y="31"/>
                  </a:cubicBezTo>
                  <a:cubicBezTo>
                    <a:pt x="88" y="22"/>
                    <a:pt x="88" y="22"/>
                    <a:pt x="88" y="22"/>
                  </a:cubicBezTo>
                  <a:cubicBezTo>
                    <a:pt x="89" y="21"/>
                    <a:pt x="89" y="19"/>
                    <a:pt x="88" y="18"/>
                  </a:cubicBezTo>
                  <a:cubicBezTo>
                    <a:pt x="81" y="12"/>
                    <a:pt x="81" y="12"/>
                    <a:pt x="81" y="12"/>
                  </a:cubicBezTo>
                  <a:cubicBezTo>
                    <a:pt x="80" y="11"/>
                    <a:pt x="78" y="11"/>
                    <a:pt x="77" y="11"/>
                  </a:cubicBezTo>
                  <a:cubicBezTo>
                    <a:pt x="69" y="17"/>
                    <a:pt x="69" y="17"/>
                    <a:pt x="69" y="17"/>
                  </a:cubicBezTo>
                  <a:cubicBezTo>
                    <a:pt x="68" y="18"/>
                    <a:pt x="66" y="18"/>
                    <a:pt x="64" y="18"/>
                  </a:cubicBezTo>
                  <a:cubicBezTo>
                    <a:pt x="61" y="17"/>
                    <a:pt x="61" y="17"/>
                    <a:pt x="61" y="17"/>
                  </a:cubicBezTo>
                  <a:cubicBezTo>
                    <a:pt x="60" y="16"/>
                    <a:pt x="59" y="15"/>
                    <a:pt x="59" y="13"/>
                  </a:cubicBezTo>
                  <a:cubicBezTo>
                    <a:pt x="57" y="3"/>
                    <a:pt x="57" y="3"/>
                    <a:pt x="57" y="3"/>
                  </a:cubicBezTo>
                  <a:cubicBezTo>
                    <a:pt x="57" y="1"/>
                    <a:pt x="55" y="0"/>
                    <a:pt x="54" y="0"/>
                  </a:cubicBezTo>
                  <a:cubicBezTo>
                    <a:pt x="45" y="0"/>
                    <a:pt x="45" y="0"/>
                    <a:pt x="45" y="0"/>
                  </a:cubicBezTo>
                  <a:cubicBezTo>
                    <a:pt x="44" y="0"/>
                    <a:pt x="42" y="1"/>
                    <a:pt x="42" y="3"/>
                  </a:cubicBezTo>
                  <a:cubicBezTo>
                    <a:pt x="40" y="13"/>
                    <a:pt x="40" y="13"/>
                    <a:pt x="40" y="13"/>
                  </a:cubicBezTo>
                  <a:cubicBezTo>
                    <a:pt x="40" y="15"/>
                    <a:pt x="39" y="16"/>
                    <a:pt x="37" y="17"/>
                  </a:cubicBezTo>
                  <a:cubicBezTo>
                    <a:pt x="37" y="17"/>
                    <a:pt x="37" y="17"/>
                    <a:pt x="36" y="17"/>
                  </a:cubicBezTo>
                  <a:cubicBezTo>
                    <a:pt x="35" y="18"/>
                    <a:pt x="34" y="18"/>
                    <a:pt x="34" y="18"/>
                  </a:cubicBezTo>
                  <a:cubicBezTo>
                    <a:pt x="33" y="18"/>
                    <a:pt x="31" y="18"/>
                    <a:pt x="30" y="17"/>
                  </a:cubicBezTo>
                  <a:cubicBezTo>
                    <a:pt x="21" y="11"/>
                    <a:pt x="21" y="11"/>
                    <a:pt x="21" y="11"/>
                  </a:cubicBezTo>
                  <a:cubicBezTo>
                    <a:pt x="20" y="11"/>
                    <a:pt x="19" y="11"/>
                    <a:pt x="18" y="12"/>
                  </a:cubicBezTo>
                  <a:cubicBezTo>
                    <a:pt x="11" y="18"/>
                    <a:pt x="11" y="18"/>
                    <a:pt x="11" y="18"/>
                  </a:cubicBezTo>
                  <a:cubicBezTo>
                    <a:pt x="10" y="19"/>
                    <a:pt x="10" y="21"/>
                    <a:pt x="11" y="22"/>
                  </a:cubicBezTo>
                  <a:cubicBezTo>
                    <a:pt x="17" y="31"/>
                    <a:pt x="17" y="31"/>
                    <a:pt x="17" y="31"/>
                  </a:cubicBezTo>
                  <a:cubicBezTo>
                    <a:pt x="18" y="32"/>
                    <a:pt x="18" y="34"/>
                    <a:pt x="17" y="35"/>
                  </a:cubicBezTo>
                  <a:cubicBezTo>
                    <a:pt x="16" y="38"/>
                    <a:pt x="16" y="38"/>
                    <a:pt x="16" y="38"/>
                  </a:cubicBezTo>
                  <a:cubicBezTo>
                    <a:pt x="16" y="39"/>
                    <a:pt x="14" y="40"/>
                    <a:pt x="13" y="41"/>
                  </a:cubicBezTo>
                  <a:cubicBezTo>
                    <a:pt x="2" y="42"/>
                    <a:pt x="2" y="42"/>
                    <a:pt x="2" y="42"/>
                  </a:cubicBezTo>
                  <a:cubicBezTo>
                    <a:pt x="1" y="43"/>
                    <a:pt x="0" y="44"/>
                    <a:pt x="0" y="45"/>
                  </a:cubicBezTo>
                  <a:cubicBezTo>
                    <a:pt x="0" y="54"/>
                    <a:pt x="0" y="54"/>
                    <a:pt x="0" y="54"/>
                  </a:cubicBezTo>
                  <a:cubicBezTo>
                    <a:pt x="0" y="56"/>
                    <a:pt x="1" y="57"/>
                    <a:pt x="2" y="57"/>
                  </a:cubicBezTo>
                  <a:cubicBezTo>
                    <a:pt x="13" y="59"/>
                    <a:pt x="13" y="59"/>
                    <a:pt x="13" y="59"/>
                  </a:cubicBezTo>
                  <a:cubicBezTo>
                    <a:pt x="14" y="59"/>
                    <a:pt x="16" y="61"/>
                    <a:pt x="16" y="62"/>
                  </a:cubicBezTo>
                  <a:cubicBezTo>
                    <a:pt x="16" y="62"/>
                    <a:pt x="16" y="62"/>
                    <a:pt x="17" y="63"/>
                  </a:cubicBezTo>
                  <a:cubicBezTo>
                    <a:pt x="17" y="65"/>
                    <a:pt x="17" y="65"/>
                    <a:pt x="17" y="65"/>
                  </a:cubicBezTo>
                  <a:cubicBezTo>
                    <a:pt x="18" y="66"/>
                    <a:pt x="18" y="68"/>
                    <a:pt x="17" y="69"/>
                  </a:cubicBezTo>
                  <a:cubicBezTo>
                    <a:pt x="11" y="78"/>
                    <a:pt x="11" y="78"/>
                    <a:pt x="11" y="78"/>
                  </a:cubicBezTo>
                  <a:cubicBezTo>
                    <a:pt x="10" y="79"/>
                    <a:pt x="10" y="81"/>
                    <a:pt x="11" y="82"/>
                  </a:cubicBezTo>
                  <a:cubicBezTo>
                    <a:pt x="18" y="88"/>
                    <a:pt x="18" y="88"/>
                    <a:pt x="18" y="88"/>
                  </a:cubicBezTo>
                  <a:cubicBezTo>
                    <a:pt x="19" y="89"/>
                    <a:pt x="20" y="89"/>
                    <a:pt x="21" y="88"/>
                  </a:cubicBezTo>
                  <a:cubicBezTo>
                    <a:pt x="30" y="82"/>
                    <a:pt x="30" y="82"/>
                    <a:pt x="30" y="82"/>
                  </a:cubicBezTo>
                  <a:cubicBezTo>
                    <a:pt x="31" y="81"/>
                    <a:pt x="33" y="81"/>
                    <a:pt x="34" y="82"/>
                  </a:cubicBezTo>
                  <a:cubicBezTo>
                    <a:pt x="37" y="83"/>
                    <a:pt x="37" y="83"/>
                    <a:pt x="37" y="83"/>
                  </a:cubicBezTo>
                  <a:cubicBezTo>
                    <a:pt x="39" y="83"/>
                    <a:pt x="40" y="85"/>
                    <a:pt x="40" y="86"/>
                  </a:cubicBezTo>
                  <a:cubicBezTo>
                    <a:pt x="42" y="97"/>
                    <a:pt x="42" y="97"/>
                    <a:pt x="42" y="97"/>
                  </a:cubicBezTo>
                  <a:cubicBezTo>
                    <a:pt x="42" y="98"/>
                    <a:pt x="44" y="99"/>
                    <a:pt x="45" y="99"/>
                  </a:cubicBezTo>
                  <a:cubicBezTo>
                    <a:pt x="54" y="99"/>
                    <a:pt x="54" y="99"/>
                    <a:pt x="54" y="99"/>
                  </a:cubicBezTo>
                  <a:cubicBezTo>
                    <a:pt x="55" y="99"/>
                    <a:pt x="57" y="98"/>
                    <a:pt x="57" y="97"/>
                  </a:cubicBezTo>
                  <a:cubicBezTo>
                    <a:pt x="59" y="86"/>
                    <a:pt x="59" y="86"/>
                    <a:pt x="59" y="86"/>
                  </a:cubicBezTo>
                  <a:cubicBezTo>
                    <a:pt x="59" y="85"/>
                    <a:pt x="60" y="84"/>
                    <a:pt x="61" y="83"/>
                  </a:cubicBezTo>
                  <a:cubicBezTo>
                    <a:pt x="61" y="83"/>
                    <a:pt x="62" y="83"/>
                    <a:pt x="63" y="83"/>
                  </a:cubicBezTo>
                  <a:cubicBezTo>
                    <a:pt x="64" y="82"/>
                    <a:pt x="64" y="82"/>
                    <a:pt x="64" y="82"/>
                  </a:cubicBezTo>
                  <a:cubicBezTo>
                    <a:pt x="66" y="81"/>
                    <a:pt x="68" y="81"/>
                    <a:pt x="69" y="82"/>
                  </a:cubicBezTo>
                  <a:cubicBezTo>
                    <a:pt x="77" y="88"/>
                    <a:pt x="77" y="88"/>
                    <a:pt x="77" y="88"/>
                  </a:cubicBezTo>
                  <a:cubicBezTo>
                    <a:pt x="79" y="89"/>
                    <a:pt x="80" y="89"/>
                    <a:pt x="81" y="88"/>
                  </a:cubicBezTo>
                  <a:cubicBezTo>
                    <a:pt x="88" y="82"/>
                    <a:pt x="88" y="82"/>
                    <a:pt x="88" y="82"/>
                  </a:cubicBezTo>
                  <a:cubicBezTo>
                    <a:pt x="89" y="81"/>
                    <a:pt x="89" y="79"/>
                    <a:pt x="88" y="78"/>
                  </a:cubicBezTo>
                  <a:cubicBezTo>
                    <a:pt x="82" y="69"/>
                    <a:pt x="82" y="69"/>
                    <a:pt x="82" y="69"/>
                  </a:cubicBezTo>
                  <a:cubicBezTo>
                    <a:pt x="81" y="68"/>
                    <a:pt x="81" y="66"/>
                    <a:pt x="81" y="65"/>
                  </a:cubicBezTo>
                  <a:cubicBezTo>
                    <a:pt x="83" y="62"/>
                    <a:pt x="83" y="62"/>
                    <a:pt x="83" y="62"/>
                  </a:cubicBezTo>
                  <a:cubicBezTo>
                    <a:pt x="83" y="61"/>
                    <a:pt x="85" y="59"/>
                    <a:pt x="86" y="59"/>
                  </a:cubicBezTo>
                  <a:cubicBezTo>
                    <a:pt x="96" y="57"/>
                    <a:pt x="96" y="57"/>
                    <a:pt x="96" y="57"/>
                  </a:cubicBezTo>
                  <a:cubicBezTo>
                    <a:pt x="98" y="57"/>
                    <a:pt x="99" y="56"/>
                    <a:pt x="99" y="54"/>
                  </a:cubicBezTo>
                  <a:cubicBezTo>
                    <a:pt x="99" y="45"/>
                    <a:pt x="99" y="45"/>
                    <a:pt x="99" y="45"/>
                  </a:cubicBezTo>
                  <a:cubicBezTo>
                    <a:pt x="99" y="44"/>
                    <a:pt x="98" y="43"/>
                    <a:pt x="96" y="42"/>
                  </a:cubicBezTo>
                  <a:lnTo>
                    <a:pt x="86" y="41"/>
                  </a:lnTo>
                  <a:close/>
                </a:path>
              </a:pathLst>
            </a:custGeom>
            <a:noFill/>
            <a:ln w="12700"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Oval 11"/>
            <p:cNvSpPr>
              <a:spLocks noChangeArrowheads="1"/>
            </p:cNvSpPr>
            <p:nvPr/>
          </p:nvSpPr>
          <p:spPr bwMode="auto">
            <a:xfrm>
              <a:off x="7010400" y="-642938"/>
              <a:ext cx="173037" cy="171450"/>
            </a:xfrm>
            <a:prstGeom prst="ellipse">
              <a:avLst/>
            </a:prstGeom>
            <a:noFill/>
            <a:ln w="12700"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2" name="组合 31"/>
          <p:cNvGrpSpPr/>
          <p:nvPr/>
        </p:nvGrpSpPr>
        <p:grpSpPr>
          <a:xfrm>
            <a:off x="4009685" y="3072415"/>
            <a:ext cx="254682" cy="256858"/>
            <a:chOff x="2679700" y="-744538"/>
            <a:chExt cx="371475" cy="374650"/>
          </a:xfrm>
        </p:grpSpPr>
        <p:sp>
          <p:nvSpPr>
            <p:cNvPr id="33" name="Freeform 21"/>
            <p:cNvSpPr>
              <a:spLocks/>
            </p:cNvSpPr>
            <p:nvPr/>
          </p:nvSpPr>
          <p:spPr bwMode="auto">
            <a:xfrm>
              <a:off x="2679700" y="-744538"/>
              <a:ext cx="371475" cy="374650"/>
            </a:xfrm>
            <a:custGeom>
              <a:avLst/>
              <a:gdLst>
                <a:gd name="T0" fmla="*/ 234 w 234"/>
                <a:gd name="T1" fmla="*/ 172 h 236"/>
                <a:gd name="T2" fmla="*/ 99 w 234"/>
                <a:gd name="T3" fmla="*/ 172 h 236"/>
                <a:gd name="T4" fmla="*/ 38 w 234"/>
                <a:gd name="T5" fmla="*/ 236 h 236"/>
                <a:gd name="T6" fmla="*/ 38 w 234"/>
                <a:gd name="T7" fmla="*/ 172 h 236"/>
                <a:gd name="T8" fmla="*/ 0 w 234"/>
                <a:gd name="T9" fmla="*/ 172 h 236"/>
                <a:gd name="T10" fmla="*/ 0 w 234"/>
                <a:gd name="T11" fmla="*/ 0 h 236"/>
                <a:gd name="T12" fmla="*/ 234 w 234"/>
                <a:gd name="T13" fmla="*/ 0 h 236"/>
                <a:gd name="T14" fmla="*/ 234 w 234"/>
                <a:gd name="T15" fmla="*/ 172 h 2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4" h="236">
                  <a:moveTo>
                    <a:pt x="234" y="172"/>
                  </a:moveTo>
                  <a:lnTo>
                    <a:pt x="99" y="172"/>
                  </a:lnTo>
                  <a:lnTo>
                    <a:pt x="38" y="236"/>
                  </a:lnTo>
                  <a:lnTo>
                    <a:pt x="38" y="172"/>
                  </a:lnTo>
                  <a:lnTo>
                    <a:pt x="0" y="172"/>
                  </a:lnTo>
                  <a:lnTo>
                    <a:pt x="0" y="0"/>
                  </a:lnTo>
                  <a:lnTo>
                    <a:pt x="234" y="0"/>
                  </a:lnTo>
                  <a:lnTo>
                    <a:pt x="234" y="172"/>
                  </a:lnTo>
                  <a:close/>
                </a:path>
              </a:pathLst>
            </a:custGeom>
            <a:noFill/>
            <a:ln w="1270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Line 22"/>
            <p:cNvSpPr>
              <a:spLocks noChangeShapeType="1"/>
            </p:cNvSpPr>
            <p:nvPr/>
          </p:nvSpPr>
          <p:spPr bwMode="auto">
            <a:xfrm>
              <a:off x="2747963" y="-684213"/>
              <a:ext cx="236537" cy="0"/>
            </a:xfrm>
            <a:prstGeom prst="line">
              <a:avLst/>
            </a:prstGeom>
            <a:noFill/>
            <a:ln w="12700"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Line 23"/>
            <p:cNvSpPr>
              <a:spLocks noChangeShapeType="1"/>
            </p:cNvSpPr>
            <p:nvPr/>
          </p:nvSpPr>
          <p:spPr bwMode="auto">
            <a:xfrm>
              <a:off x="2747963" y="-647700"/>
              <a:ext cx="236537" cy="0"/>
            </a:xfrm>
            <a:prstGeom prst="line">
              <a:avLst/>
            </a:prstGeom>
            <a:noFill/>
            <a:ln w="12700"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Line 24"/>
            <p:cNvSpPr>
              <a:spLocks noChangeShapeType="1"/>
            </p:cNvSpPr>
            <p:nvPr/>
          </p:nvSpPr>
          <p:spPr bwMode="auto">
            <a:xfrm>
              <a:off x="2747963" y="-606425"/>
              <a:ext cx="236537" cy="0"/>
            </a:xfrm>
            <a:prstGeom prst="line">
              <a:avLst/>
            </a:prstGeom>
            <a:noFill/>
            <a:ln w="12700"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Line 25"/>
            <p:cNvSpPr>
              <a:spLocks noChangeShapeType="1"/>
            </p:cNvSpPr>
            <p:nvPr/>
          </p:nvSpPr>
          <p:spPr bwMode="auto">
            <a:xfrm>
              <a:off x="2747963" y="-568325"/>
              <a:ext cx="236537" cy="0"/>
            </a:xfrm>
            <a:prstGeom prst="line">
              <a:avLst/>
            </a:prstGeom>
            <a:noFill/>
            <a:ln w="12700"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Line 26"/>
            <p:cNvSpPr>
              <a:spLocks noChangeShapeType="1"/>
            </p:cNvSpPr>
            <p:nvPr/>
          </p:nvSpPr>
          <p:spPr bwMode="auto">
            <a:xfrm>
              <a:off x="2747963" y="-527050"/>
              <a:ext cx="236537" cy="0"/>
            </a:xfrm>
            <a:prstGeom prst="line">
              <a:avLst/>
            </a:prstGeom>
            <a:noFill/>
            <a:ln w="12700"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9" name="组合 38"/>
          <p:cNvGrpSpPr/>
          <p:nvPr/>
        </p:nvGrpSpPr>
        <p:grpSpPr>
          <a:xfrm>
            <a:off x="5257801" y="2896004"/>
            <a:ext cx="265564" cy="262300"/>
            <a:chOff x="8315325" y="-747713"/>
            <a:chExt cx="387350" cy="382588"/>
          </a:xfrm>
        </p:grpSpPr>
        <p:sp>
          <p:nvSpPr>
            <p:cNvPr id="40" name="Freeform 15"/>
            <p:cNvSpPr>
              <a:spLocks/>
            </p:cNvSpPr>
            <p:nvPr/>
          </p:nvSpPr>
          <p:spPr bwMode="auto">
            <a:xfrm>
              <a:off x="8315325" y="-565150"/>
              <a:ext cx="198437" cy="200025"/>
            </a:xfrm>
            <a:custGeom>
              <a:avLst/>
              <a:gdLst>
                <a:gd name="T0" fmla="*/ 42 w 53"/>
                <a:gd name="T1" fmla="*/ 3 h 53"/>
                <a:gd name="T2" fmla="*/ 23 w 53"/>
                <a:gd name="T3" fmla="*/ 7 h 53"/>
                <a:gd name="T4" fmla="*/ 7 w 53"/>
                <a:gd name="T5" fmla="*/ 23 h 53"/>
                <a:gd name="T6" fmla="*/ 7 w 53"/>
                <a:gd name="T7" fmla="*/ 47 h 53"/>
                <a:gd name="T8" fmla="*/ 31 w 53"/>
                <a:gd name="T9" fmla="*/ 47 h 53"/>
                <a:gd name="T10" fmla="*/ 47 w 53"/>
                <a:gd name="T11" fmla="*/ 30 h 53"/>
                <a:gd name="T12" fmla="*/ 51 w 53"/>
                <a:gd name="T13" fmla="*/ 12 h 53"/>
              </a:gdLst>
              <a:ahLst/>
              <a:cxnLst>
                <a:cxn ang="0">
                  <a:pos x="T0" y="T1"/>
                </a:cxn>
                <a:cxn ang="0">
                  <a:pos x="T2" y="T3"/>
                </a:cxn>
                <a:cxn ang="0">
                  <a:pos x="T4" y="T5"/>
                </a:cxn>
                <a:cxn ang="0">
                  <a:pos x="T6" y="T7"/>
                </a:cxn>
                <a:cxn ang="0">
                  <a:pos x="T8" y="T9"/>
                </a:cxn>
                <a:cxn ang="0">
                  <a:pos x="T10" y="T11"/>
                </a:cxn>
                <a:cxn ang="0">
                  <a:pos x="T12" y="T13"/>
                </a:cxn>
              </a:cxnLst>
              <a:rect l="0" t="0" r="r" b="b"/>
              <a:pathLst>
                <a:path w="53" h="53">
                  <a:moveTo>
                    <a:pt x="42" y="3"/>
                  </a:moveTo>
                  <a:cubicBezTo>
                    <a:pt x="36" y="0"/>
                    <a:pt x="28" y="2"/>
                    <a:pt x="23" y="7"/>
                  </a:cubicBezTo>
                  <a:cubicBezTo>
                    <a:pt x="7" y="23"/>
                    <a:pt x="7" y="23"/>
                    <a:pt x="7" y="23"/>
                  </a:cubicBezTo>
                  <a:cubicBezTo>
                    <a:pt x="0" y="30"/>
                    <a:pt x="0" y="40"/>
                    <a:pt x="7" y="47"/>
                  </a:cubicBezTo>
                  <a:cubicBezTo>
                    <a:pt x="13" y="53"/>
                    <a:pt x="24" y="53"/>
                    <a:pt x="31" y="47"/>
                  </a:cubicBezTo>
                  <a:cubicBezTo>
                    <a:pt x="47" y="30"/>
                    <a:pt x="47" y="30"/>
                    <a:pt x="47" y="30"/>
                  </a:cubicBezTo>
                  <a:cubicBezTo>
                    <a:pt x="52" y="25"/>
                    <a:pt x="53" y="18"/>
                    <a:pt x="51" y="12"/>
                  </a:cubicBezTo>
                </a:path>
              </a:pathLst>
            </a:custGeom>
            <a:noFill/>
            <a:ln w="12700" cap="rnd">
              <a:solidFill>
                <a:schemeClr val="accent1">
                  <a:lumMod val="60000"/>
                  <a:lumOff val="4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16"/>
            <p:cNvSpPr>
              <a:spLocks/>
            </p:cNvSpPr>
            <p:nvPr/>
          </p:nvSpPr>
          <p:spPr bwMode="auto">
            <a:xfrm>
              <a:off x="8502650" y="-747713"/>
              <a:ext cx="200025" cy="193675"/>
            </a:xfrm>
            <a:custGeom>
              <a:avLst/>
              <a:gdLst>
                <a:gd name="T0" fmla="*/ 12 w 53"/>
                <a:gd name="T1" fmla="*/ 50 h 52"/>
                <a:gd name="T2" fmla="*/ 30 w 53"/>
                <a:gd name="T3" fmla="*/ 46 h 52"/>
                <a:gd name="T4" fmla="*/ 46 w 53"/>
                <a:gd name="T5" fmla="*/ 30 h 52"/>
                <a:gd name="T6" fmla="*/ 47 w 53"/>
                <a:gd name="T7" fmla="*/ 6 h 52"/>
                <a:gd name="T8" fmla="*/ 23 w 53"/>
                <a:gd name="T9" fmla="*/ 6 h 52"/>
                <a:gd name="T10" fmla="*/ 6 w 53"/>
                <a:gd name="T11" fmla="*/ 23 h 52"/>
                <a:gd name="T12" fmla="*/ 3 w 53"/>
                <a:gd name="T13" fmla="*/ 41 h 52"/>
              </a:gdLst>
              <a:ahLst/>
              <a:cxnLst>
                <a:cxn ang="0">
                  <a:pos x="T0" y="T1"/>
                </a:cxn>
                <a:cxn ang="0">
                  <a:pos x="T2" y="T3"/>
                </a:cxn>
                <a:cxn ang="0">
                  <a:pos x="T4" y="T5"/>
                </a:cxn>
                <a:cxn ang="0">
                  <a:pos x="T6" y="T7"/>
                </a:cxn>
                <a:cxn ang="0">
                  <a:pos x="T8" y="T9"/>
                </a:cxn>
                <a:cxn ang="0">
                  <a:pos x="T10" y="T11"/>
                </a:cxn>
                <a:cxn ang="0">
                  <a:pos x="T12" y="T13"/>
                </a:cxn>
              </a:cxnLst>
              <a:rect l="0" t="0" r="r" b="b"/>
              <a:pathLst>
                <a:path w="53" h="52">
                  <a:moveTo>
                    <a:pt x="12" y="50"/>
                  </a:moveTo>
                  <a:cubicBezTo>
                    <a:pt x="18" y="52"/>
                    <a:pt x="25" y="51"/>
                    <a:pt x="30" y="46"/>
                  </a:cubicBezTo>
                  <a:cubicBezTo>
                    <a:pt x="46" y="30"/>
                    <a:pt x="46" y="30"/>
                    <a:pt x="46" y="30"/>
                  </a:cubicBezTo>
                  <a:cubicBezTo>
                    <a:pt x="53" y="23"/>
                    <a:pt x="53" y="13"/>
                    <a:pt x="47" y="6"/>
                  </a:cubicBezTo>
                  <a:cubicBezTo>
                    <a:pt x="40" y="0"/>
                    <a:pt x="29" y="0"/>
                    <a:pt x="23" y="6"/>
                  </a:cubicBezTo>
                  <a:cubicBezTo>
                    <a:pt x="6" y="23"/>
                    <a:pt x="6" y="23"/>
                    <a:pt x="6" y="23"/>
                  </a:cubicBezTo>
                  <a:cubicBezTo>
                    <a:pt x="2" y="27"/>
                    <a:pt x="0" y="35"/>
                    <a:pt x="3" y="41"/>
                  </a:cubicBezTo>
                </a:path>
              </a:pathLst>
            </a:custGeom>
            <a:noFill/>
            <a:ln w="12700" cap="rnd">
              <a:solidFill>
                <a:schemeClr val="accent1">
                  <a:lumMod val="60000"/>
                  <a:lumOff val="4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Line 17"/>
            <p:cNvSpPr>
              <a:spLocks noChangeShapeType="1"/>
            </p:cNvSpPr>
            <p:nvPr/>
          </p:nvSpPr>
          <p:spPr bwMode="auto">
            <a:xfrm flipV="1">
              <a:off x="8428038" y="-639763"/>
              <a:ext cx="165100" cy="161925"/>
            </a:xfrm>
            <a:prstGeom prst="line">
              <a:avLst/>
            </a:prstGeom>
            <a:noFill/>
            <a:ln w="12700" cap="rnd">
              <a:solidFill>
                <a:schemeClr val="accent1">
                  <a:lumMod val="60000"/>
                  <a:lumOff val="40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1815308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00" name="Oval 12"/>
          <p:cNvSpPr>
            <a:spLocks noChangeArrowheads="1"/>
          </p:cNvSpPr>
          <p:nvPr/>
        </p:nvSpPr>
        <p:spPr bwMode="auto">
          <a:xfrm>
            <a:off x="1473201" y="2485205"/>
            <a:ext cx="1012825" cy="1014725"/>
          </a:xfrm>
          <a:prstGeom prst="ellipse">
            <a:avLst/>
          </a:prstGeom>
          <a:noFill/>
          <a:ln w="20701">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bg1">
                  <a:lumMod val="50000"/>
                </a:schemeClr>
              </a:solidFill>
            </a:endParaRPr>
          </a:p>
        </p:txBody>
      </p:sp>
      <p:sp>
        <p:nvSpPr>
          <p:cNvPr id="37901" name="Oval 13"/>
          <p:cNvSpPr>
            <a:spLocks noChangeArrowheads="1"/>
          </p:cNvSpPr>
          <p:nvPr/>
        </p:nvSpPr>
        <p:spPr bwMode="auto">
          <a:xfrm>
            <a:off x="1737122" y="2787529"/>
            <a:ext cx="482600" cy="484337"/>
          </a:xfrm>
          <a:prstGeom prst="ellipse">
            <a:avLst/>
          </a:prstGeom>
          <a:solidFill>
            <a:schemeClr val="accent2"/>
          </a:solidFill>
          <a:ln>
            <a:noFill/>
          </a:ln>
        </p:spPr>
        <p:txBody>
          <a:bodyPr/>
          <a:lstStyle/>
          <a:p>
            <a:endParaRPr lang="zh-CN" altLang="en-US">
              <a:solidFill>
                <a:schemeClr val="bg1">
                  <a:lumMod val="50000"/>
                </a:schemeClr>
              </a:solidFill>
            </a:endParaRPr>
          </a:p>
        </p:txBody>
      </p:sp>
      <p:sp>
        <p:nvSpPr>
          <p:cNvPr id="37902" name="Freeform 14"/>
          <p:cNvSpPr>
            <a:spLocks/>
          </p:cNvSpPr>
          <p:nvPr/>
        </p:nvSpPr>
        <p:spPr bwMode="auto">
          <a:xfrm>
            <a:off x="1066800" y="2991773"/>
            <a:ext cx="1824038" cy="916271"/>
          </a:xfrm>
          <a:custGeom>
            <a:avLst/>
            <a:gdLst>
              <a:gd name="T0" fmla="*/ 342 w 683"/>
              <a:gd name="T1" fmla="*/ 305 h 342"/>
              <a:gd name="T2" fmla="*/ 37 w 683"/>
              <a:gd name="T3" fmla="*/ 0 h 342"/>
              <a:gd name="T4" fmla="*/ 0 w 683"/>
              <a:gd name="T5" fmla="*/ 0 h 342"/>
              <a:gd name="T6" fmla="*/ 342 w 683"/>
              <a:gd name="T7" fmla="*/ 342 h 342"/>
              <a:gd name="T8" fmla="*/ 683 w 683"/>
              <a:gd name="T9" fmla="*/ 0 h 342"/>
              <a:gd name="T10" fmla="*/ 646 w 683"/>
              <a:gd name="T11" fmla="*/ 0 h 342"/>
              <a:gd name="T12" fmla="*/ 342 w 683"/>
              <a:gd name="T13" fmla="*/ 305 h 342"/>
            </a:gdLst>
            <a:ahLst/>
            <a:cxnLst>
              <a:cxn ang="0">
                <a:pos x="T0" y="T1"/>
              </a:cxn>
              <a:cxn ang="0">
                <a:pos x="T2" y="T3"/>
              </a:cxn>
              <a:cxn ang="0">
                <a:pos x="T4" y="T5"/>
              </a:cxn>
              <a:cxn ang="0">
                <a:pos x="T6" y="T7"/>
              </a:cxn>
              <a:cxn ang="0">
                <a:pos x="T8" y="T9"/>
              </a:cxn>
              <a:cxn ang="0">
                <a:pos x="T10" y="T11"/>
              </a:cxn>
              <a:cxn ang="0">
                <a:pos x="T12" y="T13"/>
              </a:cxn>
            </a:cxnLst>
            <a:rect l="0" t="0" r="r" b="b"/>
            <a:pathLst>
              <a:path w="683" h="342">
                <a:moveTo>
                  <a:pt x="342" y="305"/>
                </a:moveTo>
                <a:cubicBezTo>
                  <a:pt x="173" y="305"/>
                  <a:pt x="37" y="169"/>
                  <a:pt x="37" y="0"/>
                </a:cubicBezTo>
                <a:cubicBezTo>
                  <a:pt x="0" y="0"/>
                  <a:pt x="0" y="0"/>
                  <a:pt x="0" y="0"/>
                </a:cubicBezTo>
                <a:cubicBezTo>
                  <a:pt x="0" y="189"/>
                  <a:pt x="153" y="342"/>
                  <a:pt x="342" y="342"/>
                </a:cubicBezTo>
                <a:cubicBezTo>
                  <a:pt x="530" y="342"/>
                  <a:pt x="683" y="189"/>
                  <a:pt x="683" y="0"/>
                </a:cubicBezTo>
                <a:cubicBezTo>
                  <a:pt x="646" y="0"/>
                  <a:pt x="646" y="0"/>
                  <a:pt x="646" y="0"/>
                </a:cubicBezTo>
                <a:cubicBezTo>
                  <a:pt x="646" y="169"/>
                  <a:pt x="510" y="305"/>
                  <a:pt x="342" y="305"/>
                </a:cubicBezTo>
                <a:close/>
              </a:path>
            </a:pathLst>
          </a:custGeom>
          <a:solidFill>
            <a:schemeClr val="bg1">
              <a:lumMod val="50000"/>
              <a:alpha val="20000"/>
            </a:schemeClr>
          </a:solidFill>
          <a:ln>
            <a:noFill/>
          </a:ln>
        </p:spPr>
        <p:txBody>
          <a:bodyPr/>
          <a:lstStyle/>
          <a:p>
            <a:endParaRPr lang="zh-CN" altLang="en-US">
              <a:solidFill>
                <a:schemeClr val="bg1">
                  <a:lumMod val="50000"/>
                </a:schemeClr>
              </a:solidFill>
            </a:endParaRPr>
          </a:p>
        </p:txBody>
      </p:sp>
      <p:sp>
        <p:nvSpPr>
          <p:cNvPr id="37903" name="Line 15"/>
          <p:cNvSpPr>
            <a:spLocks noChangeShapeType="1"/>
          </p:cNvSpPr>
          <p:nvPr/>
        </p:nvSpPr>
        <p:spPr bwMode="auto">
          <a:xfrm flipV="1">
            <a:off x="1981200" y="2173959"/>
            <a:ext cx="0" cy="233434"/>
          </a:xfrm>
          <a:prstGeom prst="line">
            <a:avLst/>
          </a:prstGeom>
          <a:noFill/>
          <a:ln w="6350">
            <a:solidFill>
              <a:schemeClr val="bg1">
                <a:lumMod val="50000"/>
              </a:schemeClr>
            </a:solidFill>
            <a:prstDash val="solid"/>
            <a:round/>
            <a:headEnd/>
            <a:tailEnd type="oval" w="sm" len="sm"/>
          </a:ln>
          <a:extLst>
            <a:ext uri="{909E8E84-426E-40DD-AFC4-6F175D3DCCD1}">
              <a14:hiddenFill xmlns:a14="http://schemas.microsoft.com/office/drawing/2010/main">
                <a:noFill/>
              </a14:hiddenFill>
            </a:ext>
          </a:extLst>
        </p:spPr>
        <p:txBody>
          <a:bodyPr/>
          <a:lstStyle/>
          <a:p>
            <a:endParaRPr lang="zh-CN" altLang="en-US">
              <a:solidFill>
                <a:schemeClr val="bg1">
                  <a:lumMod val="50000"/>
                </a:schemeClr>
              </a:solidFill>
            </a:endParaRPr>
          </a:p>
        </p:txBody>
      </p:sp>
      <p:sp>
        <p:nvSpPr>
          <p:cNvPr id="37904" name="Oval 16"/>
          <p:cNvSpPr>
            <a:spLocks noChangeArrowheads="1"/>
          </p:cNvSpPr>
          <p:nvPr/>
        </p:nvSpPr>
        <p:spPr bwMode="auto">
          <a:xfrm>
            <a:off x="3200401" y="2485205"/>
            <a:ext cx="1012825" cy="1014725"/>
          </a:xfrm>
          <a:prstGeom prst="ellipse">
            <a:avLst/>
          </a:prstGeom>
          <a:noFill/>
          <a:ln w="20638">
            <a:solidFill>
              <a:schemeClr val="accent1"/>
            </a:solidFill>
            <a:round/>
            <a:headEnd/>
            <a:tailEnd/>
          </a:ln>
        </p:spPr>
        <p:txBody>
          <a:bodyPr/>
          <a:lstStyle/>
          <a:p>
            <a:endParaRPr lang="zh-CN" altLang="en-US">
              <a:solidFill>
                <a:schemeClr val="bg1">
                  <a:lumMod val="50000"/>
                </a:schemeClr>
              </a:solidFill>
            </a:endParaRPr>
          </a:p>
        </p:txBody>
      </p:sp>
      <p:sp>
        <p:nvSpPr>
          <p:cNvPr id="37905" name="Oval 17"/>
          <p:cNvSpPr>
            <a:spLocks noChangeArrowheads="1"/>
          </p:cNvSpPr>
          <p:nvPr/>
        </p:nvSpPr>
        <p:spPr bwMode="auto">
          <a:xfrm>
            <a:off x="3462339" y="2750399"/>
            <a:ext cx="485775" cy="484337"/>
          </a:xfrm>
          <a:prstGeom prst="ellipse">
            <a:avLst/>
          </a:prstGeom>
          <a:solidFill>
            <a:schemeClr val="accent1"/>
          </a:solidFill>
          <a:ln>
            <a:noFill/>
          </a:ln>
        </p:spPr>
        <p:txBody>
          <a:bodyPr/>
          <a:lstStyle/>
          <a:p>
            <a:endParaRPr lang="zh-CN" altLang="en-US">
              <a:solidFill>
                <a:schemeClr val="bg1">
                  <a:lumMod val="50000"/>
                </a:schemeClr>
              </a:solidFill>
            </a:endParaRPr>
          </a:p>
        </p:txBody>
      </p:sp>
      <p:sp>
        <p:nvSpPr>
          <p:cNvPr id="37906" name="Freeform 18"/>
          <p:cNvSpPr>
            <a:spLocks/>
          </p:cNvSpPr>
          <p:nvPr/>
        </p:nvSpPr>
        <p:spPr bwMode="auto">
          <a:xfrm>
            <a:off x="2792413" y="2077091"/>
            <a:ext cx="1827212" cy="914682"/>
          </a:xfrm>
          <a:custGeom>
            <a:avLst/>
            <a:gdLst>
              <a:gd name="T0" fmla="*/ 342 w 684"/>
              <a:gd name="T1" fmla="*/ 37 h 341"/>
              <a:gd name="T2" fmla="*/ 647 w 684"/>
              <a:gd name="T3" fmla="*/ 341 h 341"/>
              <a:gd name="T4" fmla="*/ 684 w 684"/>
              <a:gd name="T5" fmla="*/ 341 h 341"/>
              <a:gd name="T6" fmla="*/ 342 w 684"/>
              <a:gd name="T7" fmla="*/ 0 h 341"/>
              <a:gd name="T8" fmla="*/ 0 w 684"/>
              <a:gd name="T9" fmla="*/ 341 h 341"/>
              <a:gd name="T10" fmla="*/ 37 w 684"/>
              <a:gd name="T11" fmla="*/ 341 h 341"/>
              <a:gd name="T12" fmla="*/ 342 w 684"/>
              <a:gd name="T13" fmla="*/ 37 h 341"/>
            </a:gdLst>
            <a:ahLst/>
            <a:cxnLst>
              <a:cxn ang="0">
                <a:pos x="T0" y="T1"/>
              </a:cxn>
              <a:cxn ang="0">
                <a:pos x="T2" y="T3"/>
              </a:cxn>
              <a:cxn ang="0">
                <a:pos x="T4" y="T5"/>
              </a:cxn>
              <a:cxn ang="0">
                <a:pos x="T6" y="T7"/>
              </a:cxn>
              <a:cxn ang="0">
                <a:pos x="T8" y="T9"/>
              </a:cxn>
              <a:cxn ang="0">
                <a:pos x="T10" y="T11"/>
              </a:cxn>
              <a:cxn ang="0">
                <a:pos x="T12" y="T13"/>
              </a:cxn>
            </a:cxnLst>
            <a:rect l="0" t="0" r="r" b="b"/>
            <a:pathLst>
              <a:path w="684" h="341">
                <a:moveTo>
                  <a:pt x="342" y="37"/>
                </a:moveTo>
                <a:cubicBezTo>
                  <a:pt x="511" y="37"/>
                  <a:pt x="647" y="173"/>
                  <a:pt x="647" y="341"/>
                </a:cubicBezTo>
                <a:cubicBezTo>
                  <a:pt x="684" y="341"/>
                  <a:pt x="684" y="341"/>
                  <a:pt x="684" y="341"/>
                </a:cubicBezTo>
                <a:cubicBezTo>
                  <a:pt x="684" y="153"/>
                  <a:pt x="531" y="0"/>
                  <a:pt x="342" y="0"/>
                </a:cubicBezTo>
                <a:cubicBezTo>
                  <a:pt x="153" y="0"/>
                  <a:pt x="0" y="153"/>
                  <a:pt x="0" y="341"/>
                </a:cubicBezTo>
                <a:cubicBezTo>
                  <a:pt x="37" y="341"/>
                  <a:pt x="37" y="341"/>
                  <a:pt x="37" y="341"/>
                </a:cubicBezTo>
                <a:cubicBezTo>
                  <a:pt x="37" y="173"/>
                  <a:pt x="174" y="37"/>
                  <a:pt x="342" y="37"/>
                </a:cubicBezTo>
                <a:close/>
              </a:path>
            </a:pathLst>
          </a:custGeom>
          <a:solidFill>
            <a:schemeClr val="bg1">
              <a:lumMod val="50000"/>
              <a:alpha val="20000"/>
            </a:schemeClr>
          </a:solidFill>
          <a:ln>
            <a:noFill/>
          </a:ln>
        </p:spPr>
        <p:txBody>
          <a:bodyPr/>
          <a:lstStyle/>
          <a:p>
            <a:endParaRPr lang="zh-CN" altLang="en-US">
              <a:solidFill>
                <a:schemeClr val="bg1">
                  <a:lumMod val="50000"/>
                </a:schemeClr>
              </a:solidFill>
            </a:endParaRPr>
          </a:p>
        </p:txBody>
      </p:sp>
      <p:sp>
        <p:nvSpPr>
          <p:cNvPr id="37907" name="Line 19"/>
          <p:cNvSpPr>
            <a:spLocks noChangeShapeType="1"/>
          </p:cNvSpPr>
          <p:nvPr/>
        </p:nvSpPr>
        <p:spPr bwMode="auto">
          <a:xfrm>
            <a:off x="3705225" y="3576154"/>
            <a:ext cx="0" cy="231847"/>
          </a:xfrm>
          <a:prstGeom prst="line">
            <a:avLst/>
          </a:prstGeom>
          <a:noFill/>
          <a:ln w="6350">
            <a:solidFill>
              <a:schemeClr val="bg1">
                <a:lumMod val="50000"/>
              </a:schemeClr>
            </a:solidFill>
            <a:prstDash val="solid"/>
            <a:round/>
            <a:headEnd/>
            <a:tailEnd type="oval" w="sm" len="sm"/>
          </a:ln>
          <a:extLst>
            <a:ext uri="{909E8E84-426E-40DD-AFC4-6F175D3DCCD1}">
              <a14:hiddenFill xmlns:a14="http://schemas.microsoft.com/office/drawing/2010/main">
                <a:noFill/>
              </a14:hiddenFill>
            </a:ext>
          </a:extLst>
        </p:spPr>
        <p:txBody>
          <a:bodyPr/>
          <a:lstStyle/>
          <a:p>
            <a:endParaRPr lang="zh-CN" altLang="en-US">
              <a:solidFill>
                <a:schemeClr val="bg1">
                  <a:lumMod val="50000"/>
                </a:schemeClr>
              </a:solidFill>
            </a:endParaRPr>
          </a:p>
        </p:txBody>
      </p:sp>
      <p:sp>
        <p:nvSpPr>
          <p:cNvPr id="37924" name="Rectangle 36"/>
          <p:cNvSpPr>
            <a:spLocks noChangeArrowheads="1"/>
          </p:cNvSpPr>
          <p:nvPr/>
        </p:nvSpPr>
        <p:spPr bwMode="auto">
          <a:xfrm>
            <a:off x="2129631" y="1046377"/>
            <a:ext cx="151288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buFont typeface="Arial" charset="0"/>
              <a:buNone/>
            </a:pPr>
            <a:r>
              <a:rPr lang="en-US" altLang="zh-CN" sz="1000" b="1" dirty="0">
                <a:solidFill>
                  <a:schemeClr val="bg1">
                    <a:lumMod val="50000"/>
                  </a:schemeClr>
                </a:solidFill>
              </a:rPr>
              <a:t>2.</a:t>
            </a:r>
            <a:r>
              <a:rPr lang="zh-CN" altLang="en-US" sz="1000" b="1" dirty="0">
                <a:solidFill>
                  <a:schemeClr val="bg1">
                    <a:lumMod val="50000"/>
                  </a:schemeClr>
                </a:solidFill>
              </a:rPr>
              <a:t>测试部门接收到</a:t>
            </a:r>
            <a:r>
              <a:rPr lang="en-US" altLang="zh-CN" sz="1000" b="1" dirty="0">
                <a:solidFill>
                  <a:schemeClr val="bg1">
                    <a:lumMod val="50000"/>
                  </a:schemeClr>
                </a:solidFill>
              </a:rPr>
              <a:t>Gitlab</a:t>
            </a:r>
            <a:r>
              <a:rPr lang="zh-CN" altLang="en-US" sz="1000" b="1" dirty="0">
                <a:solidFill>
                  <a:schemeClr val="bg1">
                    <a:lumMod val="50000"/>
                  </a:schemeClr>
                </a:solidFill>
              </a:rPr>
              <a:t>上代码更新的消息后即可远程通过</a:t>
            </a:r>
            <a:r>
              <a:rPr lang="en-US" altLang="zh-CN" sz="1000" b="1" dirty="0">
                <a:solidFill>
                  <a:schemeClr val="bg1">
                    <a:lumMod val="50000"/>
                  </a:schemeClr>
                </a:solidFill>
              </a:rPr>
              <a:t>Jenkins</a:t>
            </a:r>
            <a:r>
              <a:rPr lang="zh-CN" altLang="en-US" sz="1000" b="1" dirty="0">
                <a:solidFill>
                  <a:schemeClr val="bg1">
                    <a:lumMod val="50000"/>
                  </a:schemeClr>
                </a:solidFill>
              </a:rPr>
              <a:t>拉取</a:t>
            </a:r>
            <a:r>
              <a:rPr lang="en-US" altLang="zh-CN" sz="1000" b="1" dirty="0">
                <a:solidFill>
                  <a:schemeClr val="bg1">
                    <a:lumMod val="50000"/>
                  </a:schemeClr>
                </a:solidFill>
              </a:rPr>
              <a:t>Gitlab</a:t>
            </a:r>
            <a:r>
              <a:rPr lang="zh-CN" altLang="en-US" sz="1000" b="1" dirty="0">
                <a:solidFill>
                  <a:schemeClr val="bg1">
                    <a:lumMod val="50000"/>
                  </a:schemeClr>
                </a:solidFill>
              </a:rPr>
              <a:t>上的代码进行测试，测试通过后使用</a:t>
            </a:r>
            <a:r>
              <a:rPr lang="en-US" altLang="zh-CN" sz="1000" b="1" dirty="0">
                <a:solidFill>
                  <a:schemeClr val="bg1">
                    <a:lumMod val="50000"/>
                  </a:schemeClr>
                </a:solidFill>
              </a:rPr>
              <a:t>maven</a:t>
            </a:r>
            <a:r>
              <a:rPr lang="zh-CN" altLang="en-US" sz="1000" b="1" dirty="0">
                <a:solidFill>
                  <a:schemeClr val="bg1">
                    <a:lumMod val="50000"/>
                  </a:schemeClr>
                </a:solidFill>
              </a:rPr>
              <a:t>编译构建镜像。镜像构建完成后推送到</a:t>
            </a:r>
            <a:r>
              <a:rPr lang="en-US" altLang="zh-CN" sz="1000" b="1" dirty="0">
                <a:solidFill>
                  <a:schemeClr val="bg1">
                    <a:lumMod val="50000"/>
                  </a:schemeClr>
                </a:solidFill>
              </a:rPr>
              <a:t>Harbor</a:t>
            </a:r>
            <a:r>
              <a:rPr lang="zh-CN" altLang="en-US" sz="1000" b="1" dirty="0">
                <a:solidFill>
                  <a:schemeClr val="bg1">
                    <a:lumMod val="50000"/>
                  </a:schemeClr>
                </a:solidFill>
              </a:rPr>
              <a:t>仓库中存储备用。</a:t>
            </a:r>
            <a:endParaRPr lang="zh-CN" altLang="en-US" sz="800" dirty="0">
              <a:solidFill>
                <a:schemeClr val="bg1">
                  <a:lumMod val="50000"/>
                </a:schemeClr>
              </a:solidFill>
            </a:endParaRPr>
          </a:p>
        </p:txBody>
      </p:sp>
      <p:sp>
        <p:nvSpPr>
          <p:cNvPr id="37925" name="Rectangle 37"/>
          <p:cNvSpPr>
            <a:spLocks noChangeArrowheads="1"/>
          </p:cNvSpPr>
          <p:nvPr/>
        </p:nvSpPr>
        <p:spPr bwMode="auto">
          <a:xfrm>
            <a:off x="310356" y="1053797"/>
            <a:ext cx="151288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1000" b="1" dirty="0">
                <a:solidFill>
                  <a:schemeClr val="bg1">
                    <a:lumMod val="50000"/>
                  </a:schemeClr>
                </a:solidFill>
              </a:rPr>
              <a:t>1.</a:t>
            </a:r>
            <a:r>
              <a:rPr lang="zh-CN" altLang="en-US" sz="1000" b="1" dirty="0">
                <a:solidFill>
                  <a:schemeClr val="bg1">
                    <a:lumMod val="50000"/>
                  </a:schemeClr>
                </a:solidFill>
              </a:rPr>
              <a:t>使用</a:t>
            </a:r>
            <a:r>
              <a:rPr lang="en-US" altLang="zh-CN" sz="1000" b="1" dirty="0">
                <a:solidFill>
                  <a:schemeClr val="bg1">
                    <a:lumMod val="50000"/>
                  </a:schemeClr>
                </a:solidFill>
              </a:rPr>
              <a:t>CI/CD</a:t>
            </a:r>
            <a:r>
              <a:rPr lang="zh-CN" altLang="en-US" sz="1000" b="1" dirty="0">
                <a:solidFill>
                  <a:schemeClr val="bg1">
                    <a:lumMod val="50000"/>
                  </a:schemeClr>
                </a:solidFill>
              </a:rPr>
              <a:t>流水线可以让开发者完成开发后通过</a:t>
            </a:r>
            <a:r>
              <a:rPr lang="en-US" altLang="zh-CN" sz="1000" b="1" dirty="0">
                <a:solidFill>
                  <a:schemeClr val="bg1">
                    <a:lumMod val="50000"/>
                  </a:schemeClr>
                </a:solidFill>
              </a:rPr>
              <a:t>git push</a:t>
            </a:r>
            <a:r>
              <a:rPr lang="zh-CN" altLang="en-US" sz="1000" b="1" dirty="0">
                <a:solidFill>
                  <a:schemeClr val="bg1">
                    <a:lumMod val="50000"/>
                  </a:schemeClr>
                </a:solidFill>
              </a:rPr>
              <a:t>直接将代码推送到</a:t>
            </a:r>
            <a:r>
              <a:rPr lang="en-US" altLang="zh-CN" sz="1000" b="1" dirty="0">
                <a:solidFill>
                  <a:schemeClr val="bg1">
                    <a:lumMod val="50000"/>
                  </a:schemeClr>
                </a:solidFill>
              </a:rPr>
              <a:t>Gitlab</a:t>
            </a:r>
            <a:r>
              <a:rPr lang="zh-CN" altLang="en-US" sz="1000" b="1" dirty="0">
                <a:solidFill>
                  <a:schemeClr val="bg1">
                    <a:lumMod val="50000"/>
                  </a:schemeClr>
                </a:solidFill>
              </a:rPr>
              <a:t>进行托管，而不是要通过繁琐的存储、下载、打包和发送这种传统方式进行传输代码</a:t>
            </a:r>
          </a:p>
        </p:txBody>
      </p:sp>
      <p:sp>
        <p:nvSpPr>
          <p:cNvPr id="37926" name="Rectangle 38"/>
          <p:cNvSpPr>
            <a:spLocks noChangeArrowheads="1"/>
          </p:cNvSpPr>
          <p:nvPr/>
        </p:nvSpPr>
        <p:spPr bwMode="auto">
          <a:xfrm>
            <a:off x="3815556" y="3942818"/>
            <a:ext cx="151288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buFont typeface="Arial" charset="0"/>
              <a:buNone/>
            </a:pPr>
            <a:r>
              <a:rPr lang="en-US" altLang="zh-CN" sz="1000" b="1" dirty="0">
                <a:solidFill>
                  <a:schemeClr val="bg1">
                    <a:lumMod val="50000"/>
                  </a:schemeClr>
                </a:solidFill>
              </a:rPr>
              <a:t>4.CI/CD</a:t>
            </a:r>
            <a:r>
              <a:rPr lang="zh-CN" altLang="en-US" sz="1000" b="1" dirty="0">
                <a:solidFill>
                  <a:schemeClr val="bg1">
                    <a:lumMod val="50000"/>
                  </a:schemeClr>
                </a:solidFill>
              </a:rPr>
              <a:t>过程中全程无需面对面进行交互，如工厂流水线一样每个部门只需要做好自己该做的事情。这样不仅提高了效率，同时也保证了软件服务的质量。</a:t>
            </a:r>
            <a:endParaRPr lang="zh-CN" altLang="en-US" sz="800" dirty="0">
              <a:solidFill>
                <a:schemeClr val="bg1">
                  <a:lumMod val="50000"/>
                </a:schemeClr>
              </a:solidFill>
            </a:endParaRPr>
          </a:p>
        </p:txBody>
      </p:sp>
      <p:sp>
        <p:nvSpPr>
          <p:cNvPr id="37927" name="Rectangle 39"/>
          <p:cNvSpPr>
            <a:spLocks noChangeArrowheads="1"/>
          </p:cNvSpPr>
          <p:nvPr/>
        </p:nvSpPr>
        <p:spPr bwMode="auto">
          <a:xfrm>
            <a:off x="2014727" y="3975983"/>
            <a:ext cx="151288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buFont typeface="Arial" charset="0"/>
              <a:buNone/>
            </a:pPr>
            <a:r>
              <a:rPr lang="en-US" altLang="zh-CN" sz="1000" b="1" dirty="0">
                <a:solidFill>
                  <a:schemeClr val="bg1">
                    <a:lumMod val="50000"/>
                  </a:schemeClr>
                </a:solidFill>
              </a:rPr>
              <a:t>3.</a:t>
            </a:r>
            <a:r>
              <a:rPr lang="zh-CN" altLang="en-US" sz="1000" b="1" dirty="0">
                <a:solidFill>
                  <a:schemeClr val="bg1">
                    <a:lumMod val="50000"/>
                  </a:schemeClr>
                </a:solidFill>
              </a:rPr>
              <a:t>服务通过</a:t>
            </a:r>
            <a:r>
              <a:rPr lang="en-US" altLang="zh-CN" sz="1000" b="1" dirty="0">
                <a:solidFill>
                  <a:schemeClr val="bg1">
                    <a:lumMod val="50000"/>
                  </a:schemeClr>
                </a:solidFill>
              </a:rPr>
              <a:t>Kubernetes</a:t>
            </a:r>
            <a:r>
              <a:rPr lang="zh-CN" altLang="en-US" sz="1000" b="1" dirty="0">
                <a:solidFill>
                  <a:schemeClr val="bg1">
                    <a:lumMod val="50000"/>
                  </a:schemeClr>
                </a:solidFill>
              </a:rPr>
              <a:t>集群发布时只需要使用</a:t>
            </a:r>
            <a:r>
              <a:rPr lang="en-US" altLang="zh-CN" sz="1000" b="1" dirty="0">
                <a:solidFill>
                  <a:schemeClr val="bg1">
                    <a:lumMod val="50000"/>
                  </a:schemeClr>
                </a:solidFill>
              </a:rPr>
              <a:t>Docker</a:t>
            </a:r>
            <a:r>
              <a:rPr lang="zh-CN" altLang="en-US" sz="1000" b="1" dirty="0">
                <a:solidFill>
                  <a:schemeClr val="bg1">
                    <a:lumMod val="50000"/>
                  </a:schemeClr>
                </a:solidFill>
              </a:rPr>
              <a:t>、</a:t>
            </a:r>
            <a:r>
              <a:rPr lang="en-US" altLang="zh-CN" sz="1000" b="1" dirty="0" err="1">
                <a:solidFill>
                  <a:schemeClr val="bg1">
                    <a:lumMod val="50000"/>
                  </a:schemeClr>
                </a:solidFill>
              </a:rPr>
              <a:t>Kubectl</a:t>
            </a:r>
            <a:r>
              <a:rPr lang="zh-CN" altLang="en-US" sz="1000" b="1" dirty="0">
                <a:solidFill>
                  <a:schemeClr val="bg1">
                    <a:lumMod val="50000"/>
                  </a:schemeClr>
                </a:solidFill>
              </a:rPr>
              <a:t>或编写</a:t>
            </a:r>
            <a:r>
              <a:rPr lang="en-US" altLang="zh-CN" sz="1000" b="1" dirty="0">
                <a:solidFill>
                  <a:schemeClr val="bg1">
                    <a:lumMod val="50000"/>
                  </a:schemeClr>
                </a:solidFill>
              </a:rPr>
              <a:t>Kubernetes</a:t>
            </a:r>
            <a:r>
              <a:rPr lang="zh-CN" altLang="en-US" sz="1000" b="1" dirty="0">
                <a:solidFill>
                  <a:schemeClr val="bg1">
                    <a:lumMod val="50000"/>
                  </a:schemeClr>
                </a:solidFill>
              </a:rPr>
              <a:t>编排文档从镜像仓库中拉取构建成功的镜像并部署容器进行发布。</a:t>
            </a:r>
            <a:endParaRPr lang="zh-CN" altLang="en-US" sz="800" dirty="0">
              <a:solidFill>
                <a:schemeClr val="bg1">
                  <a:lumMod val="50000"/>
                </a:schemeClr>
              </a:solidFill>
            </a:endParaRPr>
          </a:p>
        </p:txBody>
      </p:sp>
      <p:sp>
        <p:nvSpPr>
          <p:cNvPr id="33" name="Text Box 42"/>
          <p:cNvSpPr txBox="1">
            <a:spLocks noChangeArrowheads="1"/>
          </p:cNvSpPr>
          <p:nvPr/>
        </p:nvSpPr>
        <p:spPr bwMode="auto">
          <a:xfrm>
            <a:off x="2949607" y="290122"/>
            <a:ext cx="32447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 typeface="Arial" charset="0"/>
              <a:buNone/>
            </a:pPr>
            <a:r>
              <a:rPr lang="en-US" altLang="zh-CN" sz="2400" b="1" dirty="0">
                <a:solidFill>
                  <a:schemeClr val="accent1"/>
                </a:solidFill>
                <a:latin typeface="微软雅黑" pitchFamily="34" charset="-122"/>
                <a:ea typeface="微软雅黑" pitchFamily="34" charset="-122"/>
              </a:rPr>
              <a:t>CI/CD</a:t>
            </a:r>
            <a:r>
              <a:rPr lang="zh-CN" altLang="en-US" sz="2400" b="1" dirty="0">
                <a:solidFill>
                  <a:schemeClr val="accent1"/>
                </a:solidFill>
                <a:latin typeface="微软雅黑" pitchFamily="34" charset="-122"/>
                <a:ea typeface="微软雅黑" pitchFamily="34" charset="-122"/>
              </a:rPr>
              <a:t>流水线工作流程</a:t>
            </a:r>
            <a:endParaRPr lang="en-US" altLang="zh-CN" sz="2400" b="1" dirty="0">
              <a:solidFill>
                <a:schemeClr val="accent1"/>
              </a:solidFill>
              <a:latin typeface="微软雅黑" pitchFamily="34" charset="-122"/>
              <a:ea typeface="微软雅黑" pitchFamily="34" charset="-122"/>
            </a:endParaRPr>
          </a:p>
        </p:txBody>
      </p:sp>
      <p:cxnSp>
        <p:nvCxnSpPr>
          <p:cNvPr id="35" name="直接连接符 34"/>
          <p:cNvCxnSpPr/>
          <p:nvPr/>
        </p:nvCxnSpPr>
        <p:spPr>
          <a:xfrm>
            <a:off x="4226801" y="974973"/>
            <a:ext cx="690398"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37890" name="组合 37889"/>
          <p:cNvGrpSpPr/>
          <p:nvPr/>
        </p:nvGrpSpPr>
        <p:grpSpPr>
          <a:xfrm>
            <a:off x="1866898" y="2887243"/>
            <a:ext cx="237478" cy="217920"/>
            <a:chOff x="-849313" y="269875"/>
            <a:chExt cx="269875" cy="247650"/>
          </a:xfrm>
        </p:grpSpPr>
        <p:sp>
          <p:nvSpPr>
            <p:cNvPr id="4" name="Freeform 6"/>
            <p:cNvSpPr>
              <a:spLocks/>
            </p:cNvSpPr>
            <p:nvPr/>
          </p:nvSpPr>
          <p:spPr bwMode="auto">
            <a:xfrm>
              <a:off x="-849313" y="269875"/>
              <a:ext cx="269875" cy="115888"/>
            </a:xfrm>
            <a:custGeom>
              <a:avLst/>
              <a:gdLst>
                <a:gd name="T0" fmla="*/ 170 w 170"/>
                <a:gd name="T1" fmla="*/ 73 h 73"/>
                <a:gd name="T2" fmla="*/ 144 w 170"/>
                <a:gd name="T3" fmla="*/ 47 h 73"/>
                <a:gd name="T4" fmla="*/ 147 w 170"/>
                <a:gd name="T5" fmla="*/ 45 h 73"/>
                <a:gd name="T6" fmla="*/ 147 w 170"/>
                <a:gd name="T7" fmla="*/ 45 h 73"/>
                <a:gd name="T8" fmla="*/ 147 w 170"/>
                <a:gd name="T9" fmla="*/ 14 h 73"/>
                <a:gd name="T10" fmla="*/ 128 w 170"/>
                <a:gd name="T11" fmla="*/ 14 h 73"/>
                <a:gd name="T12" fmla="*/ 128 w 170"/>
                <a:gd name="T13" fmla="*/ 30 h 73"/>
                <a:gd name="T14" fmla="*/ 128 w 170"/>
                <a:gd name="T15" fmla="*/ 33 h 73"/>
                <a:gd name="T16" fmla="*/ 126 w 170"/>
                <a:gd name="T17" fmla="*/ 33 h 73"/>
                <a:gd name="T18" fmla="*/ 85 w 170"/>
                <a:gd name="T19" fmla="*/ 0 h 73"/>
                <a:gd name="T20" fmla="*/ 0 w 170"/>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0" h="73">
                  <a:moveTo>
                    <a:pt x="170" y="73"/>
                  </a:moveTo>
                  <a:lnTo>
                    <a:pt x="144" y="47"/>
                  </a:lnTo>
                  <a:lnTo>
                    <a:pt x="147" y="45"/>
                  </a:lnTo>
                  <a:lnTo>
                    <a:pt x="147" y="45"/>
                  </a:lnTo>
                  <a:lnTo>
                    <a:pt x="147" y="14"/>
                  </a:lnTo>
                  <a:lnTo>
                    <a:pt x="128" y="14"/>
                  </a:lnTo>
                  <a:lnTo>
                    <a:pt x="128" y="30"/>
                  </a:lnTo>
                  <a:lnTo>
                    <a:pt x="128" y="33"/>
                  </a:lnTo>
                  <a:lnTo>
                    <a:pt x="126" y="33"/>
                  </a:lnTo>
                  <a:lnTo>
                    <a:pt x="85" y="0"/>
                  </a:lnTo>
                  <a:lnTo>
                    <a:pt x="0" y="73"/>
                  </a:ln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7"/>
            <p:cNvSpPr>
              <a:spLocks/>
            </p:cNvSpPr>
            <p:nvPr/>
          </p:nvSpPr>
          <p:spPr bwMode="auto">
            <a:xfrm>
              <a:off x="-811213" y="407987"/>
              <a:ext cx="195263" cy="109538"/>
            </a:xfrm>
            <a:custGeom>
              <a:avLst/>
              <a:gdLst>
                <a:gd name="T0" fmla="*/ 0 w 123"/>
                <a:gd name="T1" fmla="*/ 7 h 69"/>
                <a:gd name="T2" fmla="*/ 0 w 123"/>
                <a:gd name="T3" fmla="*/ 0 h 69"/>
                <a:gd name="T4" fmla="*/ 0 w 123"/>
                <a:gd name="T5" fmla="*/ 69 h 69"/>
                <a:gd name="T6" fmla="*/ 38 w 123"/>
                <a:gd name="T7" fmla="*/ 69 h 69"/>
                <a:gd name="T8" fmla="*/ 38 w 123"/>
                <a:gd name="T9" fmla="*/ 21 h 69"/>
                <a:gd name="T10" fmla="*/ 85 w 123"/>
                <a:gd name="T11" fmla="*/ 21 h 69"/>
                <a:gd name="T12" fmla="*/ 85 w 123"/>
                <a:gd name="T13" fmla="*/ 69 h 69"/>
                <a:gd name="T14" fmla="*/ 123 w 123"/>
                <a:gd name="T15" fmla="*/ 69 h 69"/>
                <a:gd name="T16" fmla="*/ 123 w 123"/>
                <a:gd name="T17" fmla="*/ 0 h 69"/>
                <a:gd name="T18" fmla="*/ 123 w 123"/>
                <a:gd name="T19" fmla="*/ 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3" h="69">
                  <a:moveTo>
                    <a:pt x="0" y="7"/>
                  </a:moveTo>
                  <a:lnTo>
                    <a:pt x="0" y="0"/>
                  </a:lnTo>
                  <a:lnTo>
                    <a:pt x="0" y="69"/>
                  </a:lnTo>
                  <a:lnTo>
                    <a:pt x="38" y="69"/>
                  </a:lnTo>
                  <a:lnTo>
                    <a:pt x="38" y="21"/>
                  </a:lnTo>
                  <a:lnTo>
                    <a:pt x="85" y="21"/>
                  </a:lnTo>
                  <a:lnTo>
                    <a:pt x="85" y="69"/>
                  </a:lnTo>
                  <a:lnTo>
                    <a:pt x="123" y="69"/>
                  </a:lnTo>
                  <a:lnTo>
                    <a:pt x="123" y="0"/>
                  </a:lnTo>
                  <a:lnTo>
                    <a:pt x="123" y="7"/>
                  </a:ln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7891" name="组合 37890"/>
          <p:cNvGrpSpPr/>
          <p:nvPr/>
        </p:nvGrpSpPr>
        <p:grpSpPr>
          <a:xfrm>
            <a:off x="3602374" y="2878525"/>
            <a:ext cx="237478" cy="212332"/>
            <a:chOff x="207963" y="276225"/>
            <a:chExt cx="269875" cy="241300"/>
          </a:xfrm>
        </p:grpSpPr>
        <p:sp>
          <p:nvSpPr>
            <p:cNvPr id="6" name="Freeform 8"/>
            <p:cNvSpPr>
              <a:spLocks/>
            </p:cNvSpPr>
            <p:nvPr/>
          </p:nvSpPr>
          <p:spPr bwMode="auto">
            <a:xfrm>
              <a:off x="207963" y="276225"/>
              <a:ext cx="269875" cy="211138"/>
            </a:xfrm>
            <a:custGeom>
              <a:avLst/>
              <a:gdLst>
                <a:gd name="T0" fmla="*/ 72 w 72"/>
                <a:gd name="T1" fmla="*/ 5 h 56"/>
                <a:gd name="T2" fmla="*/ 68 w 72"/>
                <a:gd name="T3" fmla="*/ 0 h 56"/>
                <a:gd name="T4" fmla="*/ 5 w 72"/>
                <a:gd name="T5" fmla="*/ 0 h 56"/>
                <a:gd name="T6" fmla="*/ 0 w 72"/>
                <a:gd name="T7" fmla="*/ 5 h 56"/>
                <a:gd name="T8" fmla="*/ 0 w 72"/>
                <a:gd name="T9" fmla="*/ 52 h 56"/>
                <a:gd name="T10" fmla="*/ 5 w 72"/>
                <a:gd name="T11" fmla="*/ 56 h 56"/>
                <a:gd name="T12" fmla="*/ 68 w 72"/>
                <a:gd name="T13" fmla="*/ 56 h 56"/>
                <a:gd name="T14" fmla="*/ 72 w 72"/>
                <a:gd name="T15" fmla="*/ 52 h 56"/>
                <a:gd name="T16" fmla="*/ 72 w 72"/>
                <a:gd name="T17" fmla="*/ 5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6">
                  <a:moveTo>
                    <a:pt x="72" y="5"/>
                  </a:moveTo>
                  <a:cubicBezTo>
                    <a:pt x="72" y="2"/>
                    <a:pt x="70" y="0"/>
                    <a:pt x="68" y="0"/>
                  </a:cubicBezTo>
                  <a:cubicBezTo>
                    <a:pt x="5" y="0"/>
                    <a:pt x="5" y="0"/>
                    <a:pt x="5" y="0"/>
                  </a:cubicBezTo>
                  <a:cubicBezTo>
                    <a:pt x="2" y="0"/>
                    <a:pt x="0" y="2"/>
                    <a:pt x="0" y="5"/>
                  </a:cubicBezTo>
                  <a:cubicBezTo>
                    <a:pt x="0" y="52"/>
                    <a:pt x="0" y="52"/>
                    <a:pt x="0" y="52"/>
                  </a:cubicBezTo>
                  <a:cubicBezTo>
                    <a:pt x="0" y="54"/>
                    <a:pt x="2" y="56"/>
                    <a:pt x="5" y="56"/>
                  </a:cubicBezTo>
                  <a:cubicBezTo>
                    <a:pt x="68" y="56"/>
                    <a:pt x="68" y="56"/>
                    <a:pt x="68" y="56"/>
                  </a:cubicBezTo>
                  <a:cubicBezTo>
                    <a:pt x="70" y="56"/>
                    <a:pt x="72" y="54"/>
                    <a:pt x="72" y="52"/>
                  </a:cubicBezTo>
                  <a:lnTo>
                    <a:pt x="72" y="5"/>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Line 9"/>
            <p:cNvSpPr>
              <a:spLocks noChangeShapeType="1"/>
            </p:cNvSpPr>
            <p:nvPr/>
          </p:nvSpPr>
          <p:spPr bwMode="auto">
            <a:xfrm>
              <a:off x="306388" y="517525"/>
              <a:ext cx="74613"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Line 10"/>
            <p:cNvSpPr>
              <a:spLocks noChangeShapeType="1"/>
            </p:cNvSpPr>
            <p:nvPr/>
          </p:nvSpPr>
          <p:spPr bwMode="auto">
            <a:xfrm>
              <a:off x="215900" y="441325"/>
              <a:ext cx="255588"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7888" name="组合 37887"/>
          <p:cNvGrpSpPr/>
          <p:nvPr/>
        </p:nvGrpSpPr>
        <p:grpSpPr>
          <a:xfrm>
            <a:off x="7068223" y="2851984"/>
            <a:ext cx="184392" cy="250048"/>
            <a:chOff x="-285750" y="-1238250"/>
            <a:chExt cx="209550" cy="284163"/>
          </a:xfrm>
        </p:grpSpPr>
        <p:sp>
          <p:nvSpPr>
            <p:cNvPr id="9" name="Freeform 11"/>
            <p:cNvSpPr>
              <a:spLocks/>
            </p:cNvSpPr>
            <p:nvPr/>
          </p:nvSpPr>
          <p:spPr bwMode="auto">
            <a:xfrm>
              <a:off x="-285750" y="-1193800"/>
              <a:ext cx="209550" cy="239713"/>
            </a:xfrm>
            <a:custGeom>
              <a:avLst/>
              <a:gdLst>
                <a:gd name="T0" fmla="*/ 6 w 56"/>
                <a:gd name="T1" fmla="*/ 0 h 64"/>
                <a:gd name="T2" fmla="*/ 2 w 56"/>
                <a:gd name="T3" fmla="*/ 0 h 64"/>
                <a:gd name="T4" fmla="*/ 0 w 56"/>
                <a:gd name="T5" fmla="*/ 2 h 64"/>
                <a:gd name="T6" fmla="*/ 0 w 56"/>
                <a:gd name="T7" fmla="*/ 62 h 64"/>
                <a:gd name="T8" fmla="*/ 2 w 56"/>
                <a:gd name="T9" fmla="*/ 64 h 64"/>
                <a:gd name="T10" fmla="*/ 54 w 56"/>
                <a:gd name="T11" fmla="*/ 64 h 64"/>
                <a:gd name="T12" fmla="*/ 56 w 56"/>
                <a:gd name="T13" fmla="*/ 62 h 64"/>
                <a:gd name="T14" fmla="*/ 56 w 56"/>
                <a:gd name="T15" fmla="*/ 2 h 64"/>
                <a:gd name="T16" fmla="*/ 54 w 56"/>
                <a:gd name="T17" fmla="*/ 0 h 64"/>
                <a:gd name="T18" fmla="*/ 50 w 56"/>
                <a:gd name="T1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64">
                  <a:moveTo>
                    <a:pt x="6" y="0"/>
                  </a:moveTo>
                  <a:cubicBezTo>
                    <a:pt x="2" y="0"/>
                    <a:pt x="2" y="0"/>
                    <a:pt x="2" y="0"/>
                  </a:cubicBezTo>
                  <a:cubicBezTo>
                    <a:pt x="1" y="0"/>
                    <a:pt x="0" y="1"/>
                    <a:pt x="0" y="2"/>
                  </a:cubicBezTo>
                  <a:cubicBezTo>
                    <a:pt x="0" y="62"/>
                    <a:pt x="0" y="62"/>
                    <a:pt x="0" y="62"/>
                  </a:cubicBezTo>
                  <a:cubicBezTo>
                    <a:pt x="0" y="63"/>
                    <a:pt x="1" y="64"/>
                    <a:pt x="2" y="64"/>
                  </a:cubicBezTo>
                  <a:cubicBezTo>
                    <a:pt x="54" y="64"/>
                    <a:pt x="54" y="64"/>
                    <a:pt x="54" y="64"/>
                  </a:cubicBezTo>
                  <a:cubicBezTo>
                    <a:pt x="55" y="64"/>
                    <a:pt x="56" y="63"/>
                    <a:pt x="56" y="62"/>
                  </a:cubicBezTo>
                  <a:cubicBezTo>
                    <a:pt x="56" y="2"/>
                    <a:pt x="56" y="2"/>
                    <a:pt x="56" y="2"/>
                  </a:cubicBezTo>
                  <a:cubicBezTo>
                    <a:pt x="56" y="1"/>
                    <a:pt x="55" y="0"/>
                    <a:pt x="54" y="0"/>
                  </a:cubicBezTo>
                  <a:cubicBezTo>
                    <a:pt x="50" y="0"/>
                    <a:pt x="50" y="0"/>
                    <a:pt x="50" y="0"/>
                  </a:cubicBez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Freeform 12"/>
            <p:cNvSpPr>
              <a:spLocks/>
            </p:cNvSpPr>
            <p:nvPr/>
          </p:nvSpPr>
          <p:spPr bwMode="auto">
            <a:xfrm>
              <a:off x="-241300" y="-1238250"/>
              <a:ext cx="120650" cy="60325"/>
            </a:xfrm>
            <a:custGeom>
              <a:avLst/>
              <a:gdLst>
                <a:gd name="T0" fmla="*/ 14 w 32"/>
                <a:gd name="T1" fmla="*/ 0 h 16"/>
                <a:gd name="T2" fmla="*/ 12 w 32"/>
                <a:gd name="T3" fmla="*/ 2 h 16"/>
                <a:gd name="T4" fmla="*/ 10 w 32"/>
                <a:gd name="T5" fmla="*/ 6 h 16"/>
                <a:gd name="T6" fmla="*/ 8 w 32"/>
                <a:gd name="T7" fmla="*/ 8 h 16"/>
                <a:gd name="T8" fmla="*/ 4 w 32"/>
                <a:gd name="T9" fmla="*/ 8 h 16"/>
                <a:gd name="T10" fmla="*/ 2 w 32"/>
                <a:gd name="T11" fmla="*/ 10 h 16"/>
                <a:gd name="T12" fmla="*/ 0 w 32"/>
                <a:gd name="T13" fmla="*/ 14 h 16"/>
                <a:gd name="T14" fmla="*/ 2 w 32"/>
                <a:gd name="T15" fmla="*/ 16 h 16"/>
                <a:gd name="T16" fmla="*/ 30 w 32"/>
                <a:gd name="T17" fmla="*/ 16 h 16"/>
                <a:gd name="T18" fmla="*/ 32 w 32"/>
                <a:gd name="T19" fmla="*/ 14 h 16"/>
                <a:gd name="T20" fmla="*/ 30 w 32"/>
                <a:gd name="T21" fmla="*/ 10 h 16"/>
                <a:gd name="T22" fmla="*/ 28 w 32"/>
                <a:gd name="T23" fmla="*/ 8 h 16"/>
                <a:gd name="T24" fmla="*/ 24 w 32"/>
                <a:gd name="T25" fmla="*/ 8 h 16"/>
                <a:gd name="T26" fmla="*/ 22 w 32"/>
                <a:gd name="T27" fmla="*/ 6 h 16"/>
                <a:gd name="T28" fmla="*/ 20 w 32"/>
                <a:gd name="T29" fmla="*/ 2 h 16"/>
                <a:gd name="T30" fmla="*/ 18 w 32"/>
                <a:gd name="T31" fmla="*/ 0 h 16"/>
                <a:gd name="T32" fmla="*/ 14 w 32"/>
                <a:gd name="T33"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16">
                  <a:moveTo>
                    <a:pt x="14" y="0"/>
                  </a:moveTo>
                  <a:cubicBezTo>
                    <a:pt x="13" y="0"/>
                    <a:pt x="12" y="1"/>
                    <a:pt x="12" y="2"/>
                  </a:cubicBezTo>
                  <a:cubicBezTo>
                    <a:pt x="10" y="6"/>
                    <a:pt x="10" y="6"/>
                    <a:pt x="10" y="6"/>
                  </a:cubicBezTo>
                  <a:cubicBezTo>
                    <a:pt x="10" y="7"/>
                    <a:pt x="9" y="8"/>
                    <a:pt x="8" y="8"/>
                  </a:cubicBezTo>
                  <a:cubicBezTo>
                    <a:pt x="4" y="8"/>
                    <a:pt x="4" y="8"/>
                    <a:pt x="4" y="8"/>
                  </a:cubicBezTo>
                  <a:cubicBezTo>
                    <a:pt x="3" y="8"/>
                    <a:pt x="2" y="9"/>
                    <a:pt x="2" y="10"/>
                  </a:cubicBezTo>
                  <a:cubicBezTo>
                    <a:pt x="0" y="14"/>
                    <a:pt x="0" y="14"/>
                    <a:pt x="0" y="14"/>
                  </a:cubicBezTo>
                  <a:cubicBezTo>
                    <a:pt x="0" y="15"/>
                    <a:pt x="1" y="16"/>
                    <a:pt x="2" y="16"/>
                  </a:cubicBezTo>
                  <a:cubicBezTo>
                    <a:pt x="30" y="16"/>
                    <a:pt x="30" y="16"/>
                    <a:pt x="30" y="16"/>
                  </a:cubicBezTo>
                  <a:cubicBezTo>
                    <a:pt x="31" y="16"/>
                    <a:pt x="32" y="15"/>
                    <a:pt x="32" y="14"/>
                  </a:cubicBezTo>
                  <a:cubicBezTo>
                    <a:pt x="30" y="10"/>
                    <a:pt x="30" y="10"/>
                    <a:pt x="30" y="10"/>
                  </a:cubicBezTo>
                  <a:cubicBezTo>
                    <a:pt x="30" y="9"/>
                    <a:pt x="29" y="8"/>
                    <a:pt x="28" y="8"/>
                  </a:cubicBezTo>
                  <a:cubicBezTo>
                    <a:pt x="24" y="8"/>
                    <a:pt x="24" y="8"/>
                    <a:pt x="24" y="8"/>
                  </a:cubicBezTo>
                  <a:cubicBezTo>
                    <a:pt x="23" y="8"/>
                    <a:pt x="22" y="7"/>
                    <a:pt x="22" y="6"/>
                  </a:cubicBezTo>
                  <a:cubicBezTo>
                    <a:pt x="20" y="2"/>
                    <a:pt x="20" y="2"/>
                    <a:pt x="20" y="2"/>
                  </a:cubicBezTo>
                  <a:cubicBezTo>
                    <a:pt x="20" y="1"/>
                    <a:pt x="19" y="0"/>
                    <a:pt x="18" y="0"/>
                  </a:cubicBezTo>
                  <a:lnTo>
                    <a:pt x="14" y="0"/>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Line 17"/>
            <p:cNvSpPr>
              <a:spLocks noChangeShapeType="1"/>
            </p:cNvSpPr>
            <p:nvPr/>
          </p:nvSpPr>
          <p:spPr bwMode="auto">
            <a:xfrm>
              <a:off x="-233363" y="-1133475"/>
              <a:ext cx="1047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Line 18"/>
            <p:cNvSpPr>
              <a:spLocks noChangeShapeType="1"/>
            </p:cNvSpPr>
            <p:nvPr/>
          </p:nvSpPr>
          <p:spPr bwMode="auto">
            <a:xfrm>
              <a:off x="-233363" y="-1103313"/>
              <a:ext cx="1047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Line 19"/>
            <p:cNvSpPr>
              <a:spLocks noChangeShapeType="1"/>
            </p:cNvSpPr>
            <p:nvPr/>
          </p:nvSpPr>
          <p:spPr bwMode="auto">
            <a:xfrm>
              <a:off x="-233363" y="-1073150"/>
              <a:ext cx="1047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Line 20"/>
            <p:cNvSpPr>
              <a:spLocks noChangeShapeType="1"/>
            </p:cNvSpPr>
            <p:nvPr/>
          </p:nvSpPr>
          <p:spPr bwMode="auto">
            <a:xfrm>
              <a:off x="-233363" y="-1042988"/>
              <a:ext cx="1047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Line 21"/>
            <p:cNvSpPr>
              <a:spLocks noChangeShapeType="1"/>
            </p:cNvSpPr>
            <p:nvPr/>
          </p:nvSpPr>
          <p:spPr bwMode="auto">
            <a:xfrm>
              <a:off x="-233363" y="-1012825"/>
              <a:ext cx="1047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7889" name="组合 37888"/>
          <p:cNvGrpSpPr/>
          <p:nvPr/>
        </p:nvGrpSpPr>
        <p:grpSpPr>
          <a:xfrm>
            <a:off x="5307495" y="2887243"/>
            <a:ext cx="251448" cy="210936"/>
            <a:chOff x="2922588" y="-1223963"/>
            <a:chExt cx="285750" cy="239713"/>
          </a:xfrm>
        </p:grpSpPr>
        <p:sp>
          <p:nvSpPr>
            <p:cNvPr id="23" name="Line 25"/>
            <p:cNvSpPr>
              <a:spLocks noChangeShapeType="1"/>
            </p:cNvSpPr>
            <p:nvPr/>
          </p:nvSpPr>
          <p:spPr bwMode="auto">
            <a:xfrm flipH="1">
              <a:off x="3021013" y="-1073150"/>
              <a:ext cx="8890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Line 26"/>
            <p:cNvSpPr>
              <a:spLocks noChangeShapeType="1"/>
            </p:cNvSpPr>
            <p:nvPr/>
          </p:nvSpPr>
          <p:spPr bwMode="auto">
            <a:xfrm flipH="1">
              <a:off x="2930525" y="-1073150"/>
              <a:ext cx="4445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Line 27"/>
            <p:cNvSpPr>
              <a:spLocks noChangeShapeType="1"/>
            </p:cNvSpPr>
            <p:nvPr/>
          </p:nvSpPr>
          <p:spPr bwMode="auto">
            <a:xfrm flipH="1">
              <a:off x="3155950" y="-1073150"/>
              <a:ext cx="4445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Line 28"/>
            <p:cNvSpPr>
              <a:spLocks noChangeShapeType="1"/>
            </p:cNvSpPr>
            <p:nvPr/>
          </p:nvSpPr>
          <p:spPr bwMode="auto">
            <a:xfrm>
              <a:off x="3133725" y="-1095375"/>
              <a:ext cx="0" cy="28575"/>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Line 29"/>
            <p:cNvSpPr>
              <a:spLocks noChangeShapeType="1"/>
            </p:cNvSpPr>
            <p:nvPr/>
          </p:nvSpPr>
          <p:spPr bwMode="auto">
            <a:xfrm>
              <a:off x="2998788" y="-1095375"/>
              <a:ext cx="0" cy="28575"/>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Rectangle 30"/>
            <p:cNvSpPr>
              <a:spLocks noChangeArrowheads="1"/>
            </p:cNvSpPr>
            <p:nvPr/>
          </p:nvSpPr>
          <p:spPr bwMode="auto">
            <a:xfrm>
              <a:off x="2922588" y="-1177925"/>
              <a:ext cx="285750" cy="193675"/>
            </a:xfrm>
            <a:prstGeom prst="rect">
              <a:avLst/>
            </a:pr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31"/>
            <p:cNvSpPr>
              <a:spLocks/>
            </p:cNvSpPr>
            <p:nvPr/>
          </p:nvSpPr>
          <p:spPr bwMode="auto">
            <a:xfrm>
              <a:off x="3013075" y="-1223963"/>
              <a:ext cx="104775" cy="38100"/>
            </a:xfrm>
            <a:custGeom>
              <a:avLst/>
              <a:gdLst>
                <a:gd name="T0" fmla="*/ 66 w 66"/>
                <a:gd name="T1" fmla="*/ 24 h 24"/>
                <a:gd name="T2" fmla="*/ 66 w 66"/>
                <a:gd name="T3" fmla="*/ 0 h 24"/>
                <a:gd name="T4" fmla="*/ 0 w 66"/>
                <a:gd name="T5" fmla="*/ 0 h 24"/>
                <a:gd name="T6" fmla="*/ 0 w 66"/>
                <a:gd name="T7" fmla="*/ 24 h 24"/>
              </a:gdLst>
              <a:ahLst/>
              <a:cxnLst>
                <a:cxn ang="0">
                  <a:pos x="T0" y="T1"/>
                </a:cxn>
                <a:cxn ang="0">
                  <a:pos x="T2" y="T3"/>
                </a:cxn>
                <a:cxn ang="0">
                  <a:pos x="T4" y="T5"/>
                </a:cxn>
                <a:cxn ang="0">
                  <a:pos x="T6" y="T7"/>
                </a:cxn>
              </a:cxnLst>
              <a:rect l="0" t="0" r="r" b="b"/>
              <a:pathLst>
                <a:path w="66" h="24">
                  <a:moveTo>
                    <a:pt x="66" y="24"/>
                  </a:moveTo>
                  <a:lnTo>
                    <a:pt x="66" y="0"/>
                  </a:lnTo>
                  <a:lnTo>
                    <a:pt x="0" y="0"/>
                  </a:lnTo>
                  <a:lnTo>
                    <a:pt x="0" y="24"/>
                  </a:ln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pic>
        <p:nvPicPr>
          <p:cNvPr id="2" name="图片 1">
            <a:extLst>
              <a:ext uri="{FF2B5EF4-FFF2-40B4-BE49-F238E27FC236}">
                <a16:creationId xmlns:a16="http://schemas.microsoft.com/office/drawing/2014/main" id="{165267C0-FB65-B66F-68A2-234384414F2E}"/>
              </a:ext>
            </a:extLst>
          </p:cNvPr>
          <p:cNvPicPr>
            <a:picLocks noChangeAspect="1"/>
          </p:cNvPicPr>
          <p:nvPr/>
        </p:nvPicPr>
        <p:blipFill rotWithShape="1">
          <a:blip r:embed="rId2"/>
          <a:srcRect r="12303"/>
          <a:stretch/>
        </p:blipFill>
        <p:spPr>
          <a:xfrm>
            <a:off x="5226685" y="1101114"/>
            <a:ext cx="3635550" cy="2802430"/>
          </a:xfrm>
          <a:prstGeom prst="rect">
            <a:avLst/>
          </a:prstGeom>
        </p:spPr>
      </p:pic>
    </p:spTree>
    <p:extLst>
      <p:ext uri="{BB962C8B-B14F-4D97-AF65-F5344CB8AC3E}">
        <p14:creationId xmlns:p14="http://schemas.microsoft.com/office/powerpoint/2010/main" val="549022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35"/>
          <p:cNvSpPr>
            <a:spLocks noChangeArrowheads="1"/>
          </p:cNvSpPr>
          <p:nvPr/>
        </p:nvSpPr>
        <p:spPr bwMode="auto">
          <a:xfrm>
            <a:off x="2609443" y="1826957"/>
            <a:ext cx="6534557" cy="1515190"/>
          </a:xfrm>
          <a:custGeom>
            <a:avLst/>
            <a:gdLst/>
            <a:ahLst/>
            <a:cxnLst/>
            <a:rect l="l" t="t" r="r" b="b"/>
            <a:pathLst>
              <a:path w="6534557" h="1515190">
                <a:moveTo>
                  <a:pt x="756065" y="0"/>
                </a:moveTo>
                <a:lnTo>
                  <a:pt x="6534557" y="0"/>
                </a:lnTo>
                <a:lnTo>
                  <a:pt x="6534557" y="1515190"/>
                </a:lnTo>
                <a:lnTo>
                  <a:pt x="756065" y="1515190"/>
                </a:lnTo>
                <a:cubicBezTo>
                  <a:pt x="338502" y="1515190"/>
                  <a:pt x="0" y="1176003"/>
                  <a:pt x="0" y="757595"/>
                </a:cubicBezTo>
                <a:cubicBezTo>
                  <a:pt x="0" y="339187"/>
                  <a:pt x="338502" y="0"/>
                  <a:pt x="756065" y="0"/>
                </a:cubicBezTo>
                <a:close/>
              </a:path>
            </a:pathLst>
          </a:custGeom>
          <a:solidFill>
            <a:schemeClr val="accent2"/>
          </a:solidFill>
          <a:ln>
            <a:noFill/>
          </a:ln>
        </p:spPr>
        <p:txBody>
          <a:bodyPr/>
          <a:lstStyle/>
          <a:p>
            <a:endParaRPr lang="zh-CN" altLang="en-US"/>
          </a:p>
        </p:txBody>
      </p:sp>
      <p:sp>
        <p:nvSpPr>
          <p:cNvPr id="5155" name="Oval 35"/>
          <p:cNvSpPr>
            <a:spLocks noChangeArrowheads="1"/>
          </p:cNvSpPr>
          <p:nvPr/>
        </p:nvSpPr>
        <p:spPr bwMode="auto">
          <a:xfrm>
            <a:off x="2725702" y="1943451"/>
            <a:ext cx="1279612" cy="1282202"/>
          </a:xfrm>
          <a:prstGeom prst="ellipse">
            <a:avLst/>
          </a:prstGeom>
          <a:solidFill>
            <a:schemeClr val="accent1"/>
          </a:solidFill>
          <a:ln>
            <a:noFill/>
          </a:ln>
        </p:spPr>
        <p:txBody>
          <a:bodyPr/>
          <a:lstStyle/>
          <a:p>
            <a:endParaRPr lang="zh-CN" altLang="en-US"/>
          </a:p>
        </p:txBody>
      </p:sp>
      <p:sp>
        <p:nvSpPr>
          <p:cNvPr id="12" name="矩形 11"/>
          <p:cNvSpPr/>
          <p:nvPr/>
        </p:nvSpPr>
        <p:spPr>
          <a:xfrm>
            <a:off x="4572558" y="2275559"/>
            <a:ext cx="1564852" cy="526811"/>
          </a:xfrm>
          <a:prstGeom prst="rect">
            <a:avLst/>
          </a:prstGeom>
        </p:spPr>
        <p:txBody>
          <a:bodyPr wrap="none">
            <a:spAutoFit/>
          </a:bodyPr>
          <a:lstStyle/>
          <a:p>
            <a:pPr marL="171450" indent="-171450">
              <a:lnSpc>
                <a:spcPct val="150000"/>
              </a:lnSpc>
              <a:buFont typeface="Wingdings" pitchFamily="2" charset="2"/>
              <a:buChar char="l"/>
            </a:pPr>
            <a:r>
              <a:rPr lang="en-US" altLang="zh-CN" sz="1000" dirty="0">
                <a:ln w="6350">
                  <a:noFill/>
                </a:ln>
                <a:solidFill>
                  <a:schemeClr val="bg1"/>
                </a:solidFill>
                <a:latin typeface="微软雅黑" pitchFamily="34" charset="-122"/>
                <a:ea typeface="微软雅黑" pitchFamily="34" charset="-122"/>
              </a:rPr>
              <a:t>Kubernetes</a:t>
            </a:r>
            <a:r>
              <a:rPr lang="zh-CN" altLang="en-US" sz="1000" dirty="0">
                <a:ln w="6350">
                  <a:noFill/>
                </a:ln>
                <a:solidFill>
                  <a:schemeClr val="bg1"/>
                </a:solidFill>
                <a:latin typeface="微软雅黑" pitchFamily="34" charset="-122"/>
                <a:ea typeface="微软雅黑" pitchFamily="34" charset="-122"/>
              </a:rPr>
              <a:t>集群搭建</a:t>
            </a:r>
          </a:p>
          <a:p>
            <a:pPr marL="171450" indent="-171450">
              <a:lnSpc>
                <a:spcPct val="150000"/>
              </a:lnSpc>
              <a:buFont typeface="Wingdings" pitchFamily="2" charset="2"/>
              <a:buChar char="l"/>
            </a:pPr>
            <a:r>
              <a:rPr lang="en-US" altLang="zh-CN" sz="1000" dirty="0">
                <a:ln w="6350">
                  <a:noFill/>
                </a:ln>
                <a:solidFill>
                  <a:schemeClr val="bg1"/>
                </a:solidFill>
                <a:latin typeface="微软雅黑" pitchFamily="34" charset="-122"/>
                <a:ea typeface="微软雅黑" pitchFamily="34" charset="-122"/>
              </a:rPr>
              <a:t>Harbor</a:t>
            </a:r>
            <a:r>
              <a:rPr lang="zh-CN" altLang="en-US" sz="1000" dirty="0">
                <a:ln w="6350">
                  <a:noFill/>
                </a:ln>
                <a:solidFill>
                  <a:schemeClr val="bg1"/>
                </a:solidFill>
                <a:latin typeface="微软雅黑" pitchFamily="34" charset="-122"/>
                <a:ea typeface="微软雅黑" pitchFamily="34" charset="-122"/>
              </a:rPr>
              <a:t>镜像仓库</a:t>
            </a:r>
          </a:p>
        </p:txBody>
      </p:sp>
      <p:sp>
        <p:nvSpPr>
          <p:cNvPr id="13" name="矩形 12"/>
          <p:cNvSpPr/>
          <p:nvPr/>
        </p:nvSpPr>
        <p:spPr>
          <a:xfrm>
            <a:off x="4572558" y="1875449"/>
            <a:ext cx="3455826" cy="400110"/>
          </a:xfrm>
          <a:prstGeom prst="rect">
            <a:avLst/>
          </a:prstGeom>
        </p:spPr>
        <p:txBody>
          <a:bodyPr wrap="square">
            <a:spAutoFit/>
          </a:bodyPr>
          <a:lstStyle/>
          <a:p>
            <a:r>
              <a:rPr lang="zh-CN" altLang="en-US" sz="2000" b="1" dirty="0">
                <a:ln w="6350">
                  <a:noFill/>
                </a:ln>
                <a:solidFill>
                  <a:schemeClr val="bg1"/>
                </a:solidFill>
                <a:latin typeface="微软雅黑" pitchFamily="34" charset="-122"/>
                <a:ea typeface="微软雅黑" pitchFamily="34" charset="-122"/>
              </a:rPr>
              <a:t>集群搭建</a:t>
            </a:r>
          </a:p>
        </p:txBody>
      </p:sp>
      <p:grpSp>
        <p:nvGrpSpPr>
          <p:cNvPr id="20" name="组合 19"/>
          <p:cNvGrpSpPr/>
          <p:nvPr/>
        </p:nvGrpSpPr>
        <p:grpSpPr>
          <a:xfrm>
            <a:off x="3200664" y="2253333"/>
            <a:ext cx="329688" cy="636834"/>
            <a:chOff x="3851275" y="5348288"/>
            <a:chExt cx="371475" cy="717550"/>
          </a:xfrm>
        </p:grpSpPr>
        <p:sp>
          <p:nvSpPr>
            <p:cNvPr id="21" name="Oval 12"/>
            <p:cNvSpPr>
              <a:spLocks noChangeArrowheads="1"/>
            </p:cNvSpPr>
            <p:nvPr/>
          </p:nvSpPr>
          <p:spPr bwMode="auto">
            <a:xfrm>
              <a:off x="3986213" y="5438775"/>
              <a:ext cx="101600" cy="101600"/>
            </a:xfrm>
            <a:prstGeom prst="ellipse">
              <a:avLst/>
            </a:pr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Freeform 13"/>
            <p:cNvSpPr>
              <a:spLocks/>
            </p:cNvSpPr>
            <p:nvPr/>
          </p:nvSpPr>
          <p:spPr bwMode="auto">
            <a:xfrm>
              <a:off x="3876675" y="5873750"/>
              <a:ext cx="319087" cy="33338"/>
            </a:xfrm>
            <a:custGeom>
              <a:avLst/>
              <a:gdLst>
                <a:gd name="T0" fmla="*/ 0 w 85"/>
                <a:gd name="T1" fmla="*/ 0 h 9"/>
                <a:gd name="T2" fmla="*/ 43 w 85"/>
                <a:gd name="T3" fmla="*/ 9 h 9"/>
                <a:gd name="T4" fmla="*/ 85 w 85"/>
                <a:gd name="T5" fmla="*/ 0 h 9"/>
              </a:gdLst>
              <a:ahLst/>
              <a:cxnLst>
                <a:cxn ang="0">
                  <a:pos x="T0" y="T1"/>
                </a:cxn>
                <a:cxn ang="0">
                  <a:pos x="T2" y="T3"/>
                </a:cxn>
                <a:cxn ang="0">
                  <a:pos x="T4" y="T5"/>
                </a:cxn>
              </a:cxnLst>
              <a:rect l="0" t="0" r="r" b="b"/>
              <a:pathLst>
                <a:path w="85" h="9">
                  <a:moveTo>
                    <a:pt x="0" y="0"/>
                  </a:moveTo>
                  <a:cubicBezTo>
                    <a:pt x="13" y="6"/>
                    <a:pt x="27" y="9"/>
                    <a:pt x="43" y="9"/>
                  </a:cubicBezTo>
                  <a:cubicBezTo>
                    <a:pt x="58" y="9"/>
                    <a:pt x="72" y="6"/>
                    <a:pt x="85" y="0"/>
                  </a:cubicBez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Line 14"/>
            <p:cNvSpPr>
              <a:spLocks noChangeShapeType="1"/>
            </p:cNvSpPr>
            <p:nvPr/>
          </p:nvSpPr>
          <p:spPr bwMode="auto">
            <a:xfrm flipH="1" flipV="1">
              <a:off x="4060825" y="5532438"/>
              <a:ext cx="161925" cy="53340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Line 15"/>
            <p:cNvSpPr>
              <a:spLocks noChangeShapeType="1"/>
            </p:cNvSpPr>
            <p:nvPr/>
          </p:nvSpPr>
          <p:spPr bwMode="auto">
            <a:xfrm flipV="1">
              <a:off x="3851275" y="5532438"/>
              <a:ext cx="160337" cy="53340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Line 16"/>
            <p:cNvSpPr>
              <a:spLocks noChangeShapeType="1"/>
            </p:cNvSpPr>
            <p:nvPr/>
          </p:nvSpPr>
          <p:spPr bwMode="auto">
            <a:xfrm flipV="1">
              <a:off x="4038600" y="5348288"/>
              <a:ext cx="0" cy="90488"/>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169273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59" name="Text Box 51"/>
          <p:cNvSpPr txBox="1">
            <a:spLocks noChangeArrowheads="1"/>
          </p:cNvSpPr>
          <p:nvPr/>
        </p:nvSpPr>
        <p:spPr bwMode="auto">
          <a:xfrm>
            <a:off x="1829161" y="1141939"/>
            <a:ext cx="69762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 typeface="Arial" charset="0"/>
              <a:buNone/>
            </a:pPr>
            <a:r>
              <a:rPr lang="zh-CN" altLang="en-US" sz="1000" dirty="0">
                <a:solidFill>
                  <a:schemeClr val="accent1"/>
                </a:solidFill>
              </a:rPr>
              <a:t>基础配置</a:t>
            </a:r>
            <a:endParaRPr lang="en-US" altLang="zh-CN" sz="1000" dirty="0">
              <a:solidFill>
                <a:schemeClr val="accent1"/>
              </a:solidFill>
            </a:endParaRPr>
          </a:p>
        </p:txBody>
      </p:sp>
      <p:sp>
        <p:nvSpPr>
          <p:cNvPr id="43060" name="Text Box 52"/>
          <p:cNvSpPr txBox="1">
            <a:spLocks noChangeArrowheads="1"/>
          </p:cNvSpPr>
          <p:nvPr/>
        </p:nvSpPr>
        <p:spPr bwMode="auto">
          <a:xfrm>
            <a:off x="4066593" y="1170834"/>
            <a:ext cx="108234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 typeface="Arial" charset="0"/>
              <a:buNone/>
            </a:pPr>
            <a:r>
              <a:rPr lang="zh-CN" altLang="en-US" sz="1000" dirty="0">
                <a:solidFill>
                  <a:schemeClr val="accent1"/>
                </a:solidFill>
              </a:rPr>
              <a:t>安装软件及依赖</a:t>
            </a:r>
            <a:endParaRPr lang="en-US" altLang="zh-CN" sz="1000" dirty="0">
              <a:solidFill>
                <a:schemeClr val="accent1"/>
              </a:solidFill>
            </a:endParaRPr>
          </a:p>
        </p:txBody>
      </p:sp>
      <p:sp>
        <p:nvSpPr>
          <p:cNvPr id="43061" name="Text Box 53"/>
          <p:cNvSpPr txBox="1">
            <a:spLocks noChangeArrowheads="1"/>
          </p:cNvSpPr>
          <p:nvPr/>
        </p:nvSpPr>
        <p:spPr bwMode="auto">
          <a:xfrm>
            <a:off x="6617214" y="1107201"/>
            <a:ext cx="95410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 typeface="Arial" charset="0"/>
              <a:buNone/>
            </a:pPr>
            <a:r>
              <a:rPr lang="zh-CN" altLang="en-US" sz="1000" dirty="0">
                <a:solidFill>
                  <a:schemeClr val="accent1"/>
                </a:solidFill>
              </a:rPr>
              <a:t>安装网络组件</a:t>
            </a:r>
            <a:endParaRPr lang="en-US" altLang="zh-CN" sz="1000" dirty="0">
              <a:solidFill>
                <a:schemeClr val="accent1"/>
              </a:solidFill>
            </a:endParaRPr>
          </a:p>
        </p:txBody>
      </p:sp>
      <p:sp>
        <p:nvSpPr>
          <p:cNvPr id="43062" name="Rectangle 54"/>
          <p:cNvSpPr>
            <a:spLocks noChangeArrowheads="1"/>
          </p:cNvSpPr>
          <p:nvPr/>
        </p:nvSpPr>
        <p:spPr bwMode="auto">
          <a:xfrm>
            <a:off x="1348582" y="3272640"/>
            <a:ext cx="1512887"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buFont typeface="Arial" charset="0"/>
              <a:buNone/>
            </a:pPr>
            <a:r>
              <a:rPr lang="en-US" altLang="zh-CN" sz="1600" b="1" dirty="0">
                <a:solidFill>
                  <a:schemeClr val="bg1">
                    <a:lumMod val="50000"/>
                  </a:schemeClr>
                </a:solidFill>
              </a:rPr>
              <a:t>Kubernetes</a:t>
            </a:r>
            <a:r>
              <a:rPr lang="zh-CN" altLang="en-US" sz="1600" b="1" dirty="0">
                <a:solidFill>
                  <a:schemeClr val="bg1">
                    <a:lumMod val="50000"/>
                  </a:schemeClr>
                </a:solidFill>
              </a:rPr>
              <a:t>集群搭建开始前需要对服务器进行更名、配置</a:t>
            </a:r>
            <a:r>
              <a:rPr lang="en-US" altLang="zh-CN" sz="1600" b="1" dirty="0">
                <a:solidFill>
                  <a:schemeClr val="bg1">
                    <a:lumMod val="50000"/>
                  </a:schemeClr>
                </a:solidFill>
              </a:rPr>
              <a:t>Hosts</a:t>
            </a:r>
            <a:r>
              <a:rPr lang="zh-CN" altLang="en-US" sz="1600" b="1" dirty="0">
                <a:solidFill>
                  <a:schemeClr val="bg1">
                    <a:lumMod val="50000"/>
                  </a:schemeClr>
                </a:solidFill>
              </a:rPr>
              <a:t>和换源等基础配置</a:t>
            </a:r>
            <a:r>
              <a:rPr lang="zh-CN" altLang="en-US" sz="1600" dirty="0">
                <a:solidFill>
                  <a:schemeClr val="bg1">
                    <a:lumMod val="50000"/>
                  </a:schemeClr>
                </a:solidFill>
              </a:rPr>
              <a:t>。</a:t>
            </a:r>
            <a:endParaRPr lang="zh-CN" altLang="en-US" sz="800" dirty="0">
              <a:solidFill>
                <a:schemeClr val="bg1">
                  <a:lumMod val="50000"/>
                </a:schemeClr>
              </a:solidFill>
            </a:endParaRPr>
          </a:p>
        </p:txBody>
      </p:sp>
      <p:sp>
        <p:nvSpPr>
          <p:cNvPr id="43063" name="Line 55"/>
          <p:cNvSpPr>
            <a:spLocks noChangeShapeType="1"/>
          </p:cNvSpPr>
          <p:nvPr/>
        </p:nvSpPr>
        <p:spPr bwMode="auto">
          <a:xfrm>
            <a:off x="3348038" y="3384007"/>
            <a:ext cx="0" cy="1008373"/>
          </a:xfrm>
          <a:prstGeom prst="line">
            <a:avLst/>
          </a:prstGeom>
          <a:noFill/>
          <a:ln w="6350">
            <a:solidFill>
              <a:schemeClr val="bg1">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bg1">
                  <a:lumMod val="50000"/>
                </a:schemeClr>
              </a:solidFill>
            </a:endParaRPr>
          </a:p>
        </p:txBody>
      </p:sp>
      <p:sp>
        <p:nvSpPr>
          <p:cNvPr id="43064" name="Rectangle 56"/>
          <p:cNvSpPr>
            <a:spLocks noChangeArrowheads="1"/>
          </p:cNvSpPr>
          <p:nvPr/>
        </p:nvSpPr>
        <p:spPr bwMode="auto">
          <a:xfrm>
            <a:off x="3851324" y="3282127"/>
            <a:ext cx="1512887"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buFont typeface="Arial" charset="0"/>
              <a:buNone/>
            </a:pPr>
            <a:r>
              <a:rPr lang="zh-CN" altLang="en-US" sz="1600" b="1" dirty="0">
                <a:solidFill>
                  <a:schemeClr val="bg1">
                    <a:lumMod val="50000"/>
                  </a:schemeClr>
                </a:solidFill>
              </a:rPr>
              <a:t>需要安装合适版本的</a:t>
            </a:r>
            <a:r>
              <a:rPr lang="en-US" altLang="zh-CN" sz="1600" b="1" dirty="0">
                <a:solidFill>
                  <a:schemeClr val="bg1">
                    <a:lumMod val="50000"/>
                  </a:schemeClr>
                </a:solidFill>
              </a:rPr>
              <a:t>Docker</a:t>
            </a:r>
            <a:r>
              <a:rPr lang="zh-CN" altLang="en-US" sz="1600" b="1" dirty="0">
                <a:solidFill>
                  <a:schemeClr val="bg1">
                    <a:lumMod val="50000"/>
                  </a:schemeClr>
                </a:solidFill>
              </a:rPr>
              <a:t>等软件及相关依赖后再开始安装</a:t>
            </a:r>
            <a:r>
              <a:rPr lang="en-US" altLang="zh-CN" sz="1600" b="1" dirty="0">
                <a:solidFill>
                  <a:schemeClr val="bg1">
                    <a:lumMod val="50000"/>
                  </a:schemeClr>
                </a:solidFill>
              </a:rPr>
              <a:t>Kubernetes</a:t>
            </a:r>
            <a:r>
              <a:rPr lang="zh-CN" altLang="en-US" sz="1600" b="1" dirty="0">
                <a:solidFill>
                  <a:schemeClr val="bg1">
                    <a:lumMod val="50000"/>
                  </a:schemeClr>
                </a:solidFill>
              </a:rPr>
              <a:t>。</a:t>
            </a:r>
            <a:endParaRPr lang="zh-CN" altLang="en-US" sz="800" b="1" dirty="0">
              <a:solidFill>
                <a:schemeClr val="bg1">
                  <a:lumMod val="50000"/>
                </a:schemeClr>
              </a:solidFill>
            </a:endParaRPr>
          </a:p>
        </p:txBody>
      </p:sp>
      <p:sp>
        <p:nvSpPr>
          <p:cNvPr id="43065" name="Line 57"/>
          <p:cNvSpPr>
            <a:spLocks noChangeShapeType="1"/>
          </p:cNvSpPr>
          <p:nvPr/>
        </p:nvSpPr>
        <p:spPr bwMode="auto">
          <a:xfrm>
            <a:off x="5802313" y="3384007"/>
            <a:ext cx="0" cy="1008373"/>
          </a:xfrm>
          <a:prstGeom prst="line">
            <a:avLst/>
          </a:prstGeom>
          <a:noFill/>
          <a:ln w="6350">
            <a:solidFill>
              <a:schemeClr val="bg1">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bg1">
                  <a:lumMod val="50000"/>
                </a:schemeClr>
              </a:solidFill>
            </a:endParaRPr>
          </a:p>
        </p:txBody>
      </p:sp>
      <p:sp>
        <p:nvSpPr>
          <p:cNvPr id="43066" name="Rectangle 58"/>
          <p:cNvSpPr>
            <a:spLocks noChangeArrowheads="1"/>
          </p:cNvSpPr>
          <p:nvPr/>
        </p:nvSpPr>
        <p:spPr bwMode="auto">
          <a:xfrm>
            <a:off x="6269832" y="3274137"/>
            <a:ext cx="1614534" cy="1008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charset="0"/>
              <a:buNone/>
            </a:pPr>
            <a:r>
              <a:rPr lang="zh-CN" altLang="en-US" sz="1600" b="1" dirty="0">
                <a:solidFill>
                  <a:schemeClr val="bg1">
                    <a:lumMod val="50000"/>
                  </a:schemeClr>
                </a:solidFill>
              </a:rPr>
              <a:t>安装网络组件可以使集群内的物理设备高效通信并共同提供资源</a:t>
            </a:r>
            <a:r>
              <a:rPr lang="zh-CN" altLang="en-US" sz="1600" dirty="0">
                <a:solidFill>
                  <a:schemeClr val="bg1">
                    <a:lumMod val="50000"/>
                  </a:schemeClr>
                </a:solidFill>
              </a:rPr>
              <a:t>。</a:t>
            </a:r>
            <a:endParaRPr lang="zh-CN" altLang="en-US" sz="800" dirty="0">
              <a:solidFill>
                <a:schemeClr val="bg1">
                  <a:lumMod val="50000"/>
                </a:schemeClr>
              </a:solidFill>
            </a:endParaRPr>
          </a:p>
        </p:txBody>
      </p:sp>
      <p:sp>
        <p:nvSpPr>
          <p:cNvPr id="52" name="Text Box 42"/>
          <p:cNvSpPr txBox="1">
            <a:spLocks noChangeArrowheads="1"/>
          </p:cNvSpPr>
          <p:nvPr/>
        </p:nvSpPr>
        <p:spPr bwMode="auto">
          <a:xfrm>
            <a:off x="2981953" y="290122"/>
            <a:ext cx="318010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 typeface="Arial" charset="0"/>
              <a:buNone/>
            </a:pPr>
            <a:r>
              <a:rPr lang="en-US" altLang="zh-CN" sz="2400" b="1" dirty="0">
                <a:solidFill>
                  <a:schemeClr val="accent1"/>
                </a:solidFill>
                <a:latin typeface="微软雅黑" pitchFamily="34" charset="-122"/>
                <a:ea typeface="微软雅黑" pitchFamily="34" charset="-122"/>
              </a:rPr>
              <a:t>Kubernetes</a:t>
            </a:r>
            <a:r>
              <a:rPr lang="zh-CN" altLang="en-US" sz="2400" b="1" dirty="0">
                <a:solidFill>
                  <a:schemeClr val="accent1"/>
                </a:solidFill>
                <a:latin typeface="微软雅黑" pitchFamily="34" charset="-122"/>
                <a:ea typeface="微软雅黑" pitchFamily="34" charset="-122"/>
              </a:rPr>
              <a:t>集群搭建</a:t>
            </a:r>
            <a:endParaRPr lang="en-US" altLang="zh-CN" sz="2400" b="1" dirty="0">
              <a:solidFill>
                <a:schemeClr val="accent1"/>
              </a:solidFill>
              <a:latin typeface="微软雅黑" pitchFamily="34" charset="-122"/>
              <a:ea typeface="微软雅黑" pitchFamily="34" charset="-122"/>
            </a:endParaRPr>
          </a:p>
        </p:txBody>
      </p:sp>
      <p:cxnSp>
        <p:nvCxnSpPr>
          <p:cNvPr id="54" name="直接连接符 53"/>
          <p:cNvCxnSpPr/>
          <p:nvPr/>
        </p:nvCxnSpPr>
        <p:spPr>
          <a:xfrm>
            <a:off x="4226801" y="974973"/>
            <a:ext cx="690398"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5F70F401-ED39-F7A2-397D-D2C0178641F6}"/>
              </a:ext>
            </a:extLst>
          </p:cNvPr>
          <p:cNvPicPr>
            <a:picLocks noChangeAspect="1"/>
          </p:cNvPicPr>
          <p:nvPr/>
        </p:nvPicPr>
        <p:blipFill>
          <a:blip r:embed="rId3"/>
          <a:stretch>
            <a:fillRect/>
          </a:stretch>
        </p:blipFill>
        <p:spPr>
          <a:xfrm>
            <a:off x="1392838" y="1417210"/>
            <a:ext cx="1570275" cy="1764964"/>
          </a:xfrm>
          <a:prstGeom prst="rect">
            <a:avLst/>
          </a:prstGeom>
        </p:spPr>
      </p:pic>
      <p:pic>
        <p:nvPicPr>
          <p:cNvPr id="3" name="图片 2">
            <a:extLst>
              <a:ext uri="{FF2B5EF4-FFF2-40B4-BE49-F238E27FC236}">
                <a16:creationId xmlns:a16="http://schemas.microsoft.com/office/drawing/2014/main" id="{F398A4BE-D0E3-771D-AF09-4758F8CCC660}"/>
              </a:ext>
            </a:extLst>
          </p:cNvPr>
          <p:cNvPicPr>
            <a:picLocks noChangeAspect="1"/>
          </p:cNvPicPr>
          <p:nvPr/>
        </p:nvPicPr>
        <p:blipFill>
          <a:blip r:embed="rId4"/>
          <a:stretch>
            <a:fillRect/>
          </a:stretch>
        </p:blipFill>
        <p:spPr>
          <a:xfrm>
            <a:off x="3068195" y="1436483"/>
            <a:ext cx="3249075" cy="355883"/>
          </a:xfrm>
          <a:prstGeom prst="rect">
            <a:avLst/>
          </a:prstGeom>
        </p:spPr>
      </p:pic>
      <p:pic>
        <p:nvPicPr>
          <p:cNvPr id="4" name="图片 3">
            <a:extLst>
              <a:ext uri="{FF2B5EF4-FFF2-40B4-BE49-F238E27FC236}">
                <a16:creationId xmlns:a16="http://schemas.microsoft.com/office/drawing/2014/main" id="{33C7F9A3-07C8-3886-087E-9E2E6E3B96B5}"/>
              </a:ext>
            </a:extLst>
          </p:cNvPr>
          <p:cNvPicPr>
            <a:picLocks noChangeAspect="1"/>
          </p:cNvPicPr>
          <p:nvPr/>
        </p:nvPicPr>
        <p:blipFill rotWithShape="1">
          <a:blip r:embed="rId5"/>
          <a:srcRect r="42633" b="347"/>
          <a:stretch/>
        </p:blipFill>
        <p:spPr>
          <a:xfrm>
            <a:off x="6422353" y="1388160"/>
            <a:ext cx="1357481" cy="1845269"/>
          </a:xfrm>
          <a:prstGeom prst="rect">
            <a:avLst/>
          </a:prstGeom>
        </p:spPr>
      </p:pic>
      <p:pic>
        <p:nvPicPr>
          <p:cNvPr id="5" name="图片 4">
            <a:extLst>
              <a:ext uri="{FF2B5EF4-FFF2-40B4-BE49-F238E27FC236}">
                <a16:creationId xmlns:a16="http://schemas.microsoft.com/office/drawing/2014/main" id="{D3E54191-1766-1B79-80B7-8282DACF72D0}"/>
              </a:ext>
            </a:extLst>
          </p:cNvPr>
          <p:cNvPicPr>
            <a:picLocks noChangeAspect="1"/>
          </p:cNvPicPr>
          <p:nvPr/>
        </p:nvPicPr>
        <p:blipFill>
          <a:blip r:embed="rId6"/>
          <a:stretch>
            <a:fillRect/>
          </a:stretch>
        </p:blipFill>
        <p:spPr>
          <a:xfrm>
            <a:off x="2992446" y="1875065"/>
            <a:ext cx="3422975" cy="591368"/>
          </a:xfrm>
          <a:prstGeom prst="rect">
            <a:avLst/>
          </a:prstGeom>
        </p:spPr>
      </p:pic>
      <p:pic>
        <p:nvPicPr>
          <p:cNvPr id="6" name="图片 5">
            <a:extLst>
              <a:ext uri="{FF2B5EF4-FFF2-40B4-BE49-F238E27FC236}">
                <a16:creationId xmlns:a16="http://schemas.microsoft.com/office/drawing/2014/main" id="{A7B2556D-39D4-572E-F9E6-292542CC8593}"/>
              </a:ext>
            </a:extLst>
          </p:cNvPr>
          <p:cNvPicPr>
            <a:picLocks noChangeAspect="1"/>
          </p:cNvPicPr>
          <p:nvPr/>
        </p:nvPicPr>
        <p:blipFill>
          <a:blip r:embed="rId7"/>
          <a:stretch>
            <a:fillRect/>
          </a:stretch>
        </p:blipFill>
        <p:spPr>
          <a:xfrm>
            <a:off x="3030829" y="2603226"/>
            <a:ext cx="3346207" cy="402090"/>
          </a:xfrm>
          <a:prstGeom prst="rect">
            <a:avLst/>
          </a:prstGeom>
        </p:spPr>
      </p:pic>
    </p:spTree>
    <p:extLst>
      <p:ext uri="{BB962C8B-B14F-4D97-AF65-F5344CB8AC3E}">
        <p14:creationId xmlns:p14="http://schemas.microsoft.com/office/powerpoint/2010/main" val="2693442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3" name="Rectangle 11"/>
          <p:cNvSpPr>
            <a:spLocks noChangeArrowheads="1"/>
          </p:cNvSpPr>
          <p:nvPr/>
        </p:nvSpPr>
        <p:spPr bwMode="auto">
          <a:xfrm>
            <a:off x="488995" y="1199948"/>
            <a:ext cx="3095625" cy="363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20000"/>
              </a:lnSpc>
              <a:buFont typeface="Arial" charset="0"/>
              <a:buNone/>
            </a:pPr>
            <a:r>
              <a:rPr lang="en-US" altLang="zh-CN" b="1" dirty="0">
                <a:solidFill>
                  <a:schemeClr val="bg1">
                    <a:lumMod val="50000"/>
                  </a:schemeClr>
                </a:solidFill>
              </a:rPr>
              <a:t>Harbor</a:t>
            </a:r>
            <a:r>
              <a:rPr lang="zh-CN" altLang="en-US" b="1" dirty="0">
                <a:solidFill>
                  <a:schemeClr val="bg1">
                    <a:lumMod val="50000"/>
                  </a:schemeClr>
                </a:solidFill>
              </a:rPr>
              <a:t>仓库中存储的镜像可以供同一网络环境下的服务器使用，每次使用的时候不用将镜像下载到本机再上传到本机仓库进行部署，而是直接在</a:t>
            </a:r>
            <a:r>
              <a:rPr lang="en-US" altLang="zh-CN" b="1" dirty="0">
                <a:solidFill>
                  <a:schemeClr val="bg1">
                    <a:lumMod val="50000"/>
                  </a:schemeClr>
                </a:solidFill>
              </a:rPr>
              <a:t>Kubernetes</a:t>
            </a:r>
            <a:r>
              <a:rPr lang="zh-CN" altLang="en-US" b="1" dirty="0">
                <a:solidFill>
                  <a:schemeClr val="bg1">
                    <a:lumMod val="50000"/>
                  </a:schemeClr>
                </a:solidFill>
              </a:rPr>
              <a:t>编排</a:t>
            </a:r>
            <a:r>
              <a:rPr lang="en-US" altLang="zh-CN" b="1" dirty="0" err="1">
                <a:solidFill>
                  <a:schemeClr val="bg1">
                    <a:lumMod val="50000"/>
                  </a:schemeClr>
                </a:solidFill>
              </a:rPr>
              <a:t>yaml</a:t>
            </a:r>
            <a:r>
              <a:rPr lang="zh-CN" altLang="en-US" b="1" dirty="0">
                <a:solidFill>
                  <a:schemeClr val="bg1">
                    <a:lumMod val="50000"/>
                  </a:schemeClr>
                </a:solidFill>
              </a:rPr>
              <a:t>文件中填入所需镜像的名称即可进行容器创建和服务部署。提高了服务部署和软件发布的效率。</a:t>
            </a:r>
            <a:endParaRPr lang="en-US" altLang="zh-CN" b="1" dirty="0">
              <a:solidFill>
                <a:schemeClr val="bg1">
                  <a:lumMod val="50000"/>
                </a:schemeClr>
              </a:solidFill>
            </a:endParaRPr>
          </a:p>
          <a:p>
            <a:pPr>
              <a:lnSpc>
                <a:spcPct val="120000"/>
              </a:lnSpc>
              <a:buFont typeface="Arial" charset="0"/>
              <a:buNone/>
            </a:pPr>
            <a:r>
              <a:rPr lang="zh-CN" altLang="en-US" b="1" dirty="0">
                <a:solidFill>
                  <a:schemeClr val="bg1">
                    <a:lumMod val="50000"/>
                  </a:schemeClr>
                </a:solidFill>
              </a:rPr>
              <a:t>使用</a:t>
            </a:r>
            <a:r>
              <a:rPr lang="en-US" altLang="zh-CN" b="1" dirty="0">
                <a:solidFill>
                  <a:schemeClr val="bg1">
                    <a:lumMod val="50000"/>
                  </a:schemeClr>
                </a:solidFill>
              </a:rPr>
              <a:t>DOCKER-COMPOSE</a:t>
            </a:r>
            <a:r>
              <a:rPr lang="zh-CN" altLang="en-US" b="1" dirty="0">
                <a:solidFill>
                  <a:schemeClr val="bg1">
                    <a:lumMod val="50000"/>
                  </a:schemeClr>
                </a:solidFill>
              </a:rPr>
              <a:t>部署</a:t>
            </a:r>
            <a:r>
              <a:rPr lang="en-US" altLang="zh-CN" b="1" dirty="0">
                <a:solidFill>
                  <a:schemeClr val="bg1">
                    <a:lumMod val="50000"/>
                  </a:schemeClr>
                </a:solidFill>
              </a:rPr>
              <a:t>Harbor</a:t>
            </a:r>
            <a:endParaRPr lang="zh-CN" altLang="en-US" b="1" dirty="0">
              <a:solidFill>
                <a:schemeClr val="bg1">
                  <a:lumMod val="50000"/>
                </a:schemeClr>
              </a:solidFill>
            </a:endParaRPr>
          </a:p>
        </p:txBody>
      </p:sp>
      <p:grpSp>
        <p:nvGrpSpPr>
          <p:cNvPr id="28723" name="Group 51"/>
          <p:cNvGrpSpPr>
            <a:grpSpLocks/>
          </p:cNvGrpSpPr>
          <p:nvPr/>
        </p:nvGrpSpPr>
        <p:grpSpPr bwMode="auto">
          <a:xfrm>
            <a:off x="3998913" y="1637219"/>
            <a:ext cx="0" cy="2664647"/>
            <a:chOff x="0" y="0"/>
            <a:chExt cx="0" cy="1678"/>
          </a:xfrm>
        </p:grpSpPr>
        <p:sp>
          <p:nvSpPr>
            <p:cNvPr id="28724" name="Line 52"/>
            <p:cNvSpPr>
              <a:spLocks noChangeShapeType="1"/>
            </p:cNvSpPr>
            <p:nvPr/>
          </p:nvSpPr>
          <p:spPr bwMode="auto">
            <a:xfrm>
              <a:off x="0" y="409"/>
              <a:ext cx="0" cy="1269"/>
            </a:xfrm>
            <a:prstGeom prst="line">
              <a:avLst/>
            </a:prstGeom>
            <a:noFill/>
            <a:ln w="6350">
              <a:solidFill>
                <a:schemeClr val="bg1">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bg1">
                    <a:lumMod val="50000"/>
                  </a:schemeClr>
                </a:solidFill>
              </a:endParaRPr>
            </a:p>
          </p:txBody>
        </p:sp>
        <p:sp>
          <p:nvSpPr>
            <p:cNvPr id="28725" name="Line 53"/>
            <p:cNvSpPr>
              <a:spLocks noChangeShapeType="1"/>
            </p:cNvSpPr>
            <p:nvPr/>
          </p:nvSpPr>
          <p:spPr bwMode="auto">
            <a:xfrm>
              <a:off x="0" y="0"/>
              <a:ext cx="0" cy="499"/>
            </a:xfrm>
            <a:prstGeom prst="line">
              <a:avLst/>
            </a:prstGeom>
            <a:noFill/>
            <a:ln w="6350">
              <a:solidFill>
                <a:schemeClr val="bg1">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bg1">
                    <a:lumMod val="50000"/>
                  </a:schemeClr>
                </a:solidFill>
              </a:endParaRPr>
            </a:p>
          </p:txBody>
        </p:sp>
      </p:grpSp>
      <p:sp>
        <p:nvSpPr>
          <p:cNvPr id="48" name="Text Box 42"/>
          <p:cNvSpPr txBox="1">
            <a:spLocks noChangeArrowheads="1"/>
          </p:cNvSpPr>
          <p:nvPr/>
        </p:nvSpPr>
        <p:spPr bwMode="auto">
          <a:xfrm>
            <a:off x="3315089" y="290122"/>
            <a:ext cx="25138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 typeface="Arial" charset="0"/>
              <a:buNone/>
            </a:pPr>
            <a:r>
              <a:rPr lang="en-US" altLang="zh-CN" sz="2400" b="1" dirty="0">
                <a:solidFill>
                  <a:schemeClr val="accent1"/>
                </a:solidFill>
                <a:latin typeface="微软雅黑" pitchFamily="34" charset="-122"/>
                <a:ea typeface="微软雅黑" pitchFamily="34" charset="-122"/>
              </a:rPr>
              <a:t>Harbor</a:t>
            </a:r>
            <a:r>
              <a:rPr lang="zh-CN" altLang="en-US" sz="2400" b="1" dirty="0">
                <a:solidFill>
                  <a:schemeClr val="accent1"/>
                </a:solidFill>
                <a:latin typeface="微软雅黑" pitchFamily="34" charset="-122"/>
                <a:ea typeface="微软雅黑" pitchFamily="34" charset="-122"/>
              </a:rPr>
              <a:t>镜像仓库</a:t>
            </a:r>
            <a:endParaRPr lang="en-US" altLang="zh-CN" sz="2400" b="1" dirty="0">
              <a:solidFill>
                <a:schemeClr val="accent1"/>
              </a:solidFill>
              <a:latin typeface="微软雅黑" pitchFamily="34" charset="-122"/>
              <a:ea typeface="微软雅黑" pitchFamily="34" charset="-122"/>
            </a:endParaRPr>
          </a:p>
        </p:txBody>
      </p:sp>
      <p:cxnSp>
        <p:nvCxnSpPr>
          <p:cNvPr id="50" name="直接连接符 49"/>
          <p:cNvCxnSpPr/>
          <p:nvPr/>
        </p:nvCxnSpPr>
        <p:spPr>
          <a:xfrm>
            <a:off x="4226801" y="974973"/>
            <a:ext cx="690398"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54" name="组合 53"/>
          <p:cNvGrpSpPr/>
          <p:nvPr/>
        </p:nvGrpSpPr>
        <p:grpSpPr>
          <a:xfrm>
            <a:off x="5913438" y="2026319"/>
            <a:ext cx="198438" cy="292101"/>
            <a:chOff x="-1890713" y="-1246188"/>
            <a:chExt cx="198438" cy="292101"/>
          </a:xfrm>
        </p:grpSpPr>
        <p:sp>
          <p:nvSpPr>
            <p:cNvPr id="55" name="Freeform 22"/>
            <p:cNvSpPr>
              <a:spLocks/>
            </p:cNvSpPr>
            <p:nvPr/>
          </p:nvSpPr>
          <p:spPr bwMode="auto">
            <a:xfrm>
              <a:off x="-1865313" y="-1246188"/>
              <a:ext cx="173038" cy="157163"/>
            </a:xfrm>
            <a:custGeom>
              <a:avLst/>
              <a:gdLst>
                <a:gd name="T0" fmla="*/ 36 w 46"/>
                <a:gd name="T1" fmla="*/ 42 h 42"/>
                <a:gd name="T2" fmla="*/ 41 w 46"/>
                <a:gd name="T3" fmla="*/ 32 h 42"/>
                <a:gd name="T4" fmla="*/ 41 w 46"/>
                <a:gd name="T5" fmla="*/ 32 h 42"/>
                <a:gd name="T6" fmla="*/ 31 w 46"/>
                <a:gd name="T7" fmla="*/ 5 h 42"/>
                <a:gd name="T8" fmla="*/ 4 w 46"/>
                <a:gd name="T9" fmla="*/ 13 h 42"/>
                <a:gd name="T10" fmla="*/ 0 w 46"/>
                <a:gd name="T11" fmla="*/ 22 h 42"/>
                <a:gd name="T12" fmla="*/ 2 w 46"/>
                <a:gd name="T13" fmla="*/ 26 h 42"/>
              </a:gdLst>
              <a:ahLst/>
              <a:cxnLst>
                <a:cxn ang="0">
                  <a:pos x="T0" y="T1"/>
                </a:cxn>
                <a:cxn ang="0">
                  <a:pos x="T2" y="T3"/>
                </a:cxn>
                <a:cxn ang="0">
                  <a:pos x="T4" y="T5"/>
                </a:cxn>
                <a:cxn ang="0">
                  <a:pos x="T6" y="T7"/>
                </a:cxn>
                <a:cxn ang="0">
                  <a:pos x="T8" y="T9"/>
                </a:cxn>
                <a:cxn ang="0">
                  <a:pos x="T10" y="T11"/>
                </a:cxn>
                <a:cxn ang="0">
                  <a:pos x="T12" y="T13"/>
                </a:cxn>
              </a:cxnLst>
              <a:rect l="0" t="0" r="r" b="b"/>
              <a:pathLst>
                <a:path w="46" h="42">
                  <a:moveTo>
                    <a:pt x="36" y="42"/>
                  </a:moveTo>
                  <a:cubicBezTo>
                    <a:pt x="41" y="32"/>
                    <a:pt x="41" y="32"/>
                    <a:pt x="41" y="32"/>
                  </a:cubicBezTo>
                  <a:cubicBezTo>
                    <a:pt x="41" y="32"/>
                    <a:pt x="41" y="32"/>
                    <a:pt x="41" y="32"/>
                  </a:cubicBezTo>
                  <a:cubicBezTo>
                    <a:pt x="46" y="22"/>
                    <a:pt x="41" y="10"/>
                    <a:pt x="31" y="5"/>
                  </a:cubicBezTo>
                  <a:cubicBezTo>
                    <a:pt x="21" y="0"/>
                    <a:pt x="8" y="4"/>
                    <a:pt x="4" y="13"/>
                  </a:cubicBezTo>
                  <a:cubicBezTo>
                    <a:pt x="4" y="13"/>
                    <a:pt x="0" y="22"/>
                    <a:pt x="0" y="22"/>
                  </a:cubicBezTo>
                  <a:cubicBezTo>
                    <a:pt x="2" y="26"/>
                    <a:pt x="2" y="26"/>
                    <a:pt x="2" y="26"/>
                  </a:cubicBez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Freeform 23"/>
            <p:cNvSpPr>
              <a:spLocks/>
            </p:cNvSpPr>
            <p:nvPr/>
          </p:nvSpPr>
          <p:spPr bwMode="auto">
            <a:xfrm>
              <a:off x="-1890713" y="-1089025"/>
              <a:ext cx="195263" cy="134938"/>
            </a:xfrm>
            <a:custGeom>
              <a:avLst/>
              <a:gdLst>
                <a:gd name="T0" fmla="*/ 50 w 52"/>
                <a:gd name="T1" fmla="*/ 0 h 36"/>
                <a:gd name="T2" fmla="*/ 2 w 52"/>
                <a:gd name="T3" fmla="*/ 0 h 36"/>
                <a:gd name="T4" fmla="*/ 0 w 52"/>
                <a:gd name="T5" fmla="*/ 2 h 36"/>
                <a:gd name="T6" fmla="*/ 0 w 52"/>
                <a:gd name="T7" fmla="*/ 34 h 36"/>
                <a:gd name="T8" fmla="*/ 2 w 52"/>
                <a:gd name="T9" fmla="*/ 36 h 36"/>
                <a:gd name="T10" fmla="*/ 50 w 52"/>
                <a:gd name="T11" fmla="*/ 36 h 36"/>
                <a:gd name="T12" fmla="*/ 52 w 52"/>
                <a:gd name="T13" fmla="*/ 34 h 36"/>
                <a:gd name="T14" fmla="*/ 52 w 52"/>
                <a:gd name="T15" fmla="*/ 2 h 36"/>
                <a:gd name="T16" fmla="*/ 50 w 52"/>
                <a:gd name="T1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36">
                  <a:moveTo>
                    <a:pt x="50" y="0"/>
                  </a:moveTo>
                  <a:cubicBezTo>
                    <a:pt x="2" y="0"/>
                    <a:pt x="2" y="0"/>
                    <a:pt x="2" y="0"/>
                  </a:cubicBezTo>
                  <a:cubicBezTo>
                    <a:pt x="1" y="0"/>
                    <a:pt x="0" y="1"/>
                    <a:pt x="0" y="2"/>
                  </a:cubicBezTo>
                  <a:cubicBezTo>
                    <a:pt x="0" y="34"/>
                    <a:pt x="0" y="34"/>
                    <a:pt x="0" y="34"/>
                  </a:cubicBezTo>
                  <a:cubicBezTo>
                    <a:pt x="0" y="35"/>
                    <a:pt x="1" y="36"/>
                    <a:pt x="2" y="36"/>
                  </a:cubicBezTo>
                  <a:cubicBezTo>
                    <a:pt x="50" y="36"/>
                    <a:pt x="50" y="36"/>
                    <a:pt x="50" y="36"/>
                  </a:cubicBezTo>
                  <a:cubicBezTo>
                    <a:pt x="51" y="36"/>
                    <a:pt x="52" y="35"/>
                    <a:pt x="52" y="34"/>
                  </a:cubicBezTo>
                  <a:cubicBezTo>
                    <a:pt x="52" y="2"/>
                    <a:pt x="52" y="2"/>
                    <a:pt x="52" y="2"/>
                  </a:cubicBezTo>
                  <a:cubicBezTo>
                    <a:pt x="52" y="1"/>
                    <a:pt x="51" y="0"/>
                    <a:pt x="50" y="0"/>
                  </a:cubicBez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24"/>
            <p:cNvSpPr>
              <a:spLocks/>
            </p:cNvSpPr>
            <p:nvPr/>
          </p:nvSpPr>
          <p:spPr bwMode="auto">
            <a:xfrm>
              <a:off x="-1808163" y="-1058863"/>
              <a:ext cx="30163" cy="57150"/>
            </a:xfrm>
            <a:custGeom>
              <a:avLst/>
              <a:gdLst>
                <a:gd name="T0" fmla="*/ 5 w 8"/>
                <a:gd name="T1" fmla="*/ 8 h 15"/>
                <a:gd name="T2" fmla="*/ 6 w 8"/>
                <a:gd name="T3" fmla="*/ 14 h 15"/>
                <a:gd name="T4" fmla="*/ 6 w 8"/>
                <a:gd name="T5" fmla="*/ 15 h 15"/>
                <a:gd name="T6" fmla="*/ 6 w 8"/>
                <a:gd name="T7" fmla="*/ 15 h 15"/>
                <a:gd name="T8" fmla="*/ 2 w 8"/>
                <a:gd name="T9" fmla="*/ 15 h 15"/>
                <a:gd name="T10" fmla="*/ 2 w 8"/>
                <a:gd name="T11" fmla="*/ 15 h 15"/>
                <a:gd name="T12" fmla="*/ 2 w 8"/>
                <a:gd name="T13" fmla="*/ 14 h 15"/>
                <a:gd name="T14" fmla="*/ 3 w 8"/>
                <a:gd name="T15" fmla="*/ 8 h 15"/>
                <a:gd name="T16" fmla="*/ 0 w 8"/>
                <a:gd name="T17" fmla="*/ 4 h 15"/>
                <a:gd name="T18" fmla="*/ 4 w 8"/>
                <a:gd name="T19" fmla="*/ 0 h 15"/>
                <a:gd name="T20" fmla="*/ 8 w 8"/>
                <a:gd name="T21" fmla="*/ 4 h 15"/>
                <a:gd name="T22" fmla="*/ 5 w 8"/>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 h="15">
                  <a:moveTo>
                    <a:pt x="5" y="8"/>
                  </a:moveTo>
                  <a:cubicBezTo>
                    <a:pt x="6" y="14"/>
                    <a:pt x="6" y="14"/>
                    <a:pt x="6" y="14"/>
                  </a:cubicBezTo>
                  <a:cubicBezTo>
                    <a:pt x="7" y="14"/>
                    <a:pt x="7" y="15"/>
                    <a:pt x="6" y="15"/>
                  </a:cubicBezTo>
                  <a:cubicBezTo>
                    <a:pt x="6" y="15"/>
                    <a:pt x="6" y="15"/>
                    <a:pt x="6" y="15"/>
                  </a:cubicBezTo>
                  <a:cubicBezTo>
                    <a:pt x="2" y="15"/>
                    <a:pt x="2" y="15"/>
                    <a:pt x="2" y="15"/>
                  </a:cubicBezTo>
                  <a:cubicBezTo>
                    <a:pt x="2" y="15"/>
                    <a:pt x="2" y="15"/>
                    <a:pt x="2" y="15"/>
                  </a:cubicBezTo>
                  <a:cubicBezTo>
                    <a:pt x="1" y="15"/>
                    <a:pt x="1" y="14"/>
                    <a:pt x="2" y="14"/>
                  </a:cubicBezTo>
                  <a:cubicBezTo>
                    <a:pt x="3" y="8"/>
                    <a:pt x="3" y="8"/>
                    <a:pt x="3" y="8"/>
                  </a:cubicBezTo>
                  <a:cubicBezTo>
                    <a:pt x="1" y="7"/>
                    <a:pt x="0" y="6"/>
                    <a:pt x="0" y="4"/>
                  </a:cubicBezTo>
                  <a:cubicBezTo>
                    <a:pt x="0" y="2"/>
                    <a:pt x="2" y="0"/>
                    <a:pt x="4" y="0"/>
                  </a:cubicBezTo>
                  <a:cubicBezTo>
                    <a:pt x="6" y="0"/>
                    <a:pt x="8" y="2"/>
                    <a:pt x="8" y="4"/>
                  </a:cubicBezTo>
                  <a:cubicBezTo>
                    <a:pt x="8" y="6"/>
                    <a:pt x="7" y="7"/>
                    <a:pt x="5" y="8"/>
                  </a:cubicBez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8" name="组合 57"/>
          <p:cNvGrpSpPr/>
          <p:nvPr/>
        </p:nvGrpSpPr>
        <p:grpSpPr>
          <a:xfrm>
            <a:off x="4997861" y="3554623"/>
            <a:ext cx="306506" cy="281264"/>
            <a:chOff x="-849313" y="269875"/>
            <a:chExt cx="269875" cy="247650"/>
          </a:xfrm>
        </p:grpSpPr>
        <p:sp>
          <p:nvSpPr>
            <p:cNvPr id="59" name="Freeform 6"/>
            <p:cNvSpPr>
              <a:spLocks/>
            </p:cNvSpPr>
            <p:nvPr/>
          </p:nvSpPr>
          <p:spPr bwMode="auto">
            <a:xfrm>
              <a:off x="-849313" y="269875"/>
              <a:ext cx="269875" cy="115888"/>
            </a:xfrm>
            <a:custGeom>
              <a:avLst/>
              <a:gdLst>
                <a:gd name="T0" fmla="*/ 170 w 170"/>
                <a:gd name="T1" fmla="*/ 73 h 73"/>
                <a:gd name="T2" fmla="*/ 144 w 170"/>
                <a:gd name="T3" fmla="*/ 47 h 73"/>
                <a:gd name="T4" fmla="*/ 147 w 170"/>
                <a:gd name="T5" fmla="*/ 45 h 73"/>
                <a:gd name="T6" fmla="*/ 147 w 170"/>
                <a:gd name="T7" fmla="*/ 45 h 73"/>
                <a:gd name="T8" fmla="*/ 147 w 170"/>
                <a:gd name="T9" fmla="*/ 14 h 73"/>
                <a:gd name="T10" fmla="*/ 128 w 170"/>
                <a:gd name="T11" fmla="*/ 14 h 73"/>
                <a:gd name="T12" fmla="*/ 128 w 170"/>
                <a:gd name="T13" fmla="*/ 30 h 73"/>
                <a:gd name="T14" fmla="*/ 128 w 170"/>
                <a:gd name="T15" fmla="*/ 33 h 73"/>
                <a:gd name="T16" fmla="*/ 126 w 170"/>
                <a:gd name="T17" fmla="*/ 33 h 73"/>
                <a:gd name="T18" fmla="*/ 85 w 170"/>
                <a:gd name="T19" fmla="*/ 0 h 73"/>
                <a:gd name="T20" fmla="*/ 0 w 170"/>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0" h="73">
                  <a:moveTo>
                    <a:pt x="170" y="73"/>
                  </a:moveTo>
                  <a:lnTo>
                    <a:pt x="144" y="47"/>
                  </a:lnTo>
                  <a:lnTo>
                    <a:pt x="147" y="45"/>
                  </a:lnTo>
                  <a:lnTo>
                    <a:pt x="147" y="45"/>
                  </a:lnTo>
                  <a:lnTo>
                    <a:pt x="147" y="14"/>
                  </a:lnTo>
                  <a:lnTo>
                    <a:pt x="128" y="14"/>
                  </a:lnTo>
                  <a:lnTo>
                    <a:pt x="128" y="30"/>
                  </a:lnTo>
                  <a:lnTo>
                    <a:pt x="128" y="33"/>
                  </a:lnTo>
                  <a:lnTo>
                    <a:pt x="126" y="33"/>
                  </a:lnTo>
                  <a:lnTo>
                    <a:pt x="85" y="0"/>
                  </a:lnTo>
                  <a:lnTo>
                    <a:pt x="0" y="73"/>
                  </a:ln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7"/>
            <p:cNvSpPr>
              <a:spLocks/>
            </p:cNvSpPr>
            <p:nvPr/>
          </p:nvSpPr>
          <p:spPr bwMode="auto">
            <a:xfrm>
              <a:off x="-811213" y="407987"/>
              <a:ext cx="195263" cy="109538"/>
            </a:xfrm>
            <a:custGeom>
              <a:avLst/>
              <a:gdLst>
                <a:gd name="T0" fmla="*/ 0 w 123"/>
                <a:gd name="T1" fmla="*/ 7 h 69"/>
                <a:gd name="T2" fmla="*/ 0 w 123"/>
                <a:gd name="T3" fmla="*/ 0 h 69"/>
                <a:gd name="T4" fmla="*/ 0 w 123"/>
                <a:gd name="T5" fmla="*/ 69 h 69"/>
                <a:gd name="T6" fmla="*/ 38 w 123"/>
                <a:gd name="T7" fmla="*/ 69 h 69"/>
                <a:gd name="T8" fmla="*/ 38 w 123"/>
                <a:gd name="T9" fmla="*/ 21 h 69"/>
                <a:gd name="T10" fmla="*/ 85 w 123"/>
                <a:gd name="T11" fmla="*/ 21 h 69"/>
                <a:gd name="T12" fmla="*/ 85 w 123"/>
                <a:gd name="T13" fmla="*/ 69 h 69"/>
                <a:gd name="T14" fmla="*/ 123 w 123"/>
                <a:gd name="T15" fmla="*/ 69 h 69"/>
                <a:gd name="T16" fmla="*/ 123 w 123"/>
                <a:gd name="T17" fmla="*/ 0 h 69"/>
                <a:gd name="T18" fmla="*/ 123 w 123"/>
                <a:gd name="T19" fmla="*/ 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3" h="69">
                  <a:moveTo>
                    <a:pt x="0" y="7"/>
                  </a:moveTo>
                  <a:lnTo>
                    <a:pt x="0" y="0"/>
                  </a:lnTo>
                  <a:lnTo>
                    <a:pt x="0" y="69"/>
                  </a:lnTo>
                  <a:lnTo>
                    <a:pt x="38" y="69"/>
                  </a:lnTo>
                  <a:lnTo>
                    <a:pt x="38" y="21"/>
                  </a:lnTo>
                  <a:lnTo>
                    <a:pt x="85" y="21"/>
                  </a:lnTo>
                  <a:lnTo>
                    <a:pt x="85" y="69"/>
                  </a:lnTo>
                  <a:lnTo>
                    <a:pt x="123" y="69"/>
                  </a:lnTo>
                  <a:lnTo>
                    <a:pt x="123" y="0"/>
                  </a:lnTo>
                  <a:lnTo>
                    <a:pt x="123" y="7"/>
                  </a:ln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1" name="组合 60"/>
          <p:cNvGrpSpPr/>
          <p:nvPr/>
        </p:nvGrpSpPr>
        <p:grpSpPr>
          <a:xfrm>
            <a:off x="4491361" y="2470995"/>
            <a:ext cx="237478" cy="212332"/>
            <a:chOff x="207963" y="276225"/>
            <a:chExt cx="269875" cy="241300"/>
          </a:xfrm>
        </p:grpSpPr>
        <p:sp>
          <p:nvSpPr>
            <p:cNvPr id="62" name="Freeform 8"/>
            <p:cNvSpPr>
              <a:spLocks/>
            </p:cNvSpPr>
            <p:nvPr/>
          </p:nvSpPr>
          <p:spPr bwMode="auto">
            <a:xfrm>
              <a:off x="207963" y="276225"/>
              <a:ext cx="269875" cy="211138"/>
            </a:xfrm>
            <a:custGeom>
              <a:avLst/>
              <a:gdLst>
                <a:gd name="T0" fmla="*/ 72 w 72"/>
                <a:gd name="T1" fmla="*/ 5 h 56"/>
                <a:gd name="T2" fmla="*/ 68 w 72"/>
                <a:gd name="T3" fmla="*/ 0 h 56"/>
                <a:gd name="T4" fmla="*/ 5 w 72"/>
                <a:gd name="T5" fmla="*/ 0 h 56"/>
                <a:gd name="T6" fmla="*/ 0 w 72"/>
                <a:gd name="T7" fmla="*/ 5 h 56"/>
                <a:gd name="T8" fmla="*/ 0 w 72"/>
                <a:gd name="T9" fmla="*/ 52 h 56"/>
                <a:gd name="T10" fmla="*/ 5 w 72"/>
                <a:gd name="T11" fmla="*/ 56 h 56"/>
                <a:gd name="T12" fmla="*/ 68 w 72"/>
                <a:gd name="T13" fmla="*/ 56 h 56"/>
                <a:gd name="T14" fmla="*/ 72 w 72"/>
                <a:gd name="T15" fmla="*/ 52 h 56"/>
                <a:gd name="T16" fmla="*/ 72 w 72"/>
                <a:gd name="T17" fmla="*/ 5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6">
                  <a:moveTo>
                    <a:pt x="72" y="5"/>
                  </a:moveTo>
                  <a:cubicBezTo>
                    <a:pt x="72" y="2"/>
                    <a:pt x="70" y="0"/>
                    <a:pt x="68" y="0"/>
                  </a:cubicBezTo>
                  <a:cubicBezTo>
                    <a:pt x="5" y="0"/>
                    <a:pt x="5" y="0"/>
                    <a:pt x="5" y="0"/>
                  </a:cubicBezTo>
                  <a:cubicBezTo>
                    <a:pt x="2" y="0"/>
                    <a:pt x="0" y="2"/>
                    <a:pt x="0" y="5"/>
                  </a:cubicBezTo>
                  <a:cubicBezTo>
                    <a:pt x="0" y="52"/>
                    <a:pt x="0" y="52"/>
                    <a:pt x="0" y="52"/>
                  </a:cubicBezTo>
                  <a:cubicBezTo>
                    <a:pt x="0" y="54"/>
                    <a:pt x="2" y="56"/>
                    <a:pt x="5" y="56"/>
                  </a:cubicBezTo>
                  <a:cubicBezTo>
                    <a:pt x="68" y="56"/>
                    <a:pt x="68" y="56"/>
                    <a:pt x="68" y="56"/>
                  </a:cubicBezTo>
                  <a:cubicBezTo>
                    <a:pt x="70" y="56"/>
                    <a:pt x="72" y="54"/>
                    <a:pt x="72" y="52"/>
                  </a:cubicBezTo>
                  <a:lnTo>
                    <a:pt x="72" y="5"/>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Line 9"/>
            <p:cNvSpPr>
              <a:spLocks noChangeShapeType="1"/>
            </p:cNvSpPr>
            <p:nvPr/>
          </p:nvSpPr>
          <p:spPr bwMode="auto">
            <a:xfrm>
              <a:off x="306388" y="517525"/>
              <a:ext cx="74613"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Line 10"/>
            <p:cNvSpPr>
              <a:spLocks noChangeShapeType="1"/>
            </p:cNvSpPr>
            <p:nvPr/>
          </p:nvSpPr>
          <p:spPr bwMode="auto">
            <a:xfrm>
              <a:off x="215900" y="441325"/>
              <a:ext cx="255588"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5" name="组合 64"/>
          <p:cNvGrpSpPr/>
          <p:nvPr/>
        </p:nvGrpSpPr>
        <p:grpSpPr>
          <a:xfrm>
            <a:off x="6384805" y="3774286"/>
            <a:ext cx="184392" cy="250048"/>
            <a:chOff x="-285750" y="-1238250"/>
            <a:chExt cx="209550" cy="284163"/>
          </a:xfrm>
        </p:grpSpPr>
        <p:sp>
          <p:nvSpPr>
            <p:cNvPr id="66" name="Freeform 11"/>
            <p:cNvSpPr>
              <a:spLocks/>
            </p:cNvSpPr>
            <p:nvPr/>
          </p:nvSpPr>
          <p:spPr bwMode="auto">
            <a:xfrm>
              <a:off x="-285750" y="-1193800"/>
              <a:ext cx="209550" cy="239713"/>
            </a:xfrm>
            <a:custGeom>
              <a:avLst/>
              <a:gdLst>
                <a:gd name="T0" fmla="*/ 6 w 56"/>
                <a:gd name="T1" fmla="*/ 0 h 64"/>
                <a:gd name="T2" fmla="*/ 2 w 56"/>
                <a:gd name="T3" fmla="*/ 0 h 64"/>
                <a:gd name="T4" fmla="*/ 0 w 56"/>
                <a:gd name="T5" fmla="*/ 2 h 64"/>
                <a:gd name="T6" fmla="*/ 0 w 56"/>
                <a:gd name="T7" fmla="*/ 62 h 64"/>
                <a:gd name="T8" fmla="*/ 2 w 56"/>
                <a:gd name="T9" fmla="*/ 64 h 64"/>
                <a:gd name="T10" fmla="*/ 54 w 56"/>
                <a:gd name="T11" fmla="*/ 64 h 64"/>
                <a:gd name="T12" fmla="*/ 56 w 56"/>
                <a:gd name="T13" fmla="*/ 62 h 64"/>
                <a:gd name="T14" fmla="*/ 56 w 56"/>
                <a:gd name="T15" fmla="*/ 2 h 64"/>
                <a:gd name="T16" fmla="*/ 54 w 56"/>
                <a:gd name="T17" fmla="*/ 0 h 64"/>
                <a:gd name="T18" fmla="*/ 50 w 56"/>
                <a:gd name="T1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64">
                  <a:moveTo>
                    <a:pt x="6" y="0"/>
                  </a:moveTo>
                  <a:cubicBezTo>
                    <a:pt x="2" y="0"/>
                    <a:pt x="2" y="0"/>
                    <a:pt x="2" y="0"/>
                  </a:cubicBezTo>
                  <a:cubicBezTo>
                    <a:pt x="1" y="0"/>
                    <a:pt x="0" y="1"/>
                    <a:pt x="0" y="2"/>
                  </a:cubicBezTo>
                  <a:cubicBezTo>
                    <a:pt x="0" y="62"/>
                    <a:pt x="0" y="62"/>
                    <a:pt x="0" y="62"/>
                  </a:cubicBezTo>
                  <a:cubicBezTo>
                    <a:pt x="0" y="63"/>
                    <a:pt x="1" y="64"/>
                    <a:pt x="2" y="64"/>
                  </a:cubicBezTo>
                  <a:cubicBezTo>
                    <a:pt x="54" y="64"/>
                    <a:pt x="54" y="64"/>
                    <a:pt x="54" y="64"/>
                  </a:cubicBezTo>
                  <a:cubicBezTo>
                    <a:pt x="55" y="64"/>
                    <a:pt x="56" y="63"/>
                    <a:pt x="56" y="62"/>
                  </a:cubicBezTo>
                  <a:cubicBezTo>
                    <a:pt x="56" y="2"/>
                    <a:pt x="56" y="2"/>
                    <a:pt x="56" y="2"/>
                  </a:cubicBezTo>
                  <a:cubicBezTo>
                    <a:pt x="56" y="1"/>
                    <a:pt x="55" y="0"/>
                    <a:pt x="54" y="0"/>
                  </a:cubicBezTo>
                  <a:cubicBezTo>
                    <a:pt x="50" y="0"/>
                    <a:pt x="50" y="0"/>
                    <a:pt x="50" y="0"/>
                  </a:cubicBez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12"/>
            <p:cNvSpPr>
              <a:spLocks/>
            </p:cNvSpPr>
            <p:nvPr/>
          </p:nvSpPr>
          <p:spPr bwMode="auto">
            <a:xfrm>
              <a:off x="-241300" y="-1238250"/>
              <a:ext cx="120650" cy="60325"/>
            </a:xfrm>
            <a:custGeom>
              <a:avLst/>
              <a:gdLst>
                <a:gd name="T0" fmla="*/ 14 w 32"/>
                <a:gd name="T1" fmla="*/ 0 h 16"/>
                <a:gd name="T2" fmla="*/ 12 w 32"/>
                <a:gd name="T3" fmla="*/ 2 h 16"/>
                <a:gd name="T4" fmla="*/ 10 w 32"/>
                <a:gd name="T5" fmla="*/ 6 h 16"/>
                <a:gd name="T6" fmla="*/ 8 w 32"/>
                <a:gd name="T7" fmla="*/ 8 h 16"/>
                <a:gd name="T8" fmla="*/ 4 w 32"/>
                <a:gd name="T9" fmla="*/ 8 h 16"/>
                <a:gd name="T10" fmla="*/ 2 w 32"/>
                <a:gd name="T11" fmla="*/ 10 h 16"/>
                <a:gd name="T12" fmla="*/ 0 w 32"/>
                <a:gd name="T13" fmla="*/ 14 h 16"/>
                <a:gd name="T14" fmla="*/ 2 w 32"/>
                <a:gd name="T15" fmla="*/ 16 h 16"/>
                <a:gd name="T16" fmla="*/ 30 w 32"/>
                <a:gd name="T17" fmla="*/ 16 h 16"/>
                <a:gd name="T18" fmla="*/ 32 w 32"/>
                <a:gd name="T19" fmla="*/ 14 h 16"/>
                <a:gd name="T20" fmla="*/ 30 w 32"/>
                <a:gd name="T21" fmla="*/ 10 h 16"/>
                <a:gd name="T22" fmla="*/ 28 w 32"/>
                <a:gd name="T23" fmla="*/ 8 h 16"/>
                <a:gd name="T24" fmla="*/ 24 w 32"/>
                <a:gd name="T25" fmla="*/ 8 h 16"/>
                <a:gd name="T26" fmla="*/ 22 w 32"/>
                <a:gd name="T27" fmla="*/ 6 h 16"/>
                <a:gd name="T28" fmla="*/ 20 w 32"/>
                <a:gd name="T29" fmla="*/ 2 h 16"/>
                <a:gd name="T30" fmla="*/ 18 w 32"/>
                <a:gd name="T31" fmla="*/ 0 h 16"/>
                <a:gd name="T32" fmla="*/ 14 w 32"/>
                <a:gd name="T33"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16">
                  <a:moveTo>
                    <a:pt x="14" y="0"/>
                  </a:moveTo>
                  <a:cubicBezTo>
                    <a:pt x="13" y="0"/>
                    <a:pt x="12" y="1"/>
                    <a:pt x="12" y="2"/>
                  </a:cubicBezTo>
                  <a:cubicBezTo>
                    <a:pt x="10" y="6"/>
                    <a:pt x="10" y="6"/>
                    <a:pt x="10" y="6"/>
                  </a:cubicBezTo>
                  <a:cubicBezTo>
                    <a:pt x="10" y="7"/>
                    <a:pt x="9" y="8"/>
                    <a:pt x="8" y="8"/>
                  </a:cubicBezTo>
                  <a:cubicBezTo>
                    <a:pt x="4" y="8"/>
                    <a:pt x="4" y="8"/>
                    <a:pt x="4" y="8"/>
                  </a:cubicBezTo>
                  <a:cubicBezTo>
                    <a:pt x="3" y="8"/>
                    <a:pt x="2" y="9"/>
                    <a:pt x="2" y="10"/>
                  </a:cubicBezTo>
                  <a:cubicBezTo>
                    <a:pt x="0" y="14"/>
                    <a:pt x="0" y="14"/>
                    <a:pt x="0" y="14"/>
                  </a:cubicBezTo>
                  <a:cubicBezTo>
                    <a:pt x="0" y="15"/>
                    <a:pt x="1" y="16"/>
                    <a:pt x="2" y="16"/>
                  </a:cubicBezTo>
                  <a:cubicBezTo>
                    <a:pt x="30" y="16"/>
                    <a:pt x="30" y="16"/>
                    <a:pt x="30" y="16"/>
                  </a:cubicBezTo>
                  <a:cubicBezTo>
                    <a:pt x="31" y="16"/>
                    <a:pt x="32" y="15"/>
                    <a:pt x="32" y="14"/>
                  </a:cubicBezTo>
                  <a:cubicBezTo>
                    <a:pt x="30" y="10"/>
                    <a:pt x="30" y="10"/>
                    <a:pt x="30" y="10"/>
                  </a:cubicBezTo>
                  <a:cubicBezTo>
                    <a:pt x="30" y="9"/>
                    <a:pt x="29" y="8"/>
                    <a:pt x="28" y="8"/>
                  </a:cubicBezTo>
                  <a:cubicBezTo>
                    <a:pt x="24" y="8"/>
                    <a:pt x="24" y="8"/>
                    <a:pt x="24" y="8"/>
                  </a:cubicBezTo>
                  <a:cubicBezTo>
                    <a:pt x="23" y="8"/>
                    <a:pt x="22" y="7"/>
                    <a:pt x="22" y="6"/>
                  </a:cubicBezTo>
                  <a:cubicBezTo>
                    <a:pt x="20" y="2"/>
                    <a:pt x="20" y="2"/>
                    <a:pt x="20" y="2"/>
                  </a:cubicBezTo>
                  <a:cubicBezTo>
                    <a:pt x="20" y="1"/>
                    <a:pt x="19" y="0"/>
                    <a:pt x="18" y="0"/>
                  </a:cubicBezTo>
                  <a:lnTo>
                    <a:pt x="14" y="0"/>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Line 17"/>
            <p:cNvSpPr>
              <a:spLocks noChangeShapeType="1"/>
            </p:cNvSpPr>
            <p:nvPr/>
          </p:nvSpPr>
          <p:spPr bwMode="auto">
            <a:xfrm>
              <a:off x="-233363" y="-1133475"/>
              <a:ext cx="1047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9" name="Line 18"/>
            <p:cNvSpPr>
              <a:spLocks noChangeShapeType="1"/>
            </p:cNvSpPr>
            <p:nvPr/>
          </p:nvSpPr>
          <p:spPr bwMode="auto">
            <a:xfrm>
              <a:off x="-233363" y="-1103313"/>
              <a:ext cx="1047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Line 19"/>
            <p:cNvSpPr>
              <a:spLocks noChangeShapeType="1"/>
            </p:cNvSpPr>
            <p:nvPr/>
          </p:nvSpPr>
          <p:spPr bwMode="auto">
            <a:xfrm>
              <a:off x="-233363" y="-1073150"/>
              <a:ext cx="1047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Line 20"/>
            <p:cNvSpPr>
              <a:spLocks noChangeShapeType="1"/>
            </p:cNvSpPr>
            <p:nvPr/>
          </p:nvSpPr>
          <p:spPr bwMode="auto">
            <a:xfrm>
              <a:off x="-233363" y="-1042988"/>
              <a:ext cx="1047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Line 21"/>
            <p:cNvSpPr>
              <a:spLocks noChangeShapeType="1"/>
            </p:cNvSpPr>
            <p:nvPr/>
          </p:nvSpPr>
          <p:spPr bwMode="auto">
            <a:xfrm>
              <a:off x="-233363" y="-1012825"/>
              <a:ext cx="1047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73" name="组合 72"/>
          <p:cNvGrpSpPr/>
          <p:nvPr/>
        </p:nvGrpSpPr>
        <p:grpSpPr>
          <a:xfrm>
            <a:off x="7429189" y="2806112"/>
            <a:ext cx="251448" cy="210936"/>
            <a:chOff x="2922588" y="-1223963"/>
            <a:chExt cx="285750" cy="239713"/>
          </a:xfrm>
        </p:grpSpPr>
        <p:sp>
          <p:nvSpPr>
            <p:cNvPr id="74" name="Line 25"/>
            <p:cNvSpPr>
              <a:spLocks noChangeShapeType="1"/>
            </p:cNvSpPr>
            <p:nvPr/>
          </p:nvSpPr>
          <p:spPr bwMode="auto">
            <a:xfrm flipH="1">
              <a:off x="3021013" y="-1073150"/>
              <a:ext cx="8890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Line 26"/>
            <p:cNvSpPr>
              <a:spLocks noChangeShapeType="1"/>
            </p:cNvSpPr>
            <p:nvPr/>
          </p:nvSpPr>
          <p:spPr bwMode="auto">
            <a:xfrm flipH="1">
              <a:off x="2930525" y="-1073150"/>
              <a:ext cx="4445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Line 27"/>
            <p:cNvSpPr>
              <a:spLocks noChangeShapeType="1"/>
            </p:cNvSpPr>
            <p:nvPr/>
          </p:nvSpPr>
          <p:spPr bwMode="auto">
            <a:xfrm flipH="1">
              <a:off x="3155950" y="-1073150"/>
              <a:ext cx="4445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Line 28"/>
            <p:cNvSpPr>
              <a:spLocks noChangeShapeType="1"/>
            </p:cNvSpPr>
            <p:nvPr/>
          </p:nvSpPr>
          <p:spPr bwMode="auto">
            <a:xfrm>
              <a:off x="3133725" y="-1095375"/>
              <a:ext cx="0" cy="28575"/>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Line 29"/>
            <p:cNvSpPr>
              <a:spLocks noChangeShapeType="1"/>
            </p:cNvSpPr>
            <p:nvPr/>
          </p:nvSpPr>
          <p:spPr bwMode="auto">
            <a:xfrm>
              <a:off x="2998788" y="-1095375"/>
              <a:ext cx="0" cy="28575"/>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Rectangle 30"/>
            <p:cNvSpPr>
              <a:spLocks noChangeArrowheads="1"/>
            </p:cNvSpPr>
            <p:nvPr/>
          </p:nvSpPr>
          <p:spPr bwMode="auto">
            <a:xfrm>
              <a:off x="2922588" y="-1177925"/>
              <a:ext cx="285750" cy="193675"/>
            </a:xfrm>
            <a:prstGeom prst="rect">
              <a:avLst/>
            </a:pr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Freeform 31"/>
            <p:cNvSpPr>
              <a:spLocks/>
            </p:cNvSpPr>
            <p:nvPr/>
          </p:nvSpPr>
          <p:spPr bwMode="auto">
            <a:xfrm>
              <a:off x="3013075" y="-1223963"/>
              <a:ext cx="104775" cy="38100"/>
            </a:xfrm>
            <a:custGeom>
              <a:avLst/>
              <a:gdLst>
                <a:gd name="T0" fmla="*/ 66 w 66"/>
                <a:gd name="T1" fmla="*/ 24 h 24"/>
                <a:gd name="T2" fmla="*/ 66 w 66"/>
                <a:gd name="T3" fmla="*/ 0 h 24"/>
                <a:gd name="T4" fmla="*/ 0 w 66"/>
                <a:gd name="T5" fmla="*/ 0 h 24"/>
                <a:gd name="T6" fmla="*/ 0 w 66"/>
                <a:gd name="T7" fmla="*/ 24 h 24"/>
              </a:gdLst>
              <a:ahLst/>
              <a:cxnLst>
                <a:cxn ang="0">
                  <a:pos x="T0" y="T1"/>
                </a:cxn>
                <a:cxn ang="0">
                  <a:pos x="T2" y="T3"/>
                </a:cxn>
                <a:cxn ang="0">
                  <a:pos x="T4" y="T5"/>
                </a:cxn>
                <a:cxn ang="0">
                  <a:pos x="T6" y="T7"/>
                </a:cxn>
              </a:cxnLst>
              <a:rect l="0" t="0" r="r" b="b"/>
              <a:pathLst>
                <a:path w="66" h="24">
                  <a:moveTo>
                    <a:pt x="66" y="24"/>
                  </a:moveTo>
                  <a:lnTo>
                    <a:pt x="66" y="0"/>
                  </a:lnTo>
                  <a:lnTo>
                    <a:pt x="0" y="0"/>
                  </a:lnTo>
                  <a:lnTo>
                    <a:pt x="0" y="24"/>
                  </a:ln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1" name="组合 80"/>
          <p:cNvGrpSpPr/>
          <p:nvPr/>
        </p:nvGrpSpPr>
        <p:grpSpPr>
          <a:xfrm>
            <a:off x="8195724" y="1920240"/>
            <a:ext cx="264602" cy="266062"/>
            <a:chOff x="-1395413" y="-1243013"/>
            <a:chExt cx="287338" cy="288925"/>
          </a:xfrm>
        </p:grpSpPr>
        <p:sp>
          <p:nvSpPr>
            <p:cNvPr id="82" name="Freeform 13"/>
            <p:cNvSpPr>
              <a:spLocks/>
            </p:cNvSpPr>
            <p:nvPr/>
          </p:nvSpPr>
          <p:spPr bwMode="auto">
            <a:xfrm>
              <a:off x="-1358900" y="-1212850"/>
              <a:ext cx="225425" cy="225425"/>
            </a:xfrm>
            <a:custGeom>
              <a:avLst/>
              <a:gdLst>
                <a:gd name="T0" fmla="*/ 111 w 142"/>
                <a:gd name="T1" fmla="*/ 0 h 142"/>
                <a:gd name="T2" fmla="*/ 0 w 142"/>
                <a:gd name="T3" fmla="*/ 111 h 142"/>
                <a:gd name="T4" fmla="*/ 31 w 142"/>
                <a:gd name="T5" fmla="*/ 142 h 142"/>
                <a:gd name="T6" fmla="*/ 142 w 142"/>
                <a:gd name="T7" fmla="*/ 31 h 142"/>
                <a:gd name="T8" fmla="*/ 111 w 142"/>
                <a:gd name="T9" fmla="*/ 0 h 142"/>
              </a:gdLst>
              <a:ahLst/>
              <a:cxnLst>
                <a:cxn ang="0">
                  <a:pos x="T0" y="T1"/>
                </a:cxn>
                <a:cxn ang="0">
                  <a:pos x="T2" y="T3"/>
                </a:cxn>
                <a:cxn ang="0">
                  <a:pos x="T4" y="T5"/>
                </a:cxn>
                <a:cxn ang="0">
                  <a:pos x="T6" y="T7"/>
                </a:cxn>
                <a:cxn ang="0">
                  <a:pos x="T8" y="T9"/>
                </a:cxn>
              </a:cxnLst>
              <a:rect l="0" t="0" r="r" b="b"/>
              <a:pathLst>
                <a:path w="142" h="142">
                  <a:moveTo>
                    <a:pt x="111" y="0"/>
                  </a:moveTo>
                  <a:lnTo>
                    <a:pt x="0" y="111"/>
                  </a:lnTo>
                  <a:lnTo>
                    <a:pt x="31" y="142"/>
                  </a:lnTo>
                  <a:lnTo>
                    <a:pt x="142" y="31"/>
                  </a:lnTo>
                  <a:lnTo>
                    <a:pt x="111" y="0"/>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Freeform 14"/>
            <p:cNvSpPr>
              <a:spLocks/>
            </p:cNvSpPr>
            <p:nvPr/>
          </p:nvSpPr>
          <p:spPr bwMode="auto">
            <a:xfrm>
              <a:off x="-1182688" y="-1243013"/>
              <a:ext cx="74613" cy="79375"/>
            </a:xfrm>
            <a:custGeom>
              <a:avLst/>
              <a:gdLst>
                <a:gd name="T0" fmla="*/ 14 w 20"/>
                <a:gd name="T1" fmla="*/ 3 h 21"/>
                <a:gd name="T2" fmla="*/ 4 w 20"/>
                <a:gd name="T3" fmla="*/ 3 h 21"/>
                <a:gd name="T4" fmla="*/ 0 w 20"/>
                <a:gd name="T5" fmla="*/ 8 h 21"/>
                <a:gd name="T6" fmla="*/ 0 w 20"/>
                <a:gd name="T7" fmla="*/ 8 h 21"/>
                <a:gd name="T8" fmla="*/ 5 w 20"/>
                <a:gd name="T9" fmla="*/ 13 h 21"/>
                <a:gd name="T10" fmla="*/ 8 w 20"/>
                <a:gd name="T11" fmla="*/ 16 h 21"/>
                <a:gd name="T12" fmla="*/ 12 w 20"/>
                <a:gd name="T13" fmla="*/ 21 h 21"/>
                <a:gd name="T14" fmla="*/ 13 w 20"/>
                <a:gd name="T15" fmla="*/ 20 h 21"/>
                <a:gd name="T16" fmla="*/ 18 w 20"/>
                <a:gd name="T17" fmla="*/ 16 h 21"/>
                <a:gd name="T18" fmla="*/ 18 w 20"/>
                <a:gd name="T19" fmla="*/ 7 h 21"/>
                <a:gd name="T20" fmla="*/ 14 w 20"/>
                <a:gd name="T21" fmla="*/ 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1">
                  <a:moveTo>
                    <a:pt x="14" y="3"/>
                  </a:moveTo>
                  <a:cubicBezTo>
                    <a:pt x="11" y="0"/>
                    <a:pt x="7" y="0"/>
                    <a:pt x="4" y="3"/>
                  </a:cubicBezTo>
                  <a:cubicBezTo>
                    <a:pt x="2" y="5"/>
                    <a:pt x="0" y="7"/>
                    <a:pt x="0" y="8"/>
                  </a:cubicBezTo>
                  <a:cubicBezTo>
                    <a:pt x="0" y="8"/>
                    <a:pt x="0" y="8"/>
                    <a:pt x="0" y="8"/>
                  </a:cubicBezTo>
                  <a:cubicBezTo>
                    <a:pt x="0" y="8"/>
                    <a:pt x="2" y="10"/>
                    <a:pt x="5" y="13"/>
                  </a:cubicBezTo>
                  <a:cubicBezTo>
                    <a:pt x="8" y="16"/>
                    <a:pt x="8" y="16"/>
                    <a:pt x="8" y="16"/>
                  </a:cubicBezTo>
                  <a:cubicBezTo>
                    <a:pt x="10" y="18"/>
                    <a:pt x="12" y="20"/>
                    <a:pt x="12" y="21"/>
                  </a:cubicBezTo>
                  <a:cubicBezTo>
                    <a:pt x="13" y="21"/>
                    <a:pt x="13" y="21"/>
                    <a:pt x="13" y="20"/>
                  </a:cubicBezTo>
                  <a:cubicBezTo>
                    <a:pt x="13" y="20"/>
                    <a:pt x="15" y="18"/>
                    <a:pt x="18" y="16"/>
                  </a:cubicBezTo>
                  <a:cubicBezTo>
                    <a:pt x="20" y="13"/>
                    <a:pt x="20" y="9"/>
                    <a:pt x="18" y="7"/>
                  </a:cubicBezTo>
                  <a:lnTo>
                    <a:pt x="14" y="3"/>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4" name="Line 15"/>
            <p:cNvSpPr>
              <a:spLocks noChangeShapeType="1"/>
            </p:cNvSpPr>
            <p:nvPr/>
          </p:nvSpPr>
          <p:spPr bwMode="auto">
            <a:xfrm>
              <a:off x="-1208088" y="-1185863"/>
              <a:ext cx="47625" cy="49213"/>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Freeform 16"/>
            <p:cNvSpPr>
              <a:spLocks/>
            </p:cNvSpPr>
            <p:nvPr/>
          </p:nvSpPr>
          <p:spPr bwMode="auto">
            <a:xfrm>
              <a:off x="-1395413" y="-1036638"/>
              <a:ext cx="85725" cy="82550"/>
            </a:xfrm>
            <a:custGeom>
              <a:avLst/>
              <a:gdLst>
                <a:gd name="T0" fmla="*/ 23 w 54"/>
                <a:gd name="T1" fmla="*/ 0 h 52"/>
                <a:gd name="T2" fmla="*/ 0 w 54"/>
                <a:gd name="T3" fmla="*/ 52 h 52"/>
                <a:gd name="T4" fmla="*/ 0 w 54"/>
                <a:gd name="T5" fmla="*/ 52 h 52"/>
                <a:gd name="T6" fmla="*/ 54 w 54"/>
                <a:gd name="T7" fmla="*/ 29 h 52"/>
              </a:gdLst>
              <a:ahLst/>
              <a:cxnLst>
                <a:cxn ang="0">
                  <a:pos x="T0" y="T1"/>
                </a:cxn>
                <a:cxn ang="0">
                  <a:pos x="T2" y="T3"/>
                </a:cxn>
                <a:cxn ang="0">
                  <a:pos x="T4" y="T5"/>
                </a:cxn>
                <a:cxn ang="0">
                  <a:pos x="T6" y="T7"/>
                </a:cxn>
              </a:cxnLst>
              <a:rect l="0" t="0" r="r" b="b"/>
              <a:pathLst>
                <a:path w="54" h="52">
                  <a:moveTo>
                    <a:pt x="23" y="0"/>
                  </a:moveTo>
                  <a:lnTo>
                    <a:pt x="0" y="52"/>
                  </a:lnTo>
                  <a:lnTo>
                    <a:pt x="0" y="52"/>
                  </a:lnTo>
                  <a:lnTo>
                    <a:pt x="54" y="29"/>
                  </a:ln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pic>
        <p:nvPicPr>
          <p:cNvPr id="2" name="图片 1">
            <a:extLst>
              <a:ext uri="{FF2B5EF4-FFF2-40B4-BE49-F238E27FC236}">
                <a16:creationId xmlns:a16="http://schemas.microsoft.com/office/drawing/2014/main" id="{8113A6BE-E307-C161-9DB8-C0EA09AB35AA}"/>
              </a:ext>
            </a:extLst>
          </p:cNvPr>
          <p:cNvPicPr>
            <a:picLocks noChangeAspect="1"/>
          </p:cNvPicPr>
          <p:nvPr/>
        </p:nvPicPr>
        <p:blipFill>
          <a:blip r:embed="rId2"/>
          <a:stretch>
            <a:fillRect/>
          </a:stretch>
        </p:blipFill>
        <p:spPr>
          <a:xfrm>
            <a:off x="4398103" y="2563890"/>
            <a:ext cx="4342187" cy="2338779"/>
          </a:xfrm>
          <a:prstGeom prst="rect">
            <a:avLst/>
          </a:prstGeom>
        </p:spPr>
      </p:pic>
      <p:pic>
        <p:nvPicPr>
          <p:cNvPr id="3" name="图片 2">
            <a:extLst>
              <a:ext uri="{FF2B5EF4-FFF2-40B4-BE49-F238E27FC236}">
                <a16:creationId xmlns:a16="http://schemas.microsoft.com/office/drawing/2014/main" id="{D6CDDB30-D41B-73F3-DF8E-F4CD529D2E21}"/>
              </a:ext>
            </a:extLst>
          </p:cNvPr>
          <p:cNvPicPr>
            <a:picLocks noChangeAspect="1"/>
          </p:cNvPicPr>
          <p:nvPr/>
        </p:nvPicPr>
        <p:blipFill>
          <a:blip r:embed="rId3"/>
          <a:stretch>
            <a:fillRect/>
          </a:stretch>
        </p:blipFill>
        <p:spPr>
          <a:xfrm>
            <a:off x="4396897" y="1263786"/>
            <a:ext cx="4342187" cy="1014942"/>
          </a:xfrm>
          <a:prstGeom prst="rect">
            <a:avLst/>
          </a:prstGeom>
        </p:spPr>
      </p:pic>
    </p:spTree>
    <p:extLst>
      <p:ext uri="{BB962C8B-B14F-4D97-AF65-F5344CB8AC3E}">
        <p14:creationId xmlns:p14="http://schemas.microsoft.com/office/powerpoint/2010/main" val="458157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35"/>
          <p:cNvSpPr>
            <a:spLocks noChangeArrowheads="1"/>
          </p:cNvSpPr>
          <p:nvPr/>
        </p:nvSpPr>
        <p:spPr bwMode="auto">
          <a:xfrm>
            <a:off x="2609443" y="1826957"/>
            <a:ext cx="6534557" cy="1515190"/>
          </a:xfrm>
          <a:custGeom>
            <a:avLst/>
            <a:gdLst/>
            <a:ahLst/>
            <a:cxnLst/>
            <a:rect l="l" t="t" r="r" b="b"/>
            <a:pathLst>
              <a:path w="6534557" h="1515190">
                <a:moveTo>
                  <a:pt x="756065" y="0"/>
                </a:moveTo>
                <a:lnTo>
                  <a:pt x="6534557" y="0"/>
                </a:lnTo>
                <a:lnTo>
                  <a:pt x="6534557" y="1515190"/>
                </a:lnTo>
                <a:lnTo>
                  <a:pt x="756065" y="1515190"/>
                </a:lnTo>
                <a:cubicBezTo>
                  <a:pt x="338502" y="1515190"/>
                  <a:pt x="0" y="1176003"/>
                  <a:pt x="0" y="757595"/>
                </a:cubicBezTo>
                <a:cubicBezTo>
                  <a:pt x="0" y="339187"/>
                  <a:pt x="338502" y="0"/>
                  <a:pt x="756065" y="0"/>
                </a:cubicBezTo>
                <a:close/>
              </a:path>
            </a:pathLst>
          </a:custGeom>
          <a:solidFill>
            <a:schemeClr val="accent2"/>
          </a:solidFill>
          <a:ln>
            <a:noFill/>
          </a:ln>
        </p:spPr>
        <p:txBody>
          <a:bodyPr/>
          <a:lstStyle/>
          <a:p>
            <a:endParaRPr lang="zh-CN" altLang="en-US"/>
          </a:p>
        </p:txBody>
      </p:sp>
      <p:sp>
        <p:nvSpPr>
          <p:cNvPr id="5155" name="Oval 35"/>
          <p:cNvSpPr>
            <a:spLocks noChangeArrowheads="1"/>
          </p:cNvSpPr>
          <p:nvPr/>
        </p:nvSpPr>
        <p:spPr bwMode="auto">
          <a:xfrm>
            <a:off x="2725702" y="1943451"/>
            <a:ext cx="1279612" cy="1282202"/>
          </a:xfrm>
          <a:prstGeom prst="ellipse">
            <a:avLst/>
          </a:prstGeom>
          <a:solidFill>
            <a:schemeClr val="accent1"/>
          </a:solidFill>
          <a:ln>
            <a:noFill/>
          </a:ln>
        </p:spPr>
        <p:txBody>
          <a:bodyPr/>
          <a:lstStyle/>
          <a:p>
            <a:endParaRPr lang="zh-CN" altLang="en-US"/>
          </a:p>
        </p:txBody>
      </p:sp>
      <p:sp>
        <p:nvSpPr>
          <p:cNvPr id="12" name="矩形 11"/>
          <p:cNvSpPr/>
          <p:nvPr/>
        </p:nvSpPr>
        <p:spPr>
          <a:xfrm>
            <a:off x="4575597" y="2338675"/>
            <a:ext cx="870751" cy="988476"/>
          </a:xfrm>
          <a:prstGeom prst="rect">
            <a:avLst/>
          </a:prstGeom>
        </p:spPr>
        <p:txBody>
          <a:bodyPr wrap="none">
            <a:spAutoFit/>
          </a:bodyPr>
          <a:lstStyle/>
          <a:p>
            <a:pPr marL="171450" indent="-171450">
              <a:lnSpc>
                <a:spcPct val="150000"/>
              </a:lnSpc>
              <a:buFont typeface="Wingdings" pitchFamily="2" charset="2"/>
              <a:buChar char="l"/>
            </a:pPr>
            <a:r>
              <a:rPr lang="en-US" altLang="zh-CN" sz="1000" dirty="0">
                <a:ln w="6350">
                  <a:noFill/>
                </a:ln>
                <a:solidFill>
                  <a:schemeClr val="bg1"/>
                </a:solidFill>
                <a:latin typeface="微软雅黑" pitchFamily="34" charset="-122"/>
                <a:ea typeface="微软雅黑" pitchFamily="34" charset="-122"/>
              </a:rPr>
              <a:t>Jenkins</a:t>
            </a:r>
            <a:endParaRPr lang="zh-CN" altLang="en-US" sz="1000" dirty="0">
              <a:ln w="6350">
                <a:noFill/>
              </a:ln>
              <a:solidFill>
                <a:schemeClr val="bg1"/>
              </a:solidFill>
              <a:latin typeface="微软雅黑" pitchFamily="34" charset="-122"/>
              <a:ea typeface="微软雅黑" pitchFamily="34" charset="-122"/>
            </a:endParaRPr>
          </a:p>
          <a:p>
            <a:pPr marL="171450" indent="-171450">
              <a:lnSpc>
                <a:spcPct val="150000"/>
              </a:lnSpc>
              <a:buFont typeface="Wingdings" pitchFamily="2" charset="2"/>
              <a:buChar char="l"/>
            </a:pPr>
            <a:r>
              <a:rPr lang="en-US" altLang="zh-CN" sz="1000" dirty="0">
                <a:ln w="6350">
                  <a:noFill/>
                </a:ln>
                <a:solidFill>
                  <a:schemeClr val="bg1"/>
                </a:solidFill>
                <a:latin typeface="微软雅黑" pitchFamily="34" charset="-122"/>
                <a:ea typeface="微软雅黑" pitchFamily="34" charset="-122"/>
              </a:rPr>
              <a:t>Gitlab</a:t>
            </a:r>
          </a:p>
          <a:p>
            <a:pPr marL="171450" indent="-171450">
              <a:lnSpc>
                <a:spcPct val="150000"/>
              </a:lnSpc>
              <a:buFont typeface="Wingdings" pitchFamily="2" charset="2"/>
              <a:buChar char="l"/>
            </a:pPr>
            <a:r>
              <a:rPr lang="zh-CN" altLang="en-US" sz="1000" dirty="0">
                <a:ln w="6350">
                  <a:noFill/>
                </a:ln>
                <a:solidFill>
                  <a:schemeClr val="bg1"/>
                </a:solidFill>
                <a:latin typeface="微软雅黑" pitchFamily="34" charset="-122"/>
                <a:ea typeface="微软雅黑" pitchFamily="34" charset="-122"/>
              </a:rPr>
              <a:t>构建过程</a:t>
            </a:r>
          </a:p>
          <a:p>
            <a:pPr marL="171450" indent="-171450">
              <a:lnSpc>
                <a:spcPct val="150000"/>
              </a:lnSpc>
              <a:buFont typeface="Wingdings" pitchFamily="2" charset="2"/>
              <a:buChar char="l"/>
            </a:pPr>
            <a:r>
              <a:rPr lang="zh-CN" altLang="en-US" sz="1000" dirty="0">
                <a:ln w="6350">
                  <a:noFill/>
                </a:ln>
                <a:solidFill>
                  <a:schemeClr val="bg1"/>
                </a:solidFill>
                <a:latin typeface="微软雅黑" pitchFamily="34" charset="-122"/>
                <a:ea typeface="微软雅黑" pitchFamily="34" charset="-122"/>
              </a:rPr>
              <a:t>成果展示</a:t>
            </a:r>
          </a:p>
        </p:txBody>
      </p:sp>
      <p:sp>
        <p:nvSpPr>
          <p:cNvPr id="13" name="矩形 12"/>
          <p:cNvSpPr/>
          <p:nvPr/>
        </p:nvSpPr>
        <p:spPr>
          <a:xfrm>
            <a:off x="4572558" y="2023294"/>
            <a:ext cx="2951770" cy="400110"/>
          </a:xfrm>
          <a:prstGeom prst="rect">
            <a:avLst/>
          </a:prstGeom>
        </p:spPr>
        <p:txBody>
          <a:bodyPr wrap="square">
            <a:spAutoFit/>
          </a:bodyPr>
          <a:lstStyle/>
          <a:p>
            <a:r>
              <a:rPr lang="zh-CN" altLang="en-US" sz="2000" b="1" dirty="0">
                <a:ln w="6350">
                  <a:noFill/>
                </a:ln>
                <a:solidFill>
                  <a:schemeClr val="bg1"/>
                </a:solidFill>
                <a:latin typeface="微软雅黑" pitchFamily="34" charset="-122"/>
                <a:ea typeface="微软雅黑" pitchFamily="34" charset="-122"/>
              </a:rPr>
              <a:t>构建</a:t>
            </a:r>
            <a:r>
              <a:rPr lang="en-US" altLang="zh-CN" sz="2000" b="1" dirty="0">
                <a:ln w="6350">
                  <a:noFill/>
                </a:ln>
                <a:solidFill>
                  <a:schemeClr val="bg1"/>
                </a:solidFill>
                <a:latin typeface="微软雅黑" pitchFamily="34" charset="-122"/>
                <a:ea typeface="微软雅黑" pitchFamily="34" charset="-122"/>
              </a:rPr>
              <a:t>CI/CD</a:t>
            </a:r>
            <a:endParaRPr lang="zh-CN" altLang="en-US" sz="2000" b="1" dirty="0">
              <a:ln w="6350">
                <a:noFill/>
              </a:ln>
              <a:solidFill>
                <a:schemeClr val="bg1"/>
              </a:solidFill>
              <a:latin typeface="微软雅黑" pitchFamily="34" charset="-122"/>
              <a:ea typeface="微软雅黑" pitchFamily="34" charset="-122"/>
            </a:endParaRPr>
          </a:p>
        </p:txBody>
      </p:sp>
      <p:sp>
        <p:nvSpPr>
          <p:cNvPr id="9" name="Freeform 6"/>
          <p:cNvSpPr>
            <a:spLocks/>
          </p:cNvSpPr>
          <p:nvPr/>
        </p:nvSpPr>
        <p:spPr bwMode="auto">
          <a:xfrm>
            <a:off x="3031031" y="2253333"/>
            <a:ext cx="668953" cy="636834"/>
          </a:xfrm>
          <a:custGeom>
            <a:avLst/>
            <a:gdLst>
              <a:gd name="T0" fmla="*/ 102 w 203"/>
              <a:gd name="T1" fmla="*/ 150 h 193"/>
              <a:gd name="T2" fmla="*/ 100 w 203"/>
              <a:gd name="T3" fmla="*/ 150 h 193"/>
              <a:gd name="T4" fmla="*/ 48 w 203"/>
              <a:gd name="T5" fmla="*/ 188 h 193"/>
              <a:gd name="T6" fmla="*/ 40 w 203"/>
              <a:gd name="T7" fmla="*/ 182 h 193"/>
              <a:gd name="T8" fmla="*/ 59 w 203"/>
              <a:gd name="T9" fmla="*/ 121 h 193"/>
              <a:gd name="T10" fmla="*/ 59 w 203"/>
              <a:gd name="T11" fmla="*/ 119 h 193"/>
              <a:gd name="T12" fmla="*/ 7 w 203"/>
              <a:gd name="T13" fmla="*/ 77 h 193"/>
              <a:gd name="T14" fmla="*/ 10 w 203"/>
              <a:gd name="T15" fmla="*/ 67 h 193"/>
              <a:gd name="T16" fmla="*/ 74 w 203"/>
              <a:gd name="T17" fmla="*/ 67 h 193"/>
              <a:gd name="T18" fmla="*/ 76 w 203"/>
              <a:gd name="T19" fmla="*/ 65 h 193"/>
              <a:gd name="T20" fmla="*/ 97 w 203"/>
              <a:gd name="T21" fmla="*/ 8 h 193"/>
              <a:gd name="T22" fmla="*/ 106 w 203"/>
              <a:gd name="T23" fmla="*/ 8 h 193"/>
              <a:gd name="T24" fmla="*/ 127 w 203"/>
              <a:gd name="T25" fmla="*/ 66 h 193"/>
              <a:gd name="T26" fmla="*/ 129 w 203"/>
              <a:gd name="T27" fmla="*/ 67 h 193"/>
              <a:gd name="T28" fmla="*/ 193 w 203"/>
              <a:gd name="T29" fmla="*/ 67 h 193"/>
              <a:gd name="T30" fmla="*/ 196 w 203"/>
              <a:gd name="T31" fmla="*/ 77 h 193"/>
              <a:gd name="T32" fmla="*/ 144 w 203"/>
              <a:gd name="T33" fmla="*/ 119 h 193"/>
              <a:gd name="T34" fmla="*/ 143 w 203"/>
              <a:gd name="T35" fmla="*/ 121 h 193"/>
              <a:gd name="T36" fmla="*/ 163 w 203"/>
              <a:gd name="T37" fmla="*/ 182 h 193"/>
              <a:gd name="T38" fmla="*/ 155 w 203"/>
              <a:gd name="T39" fmla="*/ 188 h 193"/>
              <a:gd name="T40" fmla="*/ 102 w 203"/>
              <a:gd name="T41" fmla="*/ 15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3" h="193">
                <a:moveTo>
                  <a:pt x="102" y="150"/>
                </a:moveTo>
                <a:cubicBezTo>
                  <a:pt x="102" y="150"/>
                  <a:pt x="101" y="150"/>
                  <a:pt x="100" y="150"/>
                </a:cubicBezTo>
                <a:cubicBezTo>
                  <a:pt x="100" y="151"/>
                  <a:pt x="48" y="188"/>
                  <a:pt x="48" y="188"/>
                </a:cubicBezTo>
                <a:cubicBezTo>
                  <a:pt x="41" y="193"/>
                  <a:pt x="37" y="190"/>
                  <a:pt x="40" y="182"/>
                </a:cubicBezTo>
                <a:cubicBezTo>
                  <a:pt x="40" y="182"/>
                  <a:pt x="59" y="121"/>
                  <a:pt x="59" y="121"/>
                </a:cubicBezTo>
                <a:cubicBezTo>
                  <a:pt x="60" y="120"/>
                  <a:pt x="59" y="119"/>
                  <a:pt x="59" y="119"/>
                </a:cubicBezTo>
                <a:cubicBezTo>
                  <a:pt x="58" y="118"/>
                  <a:pt x="7" y="77"/>
                  <a:pt x="7" y="77"/>
                </a:cubicBezTo>
                <a:cubicBezTo>
                  <a:pt x="0" y="72"/>
                  <a:pt x="1" y="67"/>
                  <a:pt x="10" y="67"/>
                </a:cubicBezTo>
                <a:cubicBezTo>
                  <a:pt x="10" y="67"/>
                  <a:pt x="73" y="67"/>
                  <a:pt x="74" y="67"/>
                </a:cubicBezTo>
                <a:cubicBezTo>
                  <a:pt x="75" y="67"/>
                  <a:pt x="76" y="67"/>
                  <a:pt x="76" y="65"/>
                </a:cubicBezTo>
                <a:cubicBezTo>
                  <a:pt x="77" y="64"/>
                  <a:pt x="97" y="8"/>
                  <a:pt x="97" y="8"/>
                </a:cubicBezTo>
                <a:cubicBezTo>
                  <a:pt x="99" y="0"/>
                  <a:pt x="104" y="0"/>
                  <a:pt x="106" y="8"/>
                </a:cubicBezTo>
                <a:cubicBezTo>
                  <a:pt x="106" y="8"/>
                  <a:pt x="126" y="65"/>
                  <a:pt x="127" y="66"/>
                </a:cubicBezTo>
                <a:cubicBezTo>
                  <a:pt x="127" y="67"/>
                  <a:pt x="128" y="67"/>
                  <a:pt x="129" y="67"/>
                </a:cubicBezTo>
                <a:cubicBezTo>
                  <a:pt x="129" y="67"/>
                  <a:pt x="193" y="67"/>
                  <a:pt x="193" y="67"/>
                </a:cubicBezTo>
                <a:cubicBezTo>
                  <a:pt x="202" y="67"/>
                  <a:pt x="203" y="72"/>
                  <a:pt x="196" y="77"/>
                </a:cubicBezTo>
                <a:cubicBezTo>
                  <a:pt x="196" y="77"/>
                  <a:pt x="145" y="118"/>
                  <a:pt x="144" y="119"/>
                </a:cubicBezTo>
                <a:cubicBezTo>
                  <a:pt x="143" y="119"/>
                  <a:pt x="143" y="120"/>
                  <a:pt x="143" y="121"/>
                </a:cubicBezTo>
                <a:cubicBezTo>
                  <a:pt x="144" y="121"/>
                  <a:pt x="163" y="182"/>
                  <a:pt x="163" y="182"/>
                </a:cubicBezTo>
                <a:cubicBezTo>
                  <a:pt x="165" y="190"/>
                  <a:pt x="162" y="193"/>
                  <a:pt x="155" y="188"/>
                </a:cubicBezTo>
                <a:cubicBezTo>
                  <a:pt x="155" y="188"/>
                  <a:pt x="103" y="151"/>
                  <a:pt x="102" y="150"/>
                </a:cubicBez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69273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1" name="Oval 13"/>
          <p:cNvSpPr>
            <a:spLocks noChangeArrowheads="1"/>
          </p:cNvSpPr>
          <p:nvPr/>
        </p:nvSpPr>
        <p:spPr bwMode="auto">
          <a:xfrm>
            <a:off x="4857750" y="1743024"/>
            <a:ext cx="546100" cy="543093"/>
          </a:xfrm>
          <a:prstGeom prst="ellipse">
            <a:avLst/>
          </a:prstGeom>
          <a:solidFill>
            <a:schemeClr val="accent2"/>
          </a:solidFill>
          <a:ln>
            <a:noFill/>
          </a:ln>
        </p:spPr>
        <p:txBody>
          <a:bodyPr/>
          <a:lstStyle/>
          <a:p>
            <a:endParaRPr lang="zh-CN" altLang="en-US">
              <a:solidFill>
                <a:schemeClr val="bg1">
                  <a:lumMod val="50000"/>
                </a:schemeClr>
              </a:solidFill>
            </a:endParaRPr>
          </a:p>
        </p:txBody>
      </p:sp>
      <p:sp>
        <p:nvSpPr>
          <p:cNvPr id="32785" name="Oval 17"/>
          <p:cNvSpPr>
            <a:spLocks noChangeArrowheads="1"/>
          </p:cNvSpPr>
          <p:nvPr/>
        </p:nvSpPr>
        <p:spPr bwMode="auto">
          <a:xfrm>
            <a:off x="4859338" y="2678349"/>
            <a:ext cx="546100" cy="543093"/>
          </a:xfrm>
          <a:prstGeom prst="ellipse">
            <a:avLst/>
          </a:prstGeom>
          <a:solidFill>
            <a:schemeClr val="accent1">
              <a:lumMod val="75000"/>
            </a:schemeClr>
          </a:solidFill>
          <a:ln>
            <a:noFill/>
          </a:ln>
        </p:spPr>
        <p:txBody>
          <a:bodyPr/>
          <a:lstStyle/>
          <a:p>
            <a:endParaRPr lang="zh-CN" altLang="en-US">
              <a:solidFill>
                <a:schemeClr val="bg1">
                  <a:lumMod val="50000"/>
                </a:schemeClr>
              </a:solidFill>
            </a:endParaRPr>
          </a:p>
        </p:txBody>
      </p:sp>
      <p:sp>
        <p:nvSpPr>
          <p:cNvPr id="32790" name="Oval 22"/>
          <p:cNvSpPr>
            <a:spLocks noChangeArrowheads="1"/>
          </p:cNvSpPr>
          <p:nvPr/>
        </p:nvSpPr>
        <p:spPr bwMode="auto">
          <a:xfrm>
            <a:off x="4859338" y="3602559"/>
            <a:ext cx="546100" cy="543093"/>
          </a:xfrm>
          <a:prstGeom prst="ellipse">
            <a:avLst/>
          </a:prstGeom>
          <a:solidFill>
            <a:schemeClr val="accent1"/>
          </a:solidFill>
          <a:ln>
            <a:noFill/>
          </a:ln>
        </p:spPr>
        <p:txBody>
          <a:bodyPr/>
          <a:lstStyle/>
          <a:p>
            <a:endParaRPr lang="zh-CN" altLang="en-US">
              <a:solidFill>
                <a:schemeClr val="bg1">
                  <a:lumMod val="50000"/>
                </a:schemeClr>
              </a:solidFill>
            </a:endParaRPr>
          </a:p>
        </p:txBody>
      </p:sp>
      <p:sp>
        <p:nvSpPr>
          <p:cNvPr id="32796" name="Rectangle 28"/>
          <p:cNvSpPr>
            <a:spLocks noChangeArrowheads="1"/>
          </p:cNvSpPr>
          <p:nvPr/>
        </p:nvSpPr>
        <p:spPr bwMode="auto">
          <a:xfrm>
            <a:off x="5564188" y="1755727"/>
            <a:ext cx="2951162" cy="84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buFont typeface="Arial" charset="0"/>
              <a:buNone/>
            </a:pPr>
            <a:r>
              <a:rPr lang="en-US" altLang="zh-CN" sz="1100" b="1" dirty="0">
                <a:solidFill>
                  <a:schemeClr val="bg1">
                    <a:lumMod val="50000"/>
                  </a:schemeClr>
                </a:solidFill>
              </a:rPr>
              <a:t>Jenkins </a:t>
            </a:r>
            <a:r>
              <a:rPr lang="zh-CN" altLang="en-US" sz="1100" b="1" dirty="0">
                <a:solidFill>
                  <a:schemeClr val="bg1">
                    <a:lumMod val="50000"/>
                  </a:schemeClr>
                </a:solidFill>
              </a:rPr>
              <a:t>是一个用 </a:t>
            </a:r>
            <a:r>
              <a:rPr lang="en-US" altLang="zh-CN" sz="1100" b="1" dirty="0">
                <a:solidFill>
                  <a:schemeClr val="bg1">
                    <a:lumMod val="50000"/>
                  </a:schemeClr>
                </a:solidFill>
              </a:rPr>
              <a:t>Java </a:t>
            </a:r>
            <a:r>
              <a:rPr lang="zh-CN" altLang="en-US" sz="1100" b="1" dirty="0">
                <a:solidFill>
                  <a:schemeClr val="bg1">
                    <a:lumMod val="50000"/>
                  </a:schemeClr>
                </a:solidFill>
              </a:rPr>
              <a:t>编写的开源自动化工具，带有用于持续集成的插件。</a:t>
            </a:r>
            <a:r>
              <a:rPr lang="en-US" altLang="zh-CN" sz="1100" b="1" dirty="0">
                <a:solidFill>
                  <a:schemeClr val="bg1">
                    <a:lumMod val="50000"/>
                  </a:schemeClr>
                </a:solidFill>
              </a:rPr>
              <a:t>Jenkins </a:t>
            </a:r>
            <a:r>
              <a:rPr lang="zh-CN" altLang="en-US" sz="1100" b="1" dirty="0">
                <a:solidFill>
                  <a:schemeClr val="bg1">
                    <a:lumMod val="50000"/>
                  </a:schemeClr>
                </a:solidFill>
              </a:rPr>
              <a:t>用于持续构建和测试您的软件项目，从而使开发人员更容易将更改集成到项目中，并使用户更容易获得新的构建。</a:t>
            </a:r>
            <a:endParaRPr lang="zh-CN" altLang="en-US" sz="1100" dirty="0">
              <a:solidFill>
                <a:schemeClr val="bg1">
                  <a:lumMod val="50000"/>
                </a:schemeClr>
              </a:solidFill>
            </a:endParaRPr>
          </a:p>
        </p:txBody>
      </p:sp>
      <p:sp>
        <p:nvSpPr>
          <p:cNvPr id="32797" name="Rectangle 29"/>
          <p:cNvSpPr>
            <a:spLocks noChangeArrowheads="1"/>
          </p:cNvSpPr>
          <p:nvPr/>
        </p:nvSpPr>
        <p:spPr bwMode="auto">
          <a:xfrm>
            <a:off x="5564188" y="2676761"/>
            <a:ext cx="2951162"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buFont typeface="Arial" charset="0"/>
              <a:buNone/>
            </a:pPr>
            <a:r>
              <a:rPr lang="zh-CN" altLang="en-US" sz="1100" b="1" dirty="0">
                <a:solidFill>
                  <a:schemeClr val="bg1">
                    <a:lumMod val="50000"/>
                  </a:schemeClr>
                </a:solidFill>
              </a:rPr>
              <a:t>借助 </a:t>
            </a:r>
            <a:r>
              <a:rPr lang="en-US" altLang="zh-CN" sz="1100" b="1" dirty="0">
                <a:solidFill>
                  <a:schemeClr val="bg1">
                    <a:lumMod val="50000"/>
                  </a:schemeClr>
                </a:solidFill>
              </a:rPr>
              <a:t>Jenkins</a:t>
            </a:r>
            <a:r>
              <a:rPr lang="zh-CN" altLang="en-US" sz="1100" b="1" dirty="0">
                <a:solidFill>
                  <a:schemeClr val="bg1">
                    <a:lumMod val="50000"/>
                  </a:schemeClr>
                </a:solidFill>
              </a:rPr>
              <a:t>，组织可以通过自动化来加速软件开发过程。</a:t>
            </a:r>
            <a:r>
              <a:rPr lang="en-US" altLang="zh-CN" sz="1100" b="1" dirty="0">
                <a:solidFill>
                  <a:schemeClr val="bg1">
                    <a:lumMod val="50000"/>
                  </a:schemeClr>
                </a:solidFill>
              </a:rPr>
              <a:t>Jenkins </a:t>
            </a:r>
            <a:r>
              <a:rPr lang="zh-CN" altLang="en-US" sz="1100" b="1" dirty="0">
                <a:solidFill>
                  <a:schemeClr val="bg1">
                    <a:lumMod val="50000"/>
                  </a:schemeClr>
                </a:solidFill>
              </a:rPr>
              <a:t>集成了各种开发生命周期过程，包括构建、文档、测试、打包、模拟、部署、静态分析等等。</a:t>
            </a:r>
            <a:endParaRPr lang="zh-CN" altLang="en-US" sz="1100" dirty="0">
              <a:solidFill>
                <a:schemeClr val="bg1">
                  <a:lumMod val="50000"/>
                </a:schemeClr>
              </a:solidFill>
            </a:endParaRPr>
          </a:p>
        </p:txBody>
      </p:sp>
      <p:sp>
        <p:nvSpPr>
          <p:cNvPr id="32798" name="Rectangle 30"/>
          <p:cNvSpPr>
            <a:spLocks noChangeArrowheads="1"/>
          </p:cNvSpPr>
          <p:nvPr/>
        </p:nvSpPr>
        <p:spPr bwMode="auto">
          <a:xfrm>
            <a:off x="5564188" y="3610500"/>
            <a:ext cx="2951162"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buFont typeface="Arial" charset="0"/>
              <a:buNone/>
            </a:pPr>
            <a:r>
              <a:rPr lang="en-US" altLang="zh-CN" sz="1100" b="1" dirty="0">
                <a:solidFill>
                  <a:schemeClr val="bg1">
                    <a:lumMod val="50000"/>
                  </a:schemeClr>
                </a:solidFill>
              </a:rPr>
              <a:t>Jenkins </a:t>
            </a:r>
            <a:r>
              <a:rPr lang="zh-CN" altLang="en-US" sz="1100" b="1" dirty="0">
                <a:solidFill>
                  <a:schemeClr val="bg1">
                    <a:lumMod val="50000"/>
                  </a:schemeClr>
                </a:solidFill>
              </a:rPr>
              <a:t>借助插件实现了持续集成。插件允许集成各种 </a:t>
            </a:r>
            <a:r>
              <a:rPr lang="en-US" altLang="zh-CN" sz="1100" b="1" dirty="0">
                <a:solidFill>
                  <a:schemeClr val="bg1">
                    <a:lumMod val="50000"/>
                  </a:schemeClr>
                </a:solidFill>
              </a:rPr>
              <a:t>DevOps </a:t>
            </a:r>
            <a:r>
              <a:rPr lang="zh-CN" altLang="en-US" sz="1100" b="1" dirty="0">
                <a:solidFill>
                  <a:schemeClr val="bg1">
                    <a:lumMod val="50000"/>
                  </a:schemeClr>
                </a:solidFill>
              </a:rPr>
              <a:t>阶段。如果要集成特定工具，则需要安装该工具的插件。例如 </a:t>
            </a:r>
            <a:r>
              <a:rPr lang="en-US" altLang="zh-CN" sz="1100" b="1" dirty="0">
                <a:solidFill>
                  <a:schemeClr val="bg1">
                    <a:lumMod val="50000"/>
                  </a:schemeClr>
                </a:solidFill>
              </a:rPr>
              <a:t>Git</a:t>
            </a:r>
            <a:r>
              <a:rPr lang="zh-CN" altLang="en-US" sz="1100" b="1" dirty="0">
                <a:solidFill>
                  <a:schemeClr val="bg1">
                    <a:lumMod val="50000"/>
                  </a:schemeClr>
                </a:solidFill>
              </a:rPr>
              <a:t>、</a:t>
            </a:r>
            <a:r>
              <a:rPr lang="en-US" altLang="zh-CN" sz="1100" b="1" dirty="0">
                <a:solidFill>
                  <a:schemeClr val="bg1">
                    <a:lumMod val="50000"/>
                  </a:schemeClr>
                </a:solidFill>
              </a:rPr>
              <a:t>Maven 2 </a:t>
            </a:r>
            <a:r>
              <a:rPr lang="zh-CN" altLang="en-US" sz="1100" b="1" dirty="0">
                <a:solidFill>
                  <a:schemeClr val="bg1">
                    <a:lumMod val="50000"/>
                  </a:schemeClr>
                </a:solidFill>
              </a:rPr>
              <a:t>项目、</a:t>
            </a:r>
            <a:r>
              <a:rPr lang="en-US" altLang="zh-CN" sz="1100" b="1" dirty="0">
                <a:solidFill>
                  <a:schemeClr val="bg1">
                    <a:lumMod val="50000"/>
                  </a:schemeClr>
                </a:solidFill>
              </a:rPr>
              <a:t>Amazon EC2</a:t>
            </a:r>
            <a:r>
              <a:rPr lang="zh-CN" altLang="en-US" sz="1100" b="1" dirty="0">
                <a:solidFill>
                  <a:schemeClr val="bg1">
                    <a:lumMod val="50000"/>
                  </a:schemeClr>
                </a:solidFill>
              </a:rPr>
              <a:t>、</a:t>
            </a:r>
            <a:r>
              <a:rPr lang="en-US" altLang="zh-CN" sz="1100" b="1" dirty="0">
                <a:solidFill>
                  <a:schemeClr val="bg1">
                    <a:lumMod val="50000"/>
                  </a:schemeClr>
                </a:solidFill>
              </a:rPr>
              <a:t>HTML </a:t>
            </a:r>
            <a:r>
              <a:rPr lang="zh-CN" altLang="en-US" sz="1100" b="1" dirty="0">
                <a:solidFill>
                  <a:schemeClr val="bg1">
                    <a:lumMod val="50000"/>
                  </a:schemeClr>
                </a:solidFill>
              </a:rPr>
              <a:t>发布者等。</a:t>
            </a:r>
            <a:endParaRPr lang="zh-CN" altLang="en-US" sz="1100" dirty="0">
              <a:solidFill>
                <a:schemeClr val="bg1">
                  <a:lumMod val="50000"/>
                </a:schemeClr>
              </a:solidFill>
            </a:endParaRPr>
          </a:p>
        </p:txBody>
      </p:sp>
      <p:sp>
        <p:nvSpPr>
          <p:cNvPr id="24" name="Text Box 42"/>
          <p:cNvSpPr txBox="1">
            <a:spLocks noChangeArrowheads="1"/>
          </p:cNvSpPr>
          <p:nvPr/>
        </p:nvSpPr>
        <p:spPr bwMode="auto">
          <a:xfrm>
            <a:off x="3905791" y="290122"/>
            <a:ext cx="13324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 typeface="Arial" charset="0"/>
              <a:buNone/>
            </a:pPr>
            <a:r>
              <a:rPr lang="en-US" altLang="zh-CN" sz="2400" b="1" dirty="0">
                <a:solidFill>
                  <a:schemeClr val="accent1"/>
                </a:solidFill>
                <a:latin typeface="微软雅黑" pitchFamily="34" charset="-122"/>
                <a:ea typeface="微软雅黑" pitchFamily="34" charset="-122"/>
              </a:rPr>
              <a:t>Jenkins</a:t>
            </a:r>
          </a:p>
        </p:txBody>
      </p:sp>
      <p:cxnSp>
        <p:nvCxnSpPr>
          <p:cNvPr id="26" name="直接连接符 25"/>
          <p:cNvCxnSpPr/>
          <p:nvPr/>
        </p:nvCxnSpPr>
        <p:spPr>
          <a:xfrm>
            <a:off x="4226801" y="974973"/>
            <a:ext cx="690398"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6156" name="组合 6155"/>
          <p:cNvGrpSpPr/>
          <p:nvPr/>
        </p:nvGrpSpPr>
        <p:grpSpPr>
          <a:xfrm>
            <a:off x="5048769" y="2834349"/>
            <a:ext cx="170414" cy="231090"/>
            <a:chOff x="9774238" y="912813"/>
            <a:chExt cx="209551" cy="284163"/>
          </a:xfrm>
        </p:grpSpPr>
        <p:sp>
          <p:nvSpPr>
            <p:cNvPr id="20" name="Freeform 22"/>
            <p:cNvSpPr>
              <a:spLocks/>
            </p:cNvSpPr>
            <p:nvPr/>
          </p:nvSpPr>
          <p:spPr bwMode="auto">
            <a:xfrm>
              <a:off x="9893301" y="912813"/>
              <a:ext cx="90488" cy="90488"/>
            </a:xfrm>
            <a:custGeom>
              <a:avLst/>
              <a:gdLst>
                <a:gd name="T0" fmla="*/ 57 w 57"/>
                <a:gd name="T1" fmla="*/ 57 h 57"/>
                <a:gd name="T2" fmla="*/ 0 w 57"/>
                <a:gd name="T3" fmla="*/ 0 h 57"/>
                <a:gd name="T4" fmla="*/ 0 w 57"/>
                <a:gd name="T5" fmla="*/ 57 h 57"/>
                <a:gd name="T6" fmla="*/ 57 w 57"/>
                <a:gd name="T7" fmla="*/ 57 h 57"/>
              </a:gdLst>
              <a:ahLst/>
              <a:cxnLst>
                <a:cxn ang="0">
                  <a:pos x="T0" y="T1"/>
                </a:cxn>
                <a:cxn ang="0">
                  <a:pos x="T2" y="T3"/>
                </a:cxn>
                <a:cxn ang="0">
                  <a:pos x="T4" y="T5"/>
                </a:cxn>
                <a:cxn ang="0">
                  <a:pos x="T6" y="T7"/>
                </a:cxn>
              </a:cxnLst>
              <a:rect l="0" t="0" r="r" b="b"/>
              <a:pathLst>
                <a:path w="57" h="57">
                  <a:moveTo>
                    <a:pt x="57" y="57"/>
                  </a:moveTo>
                  <a:lnTo>
                    <a:pt x="0" y="0"/>
                  </a:lnTo>
                  <a:lnTo>
                    <a:pt x="0" y="57"/>
                  </a:lnTo>
                  <a:lnTo>
                    <a:pt x="57" y="57"/>
                  </a:lnTo>
                  <a:close/>
                </a:path>
              </a:pathLst>
            </a:custGeom>
            <a:noFill/>
            <a:ln w="12700" cap="rnd">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Freeform 23"/>
            <p:cNvSpPr>
              <a:spLocks/>
            </p:cNvSpPr>
            <p:nvPr/>
          </p:nvSpPr>
          <p:spPr bwMode="auto">
            <a:xfrm>
              <a:off x="9774238" y="912813"/>
              <a:ext cx="209550" cy="284163"/>
            </a:xfrm>
            <a:custGeom>
              <a:avLst/>
              <a:gdLst>
                <a:gd name="T0" fmla="*/ 75 w 132"/>
                <a:gd name="T1" fmla="*/ 0 h 179"/>
                <a:gd name="T2" fmla="*/ 0 w 132"/>
                <a:gd name="T3" fmla="*/ 0 h 179"/>
                <a:gd name="T4" fmla="*/ 0 w 132"/>
                <a:gd name="T5" fmla="*/ 179 h 179"/>
                <a:gd name="T6" fmla="*/ 132 w 132"/>
                <a:gd name="T7" fmla="*/ 179 h 179"/>
                <a:gd name="T8" fmla="*/ 132 w 132"/>
                <a:gd name="T9" fmla="*/ 57 h 179"/>
              </a:gdLst>
              <a:ahLst/>
              <a:cxnLst>
                <a:cxn ang="0">
                  <a:pos x="T0" y="T1"/>
                </a:cxn>
                <a:cxn ang="0">
                  <a:pos x="T2" y="T3"/>
                </a:cxn>
                <a:cxn ang="0">
                  <a:pos x="T4" y="T5"/>
                </a:cxn>
                <a:cxn ang="0">
                  <a:pos x="T6" y="T7"/>
                </a:cxn>
                <a:cxn ang="0">
                  <a:pos x="T8" y="T9"/>
                </a:cxn>
              </a:cxnLst>
              <a:rect l="0" t="0" r="r" b="b"/>
              <a:pathLst>
                <a:path w="132" h="179">
                  <a:moveTo>
                    <a:pt x="75" y="0"/>
                  </a:moveTo>
                  <a:lnTo>
                    <a:pt x="0" y="0"/>
                  </a:lnTo>
                  <a:lnTo>
                    <a:pt x="0" y="179"/>
                  </a:lnTo>
                  <a:lnTo>
                    <a:pt x="132" y="179"/>
                  </a:lnTo>
                  <a:lnTo>
                    <a:pt x="132" y="57"/>
                  </a:lnTo>
                </a:path>
              </a:pathLst>
            </a:custGeom>
            <a:noFill/>
            <a:ln w="12700" cap="rnd">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153" name="组合 6152"/>
          <p:cNvGrpSpPr/>
          <p:nvPr/>
        </p:nvGrpSpPr>
        <p:grpSpPr>
          <a:xfrm>
            <a:off x="5017785" y="3757915"/>
            <a:ext cx="232380" cy="232380"/>
            <a:chOff x="11363326" y="-2538413"/>
            <a:chExt cx="285750" cy="285750"/>
          </a:xfrm>
        </p:grpSpPr>
        <p:sp>
          <p:nvSpPr>
            <p:cNvPr id="32771" name="Oval 31"/>
            <p:cNvSpPr>
              <a:spLocks noChangeArrowheads="1"/>
            </p:cNvSpPr>
            <p:nvPr/>
          </p:nvSpPr>
          <p:spPr bwMode="auto">
            <a:xfrm>
              <a:off x="11423651" y="-2297113"/>
              <a:ext cx="150813" cy="44450"/>
            </a:xfrm>
            <a:prstGeom prst="ellipse">
              <a:avLst/>
            </a:prstGeom>
            <a:noFill/>
            <a:ln w="12700" cap="rnd">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2772" name="Rectangle 32"/>
            <p:cNvSpPr>
              <a:spLocks noChangeArrowheads="1"/>
            </p:cNvSpPr>
            <p:nvPr/>
          </p:nvSpPr>
          <p:spPr bwMode="auto">
            <a:xfrm>
              <a:off x="11363326" y="-2538413"/>
              <a:ext cx="285750" cy="195263"/>
            </a:xfrm>
            <a:prstGeom prst="rect">
              <a:avLst/>
            </a:prstGeom>
            <a:noFill/>
            <a:ln w="12700" cap="rnd">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2773" name="Line 33"/>
            <p:cNvSpPr>
              <a:spLocks noChangeShapeType="1"/>
            </p:cNvSpPr>
            <p:nvPr/>
          </p:nvSpPr>
          <p:spPr bwMode="auto">
            <a:xfrm>
              <a:off x="11401426" y="-2508250"/>
              <a:ext cx="209550" cy="0"/>
            </a:xfrm>
            <a:prstGeom prst="line">
              <a:avLst/>
            </a:prstGeom>
            <a:noFill/>
            <a:ln w="12700" cap="rnd">
              <a:solidFill>
                <a:schemeClr val="bg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2774" name="Line 34"/>
            <p:cNvSpPr>
              <a:spLocks noChangeShapeType="1"/>
            </p:cNvSpPr>
            <p:nvPr/>
          </p:nvSpPr>
          <p:spPr bwMode="auto">
            <a:xfrm>
              <a:off x="11522076" y="-2447925"/>
              <a:ext cx="88900" cy="0"/>
            </a:xfrm>
            <a:prstGeom prst="line">
              <a:avLst/>
            </a:prstGeom>
            <a:noFill/>
            <a:ln w="12700" cap="rnd">
              <a:solidFill>
                <a:schemeClr val="bg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2775" name="Line 35"/>
            <p:cNvSpPr>
              <a:spLocks noChangeShapeType="1"/>
            </p:cNvSpPr>
            <p:nvPr/>
          </p:nvSpPr>
          <p:spPr bwMode="auto">
            <a:xfrm>
              <a:off x="11522076" y="-2417763"/>
              <a:ext cx="88900" cy="0"/>
            </a:xfrm>
            <a:prstGeom prst="line">
              <a:avLst/>
            </a:prstGeom>
            <a:noFill/>
            <a:ln w="12700" cap="rnd">
              <a:solidFill>
                <a:schemeClr val="bg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2776" name="Line 36"/>
            <p:cNvSpPr>
              <a:spLocks noChangeShapeType="1"/>
            </p:cNvSpPr>
            <p:nvPr/>
          </p:nvSpPr>
          <p:spPr bwMode="auto">
            <a:xfrm>
              <a:off x="11522076" y="-2387600"/>
              <a:ext cx="88900" cy="0"/>
            </a:xfrm>
            <a:prstGeom prst="line">
              <a:avLst/>
            </a:prstGeom>
            <a:noFill/>
            <a:ln w="12700" cap="rnd">
              <a:solidFill>
                <a:schemeClr val="bg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2777" name="Line 37"/>
            <p:cNvSpPr>
              <a:spLocks noChangeShapeType="1"/>
            </p:cNvSpPr>
            <p:nvPr/>
          </p:nvSpPr>
          <p:spPr bwMode="auto">
            <a:xfrm flipV="1">
              <a:off x="11393488" y="-2409825"/>
              <a:ext cx="0" cy="30163"/>
            </a:xfrm>
            <a:prstGeom prst="line">
              <a:avLst/>
            </a:prstGeom>
            <a:noFill/>
            <a:ln w="12700" cap="rnd">
              <a:solidFill>
                <a:schemeClr val="bg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2778" name="Line 38"/>
            <p:cNvSpPr>
              <a:spLocks noChangeShapeType="1"/>
            </p:cNvSpPr>
            <p:nvPr/>
          </p:nvSpPr>
          <p:spPr bwMode="auto">
            <a:xfrm flipV="1">
              <a:off x="11423651" y="-2439988"/>
              <a:ext cx="0" cy="60325"/>
            </a:xfrm>
            <a:prstGeom prst="line">
              <a:avLst/>
            </a:prstGeom>
            <a:noFill/>
            <a:ln w="12700" cap="rnd">
              <a:solidFill>
                <a:schemeClr val="bg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2779" name="Line 39"/>
            <p:cNvSpPr>
              <a:spLocks noChangeShapeType="1"/>
            </p:cNvSpPr>
            <p:nvPr/>
          </p:nvSpPr>
          <p:spPr bwMode="auto">
            <a:xfrm flipV="1">
              <a:off x="11453813" y="-2470150"/>
              <a:ext cx="0" cy="90488"/>
            </a:xfrm>
            <a:prstGeom prst="line">
              <a:avLst/>
            </a:prstGeom>
            <a:noFill/>
            <a:ln w="12700" cap="rnd">
              <a:solidFill>
                <a:schemeClr val="bg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2799" name="Line 40"/>
            <p:cNvSpPr>
              <a:spLocks noChangeShapeType="1"/>
            </p:cNvSpPr>
            <p:nvPr/>
          </p:nvSpPr>
          <p:spPr bwMode="auto">
            <a:xfrm flipV="1">
              <a:off x="11483976" y="-2439988"/>
              <a:ext cx="0" cy="60325"/>
            </a:xfrm>
            <a:prstGeom prst="line">
              <a:avLst/>
            </a:prstGeom>
            <a:noFill/>
            <a:ln w="12700" cap="rnd">
              <a:solidFill>
                <a:schemeClr val="bg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144" name="Line 41"/>
            <p:cNvSpPr>
              <a:spLocks noChangeShapeType="1"/>
            </p:cNvSpPr>
            <p:nvPr/>
          </p:nvSpPr>
          <p:spPr bwMode="auto">
            <a:xfrm flipV="1">
              <a:off x="11498263" y="-2335213"/>
              <a:ext cx="0" cy="60325"/>
            </a:xfrm>
            <a:prstGeom prst="line">
              <a:avLst/>
            </a:prstGeom>
            <a:noFill/>
            <a:ln w="12700" cap="rnd">
              <a:solidFill>
                <a:schemeClr val="bg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154" name="组合 6153"/>
          <p:cNvGrpSpPr/>
          <p:nvPr/>
        </p:nvGrpSpPr>
        <p:grpSpPr>
          <a:xfrm>
            <a:off x="5016198" y="1910644"/>
            <a:ext cx="232380" cy="207852"/>
            <a:chOff x="7043738" y="-1533525"/>
            <a:chExt cx="285750" cy="255588"/>
          </a:xfrm>
        </p:grpSpPr>
        <p:sp>
          <p:nvSpPr>
            <p:cNvPr id="6145" name="Freeform 42"/>
            <p:cNvSpPr>
              <a:spLocks/>
            </p:cNvSpPr>
            <p:nvPr/>
          </p:nvSpPr>
          <p:spPr bwMode="auto">
            <a:xfrm>
              <a:off x="7043738" y="-1533525"/>
              <a:ext cx="285750" cy="255588"/>
            </a:xfrm>
            <a:custGeom>
              <a:avLst/>
              <a:gdLst>
                <a:gd name="T0" fmla="*/ 76 w 76"/>
                <a:gd name="T1" fmla="*/ 4 h 68"/>
                <a:gd name="T2" fmla="*/ 72 w 76"/>
                <a:gd name="T3" fmla="*/ 0 h 68"/>
                <a:gd name="T4" fmla="*/ 4 w 76"/>
                <a:gd name="T5" fmla="*/ 0 h 68"/>
                <a:gd name="T6" fmla="*/ 0 w 76"/>
                <a:gd name="T7" fmla="*/ 4 h 68"/>
                <a:gd name="T8" fmla="*/ 0 w 76"/>
                <a:gd name="T9" fmla="*/ 64 h 68"/>
                <a:gd name="T10" fmla="*/ 4 w 76"/>
                <a:gd name="T11" fmla="*/ 68 h 68"/>
                <a:gd name="T12" fmla="*/ 72 w 76"/>
                <a:gd name="T13" fmla="*/ 68 h 68"/>
                <a:gd name="T14" fmla="*/ 76 w 76"/>
                <a:gd name="T15" fmla="*/ 64 h 68"/>
                <a:gd name="T16" fmla="*/ 76 w 76"/>
                <a:gd name="T17" fmla="*/ 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68">
                  <a:moveTo>
                    <a:pt x="76" y="4"/>
                  </a:moveTo>
                  <a:cubicBezTo>
                    <a:pt x="76" y="2"/>
                    <a:pt x="74" y="0"/>
                    <a:pt x="72" y="0"/>
                  </a:cubicBezTo>
                  <a:cubicBezTo>
                    <a:pt x="4" y="0"/>
                    <a:pt x="4" y="0"/>
                    <a:pt x="4" y="0"/>
                  </a:cubicBezTo>
                  <a:cubicBezTo>
                    <a:pt x="2" y="0"/>
                    <a:pt x="0" y="2"/>
                    <a:pt x="0" y="4"/>
                  </a:cubicBezTo>
                  <a:cubicBezTo>
                    <a:pt x="0" y="64"/>
                    <a:pt x="0" y="64"/>
                    <a:pt x="0" y="64"/>
                  </a:cubicBezTo>
                  <a:cubicBezTo>
                    <a:pt x="0" y="66"/>
                    <a:pt x="2" y="68"/>
                    <a:pt x="4" y="68"/>
                  </a:cubicBezTo>
                  <a:cubicBezTo>
                    <a:pt x="72" y="68"/>
                    <a:pt x="72" y="68"/>
                    <a:pt x="72" y="68"/>
                  </a:cubicBezTo>
                  <a:cubicBezTo>
                    <a:pt x="74" y="68"/>
                    <a:pt x="76" y="66"/>
                    <a:pt x="76" y="64"/>
                  </a:cubicBezTo>
                  <a:lnTo>
                    <a:pt x="76" y="4"/>
                  </a:lnTo>
                  <a:close/>
                </a:path>
              </a:pathLst>
            </a:custGeom>
            <a:noFill/>
            <a:ln w="12700" cap="rnd">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147" name="Oval 43"/>
            <p:cNvSpPr>
              <a:spLocks noChangeArrowheads="1"/>
            </p:cNvSpPr>
            <p:nvPr/>
          </p:nvSpPr>
          <p:spPr bwMode="auto">
            <a:xfrm>
              <a:off x="7089776" y="-1487488"/>
              <a:ext cx="44450" cy="44450"/>
            </a:xfrm>
            <a:prstGeom prst="ellipse">
              <a:avLst/>
            </a:prstGeom>
            <a:noFill/>
            <a:ln w="12700" cap="rnd">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148" name="Freeform 44"/>
            <p:cNvSpPr>
              <a:spLocks/>
            </p:cNvSpPr>
            <p:nvPr/>
          </p:nvSpPr>
          <p:spPr bwMode="auto">
            <a:xfrm>
              <a:off x="7067551" y="-1435100"/>
              <a:ext cx="239713" cy="90488"/>
            </a:xfrm>
            <a:custGeom>
              <a:avLst/>
              <a:gdLst>
                <a:gd name="T0" fmla="*/ 0 w 151"/>
                <a:gd name="T1" fmla="*/ 57 h 57"/>
                <a:gd name="T2" fmla="*/ 37 w 151"/>
                <a:gd name="T3" fmla="*/ 28 h 57"/>
                <a:gd name="T4" fmla="*/ 56 w 151"/>
                <a:gd name="T5" fmla="*/ 47 h 57"/>
                <a:gd name="T6" fmla="*/ 103 w 151"/>
                <a:gd name="T7" fmla="*/ 0 h 57"/>
                <a:gd name="T8" fmla="*/ 151 w 151"/>
                <a:gd name="T9" fmla="*/ 47 h 57"/>
              </a:gdLst>
              <a:ahLst/>
              <a:cxnLst>
                <a:cxn ang="0">
                  <a:pos x="T0" y="T1"/>
                </a:cxn>
                <a:cxn ang="0">
                  <a:pos x="T2" y="T3"/>
                </a:cxn>
                <a:cxn ang="0">
                  <a:pos x="T4" y="T5"/>
                </a:cxn>
                <a:cxn ang="0">
                  <a:pos x="T6" y="T7"/>
                </a:cxn>
                <a:cxn ang="0">
                  <a:pos x="T8" y="T9"/>
                </a:cxn>
              </a:cxnLst>
              <a:rect l="0" t="0" r="r" b="b"/>
              <a:pathLst>
                <a:path w="151" h="57">
                  <a:moveTo>
                    <a:pt x="0" y="57"/>
                  </a:moveTo>
                  <a:lnTo>
                    <a:pt x="37" y="28"/>
                  </a:lnTo>
                  <a:lnTo>
                    <a:pt x="56" y="47"/>
                  </a:lnTo>
                  <a:lnTo>
                    <a:pt x="103" y="0"/>
                  </a:lnTo>
                  <a:lnTo>
                    <a:pt x="151" y="47"/>
                  </a:lnTo>
                </a:path>
              </a:pathLst>
            </a:custGeom>
            <a:noFill/>
            <a:ln w="12700" cap="rnd">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149" name="Line 45"/>
            <p:cNvSpPr>
              <a:spLocks noChangeShapeType="1"/>
            </p:cNvSpPr>
            <p:nvPr/>
          </p:nvSpPr>
          <p:spPr bwMode="auto">
            <a:xfrm flipH="1">
              <a:off x="7202488" y="-1338263"/>
              <a:ext cx="104775" cy="0"/>
            </a:xfrm>
            <a:prstGeom prst="line">
              <a:avLst/>
            </a:prstGeom>
            <a:noFill/>
            <a:ln w="12700" cap="rnd">
              <a:solidFill>
                <a:schemeClr val="bg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150" name="Line 46"/>
            <p:cNvSpPr>
              <a:spLocks noChangeShapeType="1"/>
            </p:cNvSpPr>
            <p:nvPr/>
          </p:nvSpPr>
          <p:spPr bwMode="auto">
            <a:xfrm flipH="1">
              <a:off x="7142163" y="-1308100"/>
              <a:ext cx="165100" cy="0"/>
            </a:xfrm>
            <a:prstGeom prst="line">
              <a:avLst/>
            </a:prstGeom>
            <a:noFill/>
            <a:ln w="12700" cap="rnd">
              <a:solidFill>
                <a:schemeClr val="bg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pic>
        <p:nvPicPr>
          <p:cNvPr id="2" name="图片 1">
            <a:extLst>
              <a:ext uri="{FF2B5EF4-FFF2-40B4-BE49-F238E27FC236}">
                <a16:creationId xmlns:a16="http://schemas.microsoft.com/office/drawing/2014/main" id="{F33BA073-5F39-E4B9-5A0D-6AD9293BA040}"/>
              </a:ext>
            </a:extLst>
          </p:cNvPr>
          <p:cNvPicPr>
            <a:picLocks noChangeAspect="1"/>
          </p:cNvPicPr>
          <p:nvPr/>
        </p:nvPicPr>
        <p:blipFill rotWithShape="1">
          <a:blip r:embed="rId2"/>
          <a:srcRect l="-1" t="15627" r="1923" b="2452"/>
          <a:stretch/>
        </p:blipFill>
        <p:spPr>
          <a:xfrm>
            <a:off x="323528" y="960732"/>
            <a:ext cx="4330944" cy="3374760"/>
          </a:xfrm>
          <a:prstGeom prst="rect">
            <a:avLst/>
          </a:prstGeom>
        </p:spPr>
      </p:pic>
      <p:pic>
        <p:nvPicPr>
          <p:cNvPr id="3" name="图片 2">
            <a:extLst>
              <a:ext uri="{FF2B5EF4-FFF2-40B4-BE49-F238E27FC236}">
                <a16:creationId xmlns:a16="http://schemas.microsoft.com/office/drawing/2014/main" id="{A16D535E-A462-90A1-FAF1-3005ECC1116F}"/>
              </a:ext>
            </a:extLst>
          </p:cNvPr>
          <p:cNvPicPr>
            <a:picLocks noChangeAspect="1"/>
          </p:cNvPicPr>
          <p:nvPr/>
        </p:nvPicPr>
        <p:blipFill>
          <a:blip r:embed="rId3"/>
          <a:stretch>
            <a:fillRect/>
          </a:stretch>
        </p:blipFill>
        <p:spPr>
          <a:xfrm>
            <a:off x="4853559" y="4335492"/>
            <a:ext cx="4079971" cy="766983"/>
          </a:xfrm>
          <a:prstGeom prst="rect">
            <a:avLst/>
          </a:prstGeom>
        </p:spPr>
      </p:pic>
      <p:pic>
        <p:nvPicPr>
          <p:cNvPr id="4" name="图片 3">
            <a:extLst>
              <a:ext uri="{FF2B5EF4-FFF2-40B4-BE49-F238E27FC236}">
                <a16:creationId xmlns:a16="http://schemas.microsoft.com/office/drawing/2014/main" id="{E84D22AE-FBC7-6E71-92B5-12A6DAF9E132}"/>
              </a:ext>
            </a:extLst>
          </p:cNvPr>
          <p:cNvPicPr>
            <a:picLocks noChangeAspect="1"/>
          </p:cNvPicPr>
          <p:nvPr/>
        </p:nvPicPr>
        <p:blipFill rotWithShape="1">
          <a:blip r:embed="rId4"/>
          <a:srcRect r="9999" b="3986"/>
          <a:stretch/>
        </p:blipFill>
        <p:spPr>
          <a:xfrm>
            <a:off x="4837534" y="1004667"/>
            <a:ext cx="3677816" cy="494426"/>
          </a:xfrm>
          <a:prstGeom prst="rect">
            <a:avLst/>
          </a:prstGeom>
        </p:spPr>
      </p:pic>
      <p:sp>
        <p:nvSpPr>
          <p:cNvPr id="6" name="文本框 5">
            <a:extLst>
              <a:ext uri="{FF2B5EF4-FFF2-40B4-BE49-F238E27FC236}">
                <a16:creationId xmlns:a16="http://schemas.microsoft.com/office/drawing/2014/main" id="{62445459-C8EA-3FC0-C2B7-77412CEA6DC1}"/>
              </a:ext>
            </a:extLst>
          </p:cNvPr>
          <p:cNvSpPr txBox="1"/>
          <p:nvPr/>
        </p:nvSpPr>
        <p:spPr>
          <a:xfrm>
            <a:off x="1331640" y="4587974"/>
            <a:ext cx="1811714" cy="369332"/>
          </a:xfrm>
          <a:prstGeom prst="rect">
            <a:avLst/>
          </a:prstGeom>
          <a:noFill/>
        </p:spPr>
        <p:txBody>
          <a:bodyPr wrap="none" rtlCol="0">
            <a:spAutoFit/>
          </a:bodyPr>
          <a:lstStyle/>
          <a:p>
            <a:r>
              <a:rPr lang="en-US" altLang="zh-CN" b="1" dirty="0"/>
              <a:t>Jenkins</a:t>
            </a:r>
            <a:r>
              <a:rPr lang="zh-CN" altLang="en-US" b="1" dirty="0"/>
              <a:t>资源文件</a:t>
            </a:r>
          </a:p>
        </p:txBody>
      </p:sp>
    </p:spTree>
    <p:extLst>
      <p:ext uri="{BB962C8B-B14F-4D97-AF65-F5344CB8AC3E}">
        <p14:creationId xmlns:p14="http://schemas.microsoft.com/office/powerpoint/2010/main" val="1635196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75" name="Rectangle 39"/>
          <p:cNvSpPr>
            <a:spLocks noChangeArrowheads="1"/>
          </p:cNvSpPr>
          <p:nvPr/>
        </p:nvSpPr>
        <p:spPr bwMode="auto">
          <a:xfrm>
            <a:off x="5111310" y="893202"/>
            <a:ext cx="3960812" cy="1976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20000"/>
              </a:lnSpc>
              <a:buFont typeface="Arial" charset="0"/>
              <a:buNone/>
            </a:pPr>
            <a:r>
              <a:rPr lang="en-US" altLang="zh-CN" sz="1200" b="1" dirty="0">
                <a:solidFill>
                  <a:schemeClr val="bg1">
                    <a:lumMod val="50000"/>
                  </a:schemeClr>
                </a:solidFill>
              </a:rPr>
              <a:t>GitLab </a:t>
            </a:r>
            <a:r>
              <a:rPr lang="zh-CN" altLang="en-US" sz="1200" b="1" dirty="0">
                <a:solidFill>
                  <a:schemeClr val="bg1">
                    <a:lumMod val="50000"/>
                  </a:schemeClr>
                </a:solidFill>
              </a:rPr>
              <a:t>是一个用于仓库管理系统的开源项目，使用</a:t>
            </a:r>
            <a:r>
              <a:rPr lang="en-US" altLang="zh-CN" sz="1200" b="1" dirty="0">
                <a:solidFill>
                  <a:schemeClr val="bg1">
                    <a:lumMod val="50000"/>
                  </a:schemeClr>
                </a:solidFill>
              </a:rPr>
              <a:t>Git</a:t>
            </a:r>
            <a:r>
              <a:rPr lang="zh-CN" altLang="en-US" sz="1200" b="1" dirty="0">
                <a:solidFill>
                  <a:schemeClr val="bg1">
                    <a:lumMod val="50000"/>
                  </a:schemeClr>
                </a:solidFill>
              </a:rPr>
              <a:t>作为代码管理工具，并在此基础上搭建起来的</a:t>
            </a:r>
            <a:r>
              <a:rPr lang="en-US" altLang="zh-CN" sz="1200" b="1" dirty="0">
                <a:solidFill>
                  <a:schemeClr val="bg1">
                    <a:lumMod val="50000"/>
                  </a:schemeClr>
                </a:solidFill>
              </a:rPr>
              <a:t>Web</a:t>
            </a:r>
            <a:r>
              <a:rPr lang="zh-CN" altLang="en-US" sz="1200" b="1" dirty="0">
                <a:solidFill>
                  <a:schemeClr val="bg1">
                    <a:lumMod val="50000"/>
                  </a:schemeClr>
                </a:solidFill>
              </a:rPr>
              <a:t>服务。</a:t>
            </a:r>
            <a:r>
              <a:rPr lang="en-US" altLang="zh-CN" sz="1200" b="1" dirty="0">
                <a:solidFill>
                  <a:schemeClr val="bg1">
                    <a:lumMod val="50000"/>
                  </a:schemeClr>
                </a:solidFill>
              </a:rPr>
              <a:t>Gitlab</a:t>
            </a:r>
            <a:r>
              <a:rPr lang="zh-CN" altLang="en-US" sz="1200" b="1" dirty="0">
                <a:solidFill>
                  <a:schemeClr val="bg1">
                    <a:lumMod val="50000"/>
                  </a:schemeClr>
                </a:solidFill>
              </a:rPr>
              <a:t>是被广泛使用的基于</a:t>
            </a:r>
            <a:r>
              <a:rPr lang="en-US" altLang="zh-CN" sz="1200" b="1" dirty="0">
                <a:solidFill>
                  <a:schemeClr val="bg1">
                    <a:lumMod val="50000"/>
                  </a:schemeClr>
                </a:solidFill>
              </a:rPr>
              <a:t>git</a:t>
            </a:r>
            <a:r>
              <a:rPr lang="zh-CN" altLang="en-US" sz="1200" b="1" dirty="0">
                <a:solidFill>
                  <a:schemeClr val="bg1">
                    <a:lumMod val="50000"/>
                  </a:schemeClr>
                </a:solidFill>
              </a:rPr>
              <a:t>的开源代码管理平台</a:t>
            </a:r>
            <a:r>
              <a:rPr lang="en-US" altLang="zh-CN" sz="1200" b="1" dirty="0">
                <a:solidFill>
                  <a:schemeClr val="bg1">
                    <a:lumMod val="50000"/>
                  </a:schemeClr>
                </a:solidFill>
              </a:rPr>
              <a:t>, </a:t>
            </a:r>
            <a:r>
              <a:rPr lang="zh-CN" altLang="en-US" sz="1200" b="1" dirty="0">
                <a:solidFill>
                  <a:schemeClr val="bg1">
                    <a:lumMod val="50000"/>
                  </a:schemeClr>
                </a:solidFill>
              </a:rPr>
              <a:t>基于</a:t>
            </a:r>
            <a:r>
              <a:rPr lang="en-US" altLang="zh-CN" sz="1200" b="1" dirty="0">
                <a:solidFill>
                  <a:schemeClr val="bg1">
                    <a:lumMod val="50000"/>
                  </a:schemeClr>
                </a:solidFill>
              </a:rPr>
              <a:t>Ruby on Rails</a:t>
            </a:r>
            <a:r>
              <a:rPr lang="zh-CN" altLang="en-US" sz="1200" b="1" dirty="0">
                <a:solidFill>
                  <a:schemeClr val="bg1">
                    <a:lumMod val="50000"/>
                  </a:schemeClr>
                </a:solidFill>
              </a:rPr>
              <a:t>构建</a:t>
            </a:r>
            <a:r>
              <a:rPr lang="en-US" altLang="zh-CN" sz="1200" b="1" dirty="0">
                <a:solidFill>
                  <a:schemeClr val="bg1">
                    <a:lumMod val="50000"/>
                  </a:schemeClr>
                </a:solidFill>
              </a:rPr>
              <a:t>, </a:t>
            </a:r>
            <a:r>
              <a:rPr lang="zh-CN" altLang="en-US" sz="1200" b="1" dirty="0">
                <a:solidFill>
                  <a:schemeClr val="bg1">
                    <a:lumMod val="50000"/>
                  </a:schemeClr>
                </a:solidFill>
              </a:rPr>
              <a:t>主要针对软件开发过程中产生的代码和文档进行管理</a:t>
            </a:r>
            <a:r>
              <a:rPr lang="en-US" altLang="zh-CN" sz="1200" b="1" dirty="0">
                <a:solidFill>
                  <a:schemeClr val="bg1">
                    <a:lumMod val="50000"/>
                  </a:schemeClr>
                </a:solidFill>
              </a:rPr>
              <a:t>, Gitlab</a:t>
            </a:r>
            <a:r>
              <a:rPr lang="zh-CN" altLang="en-US" sz="1200" b="1" dirty="0">
                <a:solidFill>
                  <a:schemeClr val="bg1">
                    <a:lumMod val="50000"/>
                  </a:schemeClr>
                </a:solidFill>
              </a:rPr>
              <a:t>主要针对</a:t>
            </a:r>
            <a:r>
              <a:rPr lang="en-US" altLang="zh-CN" sz="1200" b="1" dirty="0">
                <a:solidFill>
                  <a:schemeClr val="bg1">
                    <a:lumMod val="50000"/>
                  </a:schemeClr>
                </a:solidFill>
              </a:rPr>
              <a:t>group</a:t>
            </a:r>
            <a:r>
              <a:rPr lang="zh-CN" altLang="en-US" sz="1200" b="1" dirty="0">
                <a:solidFill>
                  <a:schemeClr val="bg1">
                    <a:lumMod val="50000"/>
                  </a:schemeClr>
                </a:solidFill>
              </a:rPr>
              <a:t>和</a:t>
            </a:r>
            <a:r>
              <a:rPr lang="en-US" altLang="zh-CN" sz="1200" b="1" dirty="0">
                <a:solidFill>
                  <a:schemeClr val="bg1">
                    <a:lumMod val="50000"/>
                  </a:schemeClr>
                </a:solidFill>
              </a:rPr>
              <a:t>project</a:t>
            </a:r>
            <a:r>
              <a:rPr lang="zh-CN" altLang="en-US" sz="1200" b="1" dirty="0">
                <a:solidFill>
                  <a:schemeClr val="bg1">
                    <a:lumMod val="50000"/>
                  </a:schemeClr>
                </a:solidFill>
              </a:rPr>
              <a:t>两个维度进行代码和文档管理</a:t>
            </a:r>
            <a:r>
              <a:rPr lang="en-US" altLang="zh-CN" sz="1200" b="1" dirty="0">
                <a:solidFill>
                  <a:schemeClr val="bg1">
                    <a:lumMod val="50000"/>
                  </a:schemeClr>
                </a:solidFill>
              </a:rPr>
              <a:t>, </a:t>
            </a:r>
            <a:r>
              <a:rPr lang="zh-CN" altLang="en-US" sz="1200" b="1" dirty="0">
                <a:solidFill>
                  <a:schemeClr val="bg1">
                    <a:lumMod val="50000"/>
                  </a:schemeClr>
                </a:solidFill>
              </a:rPr>
              <a:t>其中</a:t>
            </a:r>
            <a:r>
              <a:rPr lang="en-US" altLang="zh-CN" sz="1200" b="1" dirty="0">
                <a:solidFill>
                  <a:schemeClr val="bg1">
                    <a:lumMod val="50000"/>
                  </a:schemeClr>
                </a:solidFill>
              </a:rPr>
              <a:t>group</a:t>
            </a:r>
            <a:r>
              <a:rPr lang="zh-CN" altLang="en-US" sz="1200" b="1" dirty="0">
                <a:solidFill>
                  <a:schemeClr val="bg1">
                    <a:lumMod val="50000"/>
                  </a:schemeClr>
                </a:solidFill>
              </a:rPr>
              <a:t>是群组</a:t>
            </a:r>
            <a:r>
              <a:rPr lang="en-US" altLang="zh-CN" sz="1200" b="1" dirty="0">
                <a:solidFill>
                  <a:schemeClr val="bg1">
                    <a:lumMod val="50000"/>
                  </a:schemeClr>
                </a:solidFill>
              </a:rPr>
              <a:t>, project</a:t>
            </a:r>
            <a:r>
              <a:rPr lang="zh-CN" altLang="en-US" sz="1200" b="1" dirty="0">
                <a:solidFill>
                  <a:schemeClr val="bg1">
                    <a:lumMod val="50000"/>
                  </a:schemeClr>
                </a:solidFill>
              </a:rPr>
              <a:t>是工程项目</a:t>
            </a:r>
            <a:r>
              <a:rPr lang="en-US" altLang="zh-CN" sz="1200" b="1" dirty="0">
                <a:solidFill>
                  <a:schemeClr val="bg1">
                    <a:lumMod val="50000"/>
                  </a:schemeClr>
                </a:solidFill>
              </a:rPr>
              <a:t>, </a:t>
            </a:r>
            <a:r>
              <a:rPr lang="zh-CN" altLang="en-US" sz="1200" b="1" dirty="0">
                <a:solidFill>
                  <a:schemeClr val="bg1">
                    <a:lumMod val="50000"/>
                  </a:schemeClr>
                </a:solidFill>
              </a:rPr>
              <a:t>一个</a:t>
            </a:r>
            <a:r>
              <a:rPr lang="en-US" altLang="zh-CN" sz="1200" b="1" dirty="0">
                <a:solidFill>
                  <a:schemeClr val="bg1">
                    <a:lumMod val="50000"/>
                  </a:schemeClr>
                </a:solidFill>
              </a:rPr>
              <a:t>group</a:t>
            </a:r>
            <a:r>
              <a:rPr lang="zh-CN" altLang="en-US" sz="1200" b="1" dirty="0">
                <a:solidFill>
                  <a:schemeClr val="bg1">
                    <a:lumMod val="50000"/>
                  </a:schemeClr>
                </a:solidFill>
              </a:rPr>
              <a:t>可以管理多个</a:t>
            </a:r>
            <a:r>
              <a:rPr lang="en-US" altLang="zh-CN" sz="1200" b="1" dirty="0">
                <a:solidFill>
                  <a:schemeClr val="bg1">
                    <a:lumMod val="50000"/>
                  </a:schemeClr>
                </a:solidFill>
              </a:rPr>
              <a:t>project, </a:t>
            </a:r>
            <a:r>
              <a:rPr lang="zh-CN" altLang="en-US" sz="1200" b="1" dirty="0">
                <a:solidFill>
                  <a:schemeClr val="bg1">
                    <a:lumMod val="50000"/>
                  </a:schemeClr>
                </a:solidFill>
              </a:rPr>
              <a:t>可以理解为一个群组中有多项软件开发任务</a:t>
            </a:r>
            <a:r>
              <a:rPr lang="en-US" altLang="zh-CN" sz="1200" b="1" dirty="0">
                <a:solidFill>
                  <a:schemeClr val="bg1">
                    <a:lumMod val="50000"/>
                  </a:schemeClr>
                </a:solidFill>
              </a:rPr>
              <a:t>, </a:t>
            </a:r>
            <a:r>
              <a:rPr lang="zh-CN" altLang="en-US" sz="1200" b="1" dirty="0">
                <a:solidFill>
                  <a:schemeClr val="bg1">
                    <a:lumMod val="50000"/>
                  </a:schemeClr>
                </a:solidFill>
              </a:rPr>
              <a:t>而一个</a:t>
            </a:r>
            <a:r>
              <a:rPr lang="en-US" altLang="zh-CN" sz="1200" b="1" dirty="0">
                <a:solidFill>
                  <a:schemeClr val="bg1">
                    <a:lumMod val="50000"/>
                  </a:schemeClr>
                </a:solidFill>
              </a:rPr>
              <a:t>project</a:t>
            </a:r>
            <a:r>
              <a:rPr lang="zh-CN" altLang="en-US" sz="1200" b="1" dirty="0">
                <a:solidFill>
                  <a:schemeClr val="bg1">
                    <a:lumMod val="50000"/>
                  </a:schemeClr>
                </a:solidFill>
              </a:rPr>
              <a:t>中可能包含多个</a:t>
            </a:r>
            <a:r>
              <a:rPr lang="en-US" altLang="zh-CN" sz="1200" b="1" dirty="0">
                <a:solidFill>
                  <a:schemeClr val="bg1">
                    <a:lumMod val="50000"/>
                  </a:schemeClr>
                </a:solidFill>
              </a:rPr>
              <a:t>branch, </a:t>
            </a:r>
            <a:r>
              <a:rPr lang="zh-CN" altLang="en-US" sz="1200" b="1" dirty="0">
                <a:solidFill>
                  <a:schemeClr val="bg1">
                    <a:lumMod val="50000"/>
                  </a:schemeClr>
                </a:solidFill>
              </a:rPr>
              <a:t>意为每个项目中有多个分支</a:t>
            </a:r>
            <a:r>
              <a:rPr lang="en-US" altLang="zh-CN" sz="1200" b="1" dirty="0">
                <a:solidFill>
                  <a:schemeClr val="bg1">
                    <a:lumMod val="50000"/>
                  </a:schemeClr>
                </a:solidFill>
              </a:rPr>
              <a:t>, </a:t>
            </a:r>
            <a:r>
              <a:rPr lang="zh-CN" altLang="en-US" sz="1200" b="1" dirty="0">
                <a:solidFill>
                  <a:schemeClr val="bg1">
                    <a:lumMod val="50000"/>
                  </a:schemeClr>
                </a:solidFill>
              </a:rPr>
              <a:t>分支间相互独立</a:t>
            </a:r>
            <a:r>
              <a:rPr lang="en-US" altLang="zh-CN" sz="1200" b="1" dirty="0">
                <a:solidFill>
                  <a:schemeClr val="bg1">
                    <a:lumMod val="50000"/>
                  </a:schemeClr>
                </a:solidFill>
              </a:rPr>
              <a:t>, </a:t>
            </a:r>
            <a:r>
              <a:rPr lang="zh-CN" altLang="en-US" sz="1200" b="1" dirty="0">
                <a:solidFill>
                  <a:schemeClr val="bg1">
                    <a:lumMod val="50000"/>
                  </a:schemeClr>
                </a:solidFill>
              </a:rPr>
              <a:t>不同分支可以进行归并。</a:t>
            </a:r>
          </a:p>
        </p:txBody>
      </p:sp>
      <p:sp>
        <p:nvSpPr>
          <p:cNvPr id="39976" name="Rectangle 40"/>
          <p:cNvSpPr>
            <a:spLocks noChangeArrowheads="1"/>
          </p:cNvSpPr>
          <p:nvPr/>
        </p:nvSpPr>
        <p:spPr bwMode="auto">
          <a:xfrm>
            <a:off x="5117371" y="3190083"/>
            <a:ext cx="3960812" cy="1311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20000"/>
              </a:lnSpc>
              <a:buFont typeface="Arial" charset="0"/>
              <a:buNone/>
            </a:pPr>
            <a:r>
              <a:rPr lang="zh-CN" altLang="en-US" sz="1200" b="1" dirty="0">
                <a:solidFill>
                  <a:schemeClr val="bg1">
                    <a:lumMod val="50000"/>
                  </a:schemeClr>
                </a:solidFill>
              </a:rPr>
              <a:t>代码托管，顾名思义就是将我们本地的代码托管至远程仓库进行管理，这样方便团队开发与协作，也有利于用户及时同步远程仓库来自其他同事更新的代码至本地，所以最最基础的业务场景即： </a:t>
            </a:r>
            <a:r>
              <a:rPr lang="en-US" altLang="zh-CN" sz="1200" b="1" dirty="0">
                <a:solidFill>
                  <a:schemeClr val="bg1">
                    <a:lumMod val="50000"/>
                  </a:schemeClr>
                </a:solidFill>
              </a:rPr>
              <a:t>git clone</a:t>
            </a:r>
            <a:r>
              <a:rPr lang="zh-CN" altLang="en-US" sz="1200" b="1" dirty="0">
                <a:solidFill>
                  <a:schemeClr val="bg1">
                    <a:lumMod val="50000"/>
                  </a:schemeClr>
                </a:solidFill>
              </a:rPr>
              <a:t>、</a:t>
            </a:r>
            <a:r>
              <a:rPr lang="en-US" altLang="zh-CN" sz="1200" b="1" dirty="0">
                <a:solidFill>
                  <a:schemeClr val="bg1">
                    <a:lumMod val="50000"/>
                  </a:schemeClr>
                </a:solidFill>
              </a:rPr>
              <a:t>git pull</a:t>
            </a:r>
            <a:r>
              <a:rPr lang="zh-CN" altLang="en-US" sz="1200" b="1" dirty="0">
                <a:solidFill>
                  <a:schemeClr val="bg1">
                    <a:lumMod val="50000"/>
                  </a:schemeClr>
                </a:solidFill>
              </a:rPr>
              <a:t>和 </a:t>
            </a:r>
            <a:r>
              <a:rPr lang="en-US" altLang="zh-CN" sz="1200" b="1" dirty="0">
                <a:solidFill>
                  <a:schemeClr val="bg1">
                    <a:lumMod val="50000"/>
                  </a:schemeClr>
                </a:solidFill>
              </a:rPr>
              <a:t>git push </a:t>
            </a:r>
            <a:r>
              <a:rPr lang="zh-CN" altLang="en-US" sz="1200" b="1" dirty="0">
                <a:solidFill>
                  <a:schemeClr val="bg1">
                    <a:lumMod val="50000"/>
                  </a:schemeClr>
                </a:solidFill>
              </a:rPr>
              <a:t>，前者是将远程仓库代码克隆至本地，后者是远程拉取代码和将本地的代码推送至远程仓库。</a:t>
            </a:r>
          </a:p>
        </p:txBody>
      </p:sp>
      <p:sp>
        <p:nvSpPr>
          <p:cNvPr id="43" name="Text Box 42"/>
          <p:cNvSpPr txBox="1">
            <a:spLocks noChangeArrowheads="1"/>
          </p:cNvSpPr>
          <p:nvPr/>
        </p:nvSpPr>
        <p:spPr bwMode="auto">
          <a:xfrm>
            <a:off x="4014795" y="290122"/>
            <a:ext cx="11144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 typeface="Arial" charset="0"/>
              <a:buNone/>
            </a:pPr>
            <a:r>
              <a:rPr lang="en-US" altLang="zh-CN" sz="2400" b="1" dirty="0">
                <a:solidFill>
                  <a:schemeClr val="accent1"/>
                </a:solidFill>
                <a:latin typeface="微软雅黑" pitchFamily="34" charset="-122"/>
                <a:ea typeface="微软雅黑" pitchFamily="34" charset="-122"/>
              </a:rPr>
              <a:t>Gitlab</a:t>
            </a:r>
          </a:p>
        </p:txBody>
      </p:sp>
      <p:cxnSp>
        <p:nvCxnSpPr>
          <p:cNvPr id="45" name="直接连接符 44"/>
          <p:cNvCxnSpPr/>
          <p:nvPr/>
        </p:nvCxnSpPr>
        <p:spPr>
          <a:xfrm>
            <a:off x="4226801" y="974973"/>
            <a:ext cx="690398"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134256F3-0F2B-907A-F4BD-9063C7B6FEBD}"/>
              </a:ext>
            </a:extLst>
          </p:cNvPr>
          <p:cNvPicPr>
            <a:picLocks noChangeAspect="1"/>
          </p:cNvPicPr>
          <p:nvPr/>
        </p:nvPicPr>
        <p:blipFill>
          <a:blip r:embed="rId2"/>
          <a:stretch>
            <a:fillRect/>
          </a:stretch>
        </p:blipFill>
        <p:spPr>
          <a:xfrm>
            <a:off x="277845" y="893202"/>
            <a:ext cx="2469921" cy="2304256"/>
          </a:xfrm>
          <a:prstGeom prst="rect">
            <a:avLst/>
          </a:prstGeom>
        </p:spPr>
      </p:pic>
      <p:sp>
        <p:nvSpPr>
          <p:cNvPr id="3" name="文本框 2">
            <a:extLst>
              <a:ext uri="{FF2B5EF4-FFF2-40B4-BE49-F238E27FC236}">
                <a16:creationId xmlns:a16="http://schemas.microsoft.com/office/drawing/2014/main" id="{707ADBC1-8E6C-1C2F-AF4D-5BDE6E508FBC}"/>
              </a:ext>
            </a:extLst>
          </p:cNvPr>
          <p:cNvSpPr txBox="1"/>
          <p:nvPr/>
        </p:nvSpPr>
        <p:spPr>
          <a:xfrm>
            <a:off x="2947938" y="1173701"/>
            <a:ext cx="1669047" cy="369332"/>
          </a:xfrm>
          <a:prstGeom prst="rect">
            <a:avLst/>
          </a:prstGeom>
          <a:noFill/>
        </p:spPr>
        <p:txBody>
          <a:bodyPr wrap="none" rtlCol="0">
            <a:spAutoFit/>
          </a:bodyPr>
          <a:lstStyle/>
          <a:p>
            <a:r>
              <a:rPr lang="en-US" altLang="zh-CN" dirty="0"/>
              <a:t>Gitlab</a:t>
            </a:r>
            <a:r>
              <a:rPr lang="zh-CN" altLang="en-US" dirty="0"/>
              <a:t>资源文件</a:t>
            </a:r>
          </a:p>
        </p:txBody>
      </p:sp>
      <p:pic>
        <p:nvPicPr>
          <p:cNvPr id="17" name="图片 16">
            <a:extLst>
              <a:ext uri="{FF2B5EF4-FFF2-40B4-BE49-F238E27FC236}">
                <a16:creationId xmlns:a16="http://schemas.microsoft.com/office/drawing/2014/main" id="{817ACCE3-6D7F-91F8-77A0-4AA45D31BB25}"/>
              </a:ext>
            </a:extLst>
          </p:cNvPr>
          <p:cNvPicPr>
            <a:picLocks noChangeAspect="1"/>
          </p:cNvPicPr>
          <p:nvPr/>
        </p:nvPicPr>
        <p:blipFill>
          <a:blip r:embed="rId3"/>
          <a:stretch>
            <a:fillRect/>
          </a:stretch>
        </p:blipFill>
        <p:spPr>
          <a:xfrm>
            <a:off x="265513" y="3244776"/>
            <a:ext cx="3123829" cy="1682550"/>
          </a:xfrm>
          <a:prstGeom prst="rect">
            <a:avLst/>
          </a:prstGeom>
        </p:spPr>
      </p:pic>
      <p:sp>
        <p:nvSpPr>
          <p:cNvPr id="24" name="文本框 23">
            <a:extLst>
              <a:ext uri="{FF2B5EF4-FFF2-40B4-BE49-F238E27FC236}">
                <a16:creationId xmlns:a16="http://schemas.microsoft.com/office/drawing/2014/main" id="{02537D94-A4DE-8C05-210A-3419287B4CA6}"/>
              </a:ext>
            </a:extLst>
          </p:cNvPr>
          <p:cNvSpPr txBox="1"/>
          <p:nvPr/>
        </p:nvSpPr>
        <p:spPr>
          <a:xfrm>
            <a:off x="3478144" y="3837176"/>
            <a:ext cx="1550424" cy="369332"/>
          </a:xfrm>
          <a:prstGeom prst="rect">
            <a:avLst/>
          </a:prstGeom>
          <a:noFill/>
        </p:spPr>
        <p:txBody>
          <a:bodyPr wrap="none" rtlCol="0">
            <a:spAutoFit/>
          </a:bodyPr>
          <a:lstStyle/>
          <a:p>
            <a:r>
              <a:rPr lang="en-US" altLang="zh-CN" dirty="0"/>
              <a:t>WEB</a:t>
            </a:r>
            <a:r>
              <a:rPr lang="zh-CN" altLang="en-US" dirty="0"/>
              <a:t>界面访问</a:t>
            </a:r>
          </a:p>
        </p:txBody>
      </p:sp>
      <p:pic>
        <p:nvPicPr>
          <p:cNvPr id="25" name="图片 24">
            <a:extLst>
              <a:ext uri="{FF2B5EF4-FFF2-40B4-BE49-F238E27FC236}">
                <a16:creationId xmlns:a16="http://schemas.microsoft.com/office/drawing/2014/main" id="{76C4016D-0CA5-9D73-3E7F-9C60B940E30C}"/>
              </a:ext>
            </a:extLst>
          </p:cNvPr>
          <p:cNvPicPr>
            <a:picLocks noChangeAspect="1"/>
          </p:cNvPicPr>
          <p:nvPr/>
        </p:nvPicPr>
        <p:blipFill rotWithShape="1">
          <a:blip r:embed="rId4"/>
          <a:srcRect r="23160" b="19340"/>
          <a:stretch/>
        </p:blipFill>
        <p:spPr>
          <a:xfrm>
            <a:off x="2809242" y="1741760"/>
            <a:ext cx="2219326" cy="369331"/>
          </a:xfrm>
          <a:prstGeom prst="rect">
            <a:avLst/>
          </a:prstGeom>
        </p:spPr>
      </p:pic>
      <p:pic>
        <p:nvPicPr>
          <p:cNvPr id="26" name="图片 25">
            <a:extLst>
              <a:ext uri="{FF2B5EF4-FFF2-40B4-BE49-F238E27FC236}">
                <a16:creationId xmlns:a16="http://schemas.microsoft.com/office/drawing/2014/main" id="{1E8B5C48-9C8D-A9AE-C8D0-050BA2A9A15E}"/>
              </a:ext>
            </a:extLst>
          </p:cNvPr>
          <p:cNvPicPr>
            <a:picLocks noChangeAspect="1"/>
          </p:cNvPicPr>
          <p:nvPr/>
        </p:nvPicPr>
        <p:blipFill rotWithShape="1">
          <a:blip r:embed="rId5"/>
          <a:srcRect r="12842" b="12842"/>
          <a:stretch/>
        </p:blipFill>
        <p:spPr>
          <a:xfrm>
            <a:off x="2817943" y="2411196"/>
            <a:ext cx="2229251" cy="285453"/>
          </a:xfrm>
          <a:prstGeom prst="rect">
            <a:avLst/>
          </a:prstGeom>
        </p:spPr>
      </p:pic>
    </p:spTree>
    <p:extLst>
      <p:ext uri="{BB962C8B-B14F-4D97-AF65-F5344CB8AC3E}">
        <p14:creationId xmlns:p14="http://schemas.microsoft.com/office/powerpoint/2010/main" val="2218591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72" name="Rectangle 32"/>
          <p:cNvSpPr>
            <a:spLocks noChangeArrowheads="1"/>
          </p:cNvSpPr>
          <p:nvPr/>
        </p:nvSpPr>
        <p:spPr bwMode="auto">
          <a:xfrm>
            <a:off x="2444671" y="1168192"/>
            <a:ext cx="1512888"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buFont typeface="Arial" charset="0"/>
              <a:buNone/>
            </a:pPr>
            <a:r>
              <a:rPr lang="zh-CN" altLang="en-US" sz="1400" b="1" dirty="0">
                <a:solidFill>
                  <a:schemeClr val="bg1">
                    <a:lumMod val="50000"/>
                  </a:schemeClr>
                </a:solidFill>
              </a:rPr>
              <a:t>Step 0</a:t>
            </a:r>
            <a:r>
              <a:rPr lang="en-US" altLang="zh-CN" sz="1400" b="1" dirty="0">
                <a:solidFill>
                  <a:schemeClr val="bg1">
                    <a:lumMod val="50000"/>
                  </a:schemeClr>
                </a:solidFill>
              </a:rPr>
              <a:t>2</a:t>
            </a:r>
          </a:p>
          <a:p>
            <a:pPr algn="ctr">
              <a:buFont typeface="Arial" charset="0"/>
              <a:buNone/>
            </a:pPr>
            <a:r>
              <a:rPr lang="zh-CN" altLang="en-US" sz="1400" b="1" dirty="0">
                <a:solidFill>
                  <a:schemeClr val="bg1">
                    <a:lumMod val="50000"/>
                  </a:schemeClr>
                </a:solidFill>
              </a:rPr>
              <a:t>部署</a:t>
            </a:r>
            <a:r>
              <a:rPr lang="en-US" altLang="zh-CN" sz="1400" b="1" dirty="0">
                <a:solidFill>
                  <a:schemeClr val="bg1">
                    <a:lumMod val="50000"/>
                  </a:schemeClr>
                </a:solidFill>
              </a:rPr>
              <a:t>Gitlab</a:t>
            </a:r>
            <a:r>
              <a:rPr lang="zh-CN" altLang="en-US" sz="1400" b="1" dirty="0">
                <a:solidFill>
                  <a:schemeClr val="bg1">
                    <a:lumMod val="50000"/>
                  </a:schemeClr>
                </a:solidFill>
              </a:rPr>
              <a:t>服务，创建用户和项目，然后将项目代码进行上传，推送到代码仓库中。</a:t>
            </a:r>
          </a:p>
        </p:txBody>
      </p:sp>
      <p:sp>
        <p:nvSpPr>
          <p:cNvPr id="35873" name="Rectangle 33"/>
          <p:cNvSpPr>
            <a:spLocks noChangeArrowheads="1"/>
          </p:cNvSpPr>
          <p:nvPr/>
        </p:nvSpPr>
        <p:spPr bwMode="auto">
          <a:xfrm>
            <a:off x="391533" y="1168192"/>
            <a:ext cx="151288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buFont typeface="Arial" charset="0"/>
              <a:buNone/>
            </a:pPr>
            <a:r>
              <a:rPr lang="zh-CN" altLang="en-US" sz="1400" b="1" dirty="0">
                <a:solidFill>
                  <a:schemeClr val="bg1">
                    <a:lumMod val="50000"/>
                  </a:schemeClr>
                </a:solidFill>
              </a:rPr>
              <a:t>Step 0</a:t>
            </a:r>
            <a:r>
              <a:rPr lang="en-US" altLang="zh-CN" sz="1400" b="1" dirty="0">
                <a:solidFill>
                  <a:schemeClr val="bg1">
                    <a:lumMod val="50000"/>
                  </a:schemeClr>
                </a:solidFill>
              </a:rPr>
              <a:t>1</a:t>
            </a:r>
          </a:p>
          <a:p>
            <a:pPr algn="ctr">
              <a:buFont typeface="Arial" charset="0"/>
              <a:buNone/>
            </a:pPr>
            <a:r>
              <a:rPr lang="zh-CN" altLang="en-US" sz="1400" b="1" dirty="0">
                <a:solidFill>
                  <a:schemeClr val="bg1">
                    <a:lumMod val="50000"/>
                  </a:schemeClr>
                </a:solidFill>
              </a:rPr>
              <a:t>安装部署</a:t>
            </a:r>
            <a:r>
              <a:rPr lang="en-US" altLang="zh-CN" sz="1400" b="1" dirty="0">
                <a:solidFill>
                  <a:schemeClr val="bg1">
                    <a:lumMod val="50000"/>
                  </a:schemeClr>
                </a:solidFill>
              </a:rPr>
              <a:t>Jenkins</a:t>
            </a:r>
            <a:r>
              <a:rPr lang="zh-CN" altLang="en-US" sz="1400" b="1" dirty="0">
                <a:solidFill>
                  <a:schemeClr val="bg1">
                    <a:lumMod val="50000"/>
                  </a:schemeClr>
                </a:solidFill>
              </a:rPr>
              <a:t>服务，进行创建用户并对相关设置进行调整。</a:t>
            </a:r>
          </a:p>
        </p:txBody>
      </p:sp>
      <p:sp>
        <p:nvSpPr>
          <p:cNvPr id="35874" name="Rectangle 34"/>
          <p:cNvSpPr>
            <a:spLocks noChangeArrowheads="1"/>
          </p:cNvSpPr>
          <p:nvPr/>
        </p:nvSpPr>
        <p:spPr bwMode="auto">
          <a:xfrm>
            <a:off x="7236296" y="1168192"/>
            <a:ext cx="1408636"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buFont typeface="Arial" charset="0"/>
              <a:buNone/>
            </a:pPr>
            <a:r>
              <a:rPr lang="zh-CN" altLang="en-US" sz="1400" b="1" dirty="0">
                <a:solidFill>
                  <a:schemeClr val="bg1">
                    <a:lumMod val="50000"/>
                  </a:schemeClr>
                </a:solidFill>
              </a:rPr>
              <a:t>Step 0</a:t>
            </a:r>
            <a:r>
              <a:rPr lang="en-US" altLang="zh-CN" sz="1400" b="1" dirty="0">
                <a:solidFill>
                  <a:schemeClr val="bg1">
                    <a:lumMod val="50000"/>
                  </a:schemeClr>
                </a:solidFill>
              </a:rPr>
              <a:t>4</a:t>
            </a:r>
          </a:p>
          <a:p>
            <a:pPr algn="ctr">
              <a:buFont typeface="Arial" charset="0"/>
              <a:buNone/>
            </a:pPr>
            <a:r>
              <a:rPr lang="zh-CN" altLang="en-US" sz="1400" b="1" dirty="0">
                <a:solidFill>
                  <a:schemeClr val="bg1">
                    <a:lumMod val="50000"/>
                  </a:schemeClr>
                </a:solidFill>
              </a:rPr>
              <a:t>使用</a:t>
            </a:r>
            <a:r>
              <a:rPr lang="en-US" altLang="zh-CN" sz="1400" b="1" dirty="0">
                <a:solidFill>
                  <a:schemeClr val="bg1">
                    <a:lumMod val="50000"/>
                  </a:schemeClr>
                </a:solidFill>
              </a:rPr>
              <a:t>Push Events</a:t>
            </a:r>
            <a:r>
              <a:rPr lang="zh-CN" altLang="en-US" sz="1400" b="1" dirty="0">
                <a:solidFill>
                  <a:schemeClr val="bg1">
                    <a:lumMod val="50000"/>
                  </a:schemeClr>
                </a:solidFill>
              </a:rPr>
              <a:t>选项进行推送，返回</a:t>
            </a:r>
            <a:r>
              <a:rPr lang="en-US" altLang="zh-CN" sz="1400" b="1" dirty="0">
                <a:solidFill>
                  <a:schemeClr val="bg1">
                    <a:lumMod val="50000"/>
                  </a:schemeClr>
                </a:solidFill>
              </a:rPr>
              <a:t>HTTP200</a:t>
            </a:r>
            <a:r>
              <a:rPr lang="zh-CN" altLang="en-US" sz="1400" b="1" dirty="0">
                <a:solidFill>
                  <a:schemeClr val="bg1">
                    <a:lumMod val="50000"/>
                  </a:schemeClr>
                </a:solidFill>
              </a:rPr>
              <a:t>则成功。，</a:t>
            </a:r>
            <a:r>
              <a:rPr lang="en-US" altLang="zh-CN" sz="1400" b="1" dirty="0">
                <a:solidFill>
                  <a:schemeClr val="bg1">
                    <a:lumMod val="50000"/>
                  </a:schemeClr>
                </a:solidFill>
              </a:rPr>
              <a:t>Harbor</a:t>
            </a:r>
            <a:r>
              <a:rPr lang="zh-CN" altLang="en-US" sz="1400" b="1" dirty="0">
                <a:solidFill>
                  <a:schemeClr val="bg1">
                    <a:lumMod val="50000"/>
                  </a:schemeClr>
                </a:solidFill>
              </a:rPr>
              <a:t>中会上传两个镜像。最后通过</a:t>
            </a:r>
            <a:r>
              <a:rPr lang="en-US" altLang="zh-CN" sz="1400" b="1" dirty="0">
                <a:solidFill>
                  <a:schemeClr val="bg1">
                    <a:lumMod val="50000"/>
                  </a:schemeClr>
                </a:solidFill>
              </a:rPr>
              <a:t>30010</a:t>
            </a:r>
            <a:r>
              <a:rPr lang="zh-CN" altLang="en-US" sz="1400" b="1" dirty="0">
                <a:solidFill>
                  <a:schemeClr val="bg1">
                    <a:lumMod val="50000"/>
                  </a:schemeClr>
                </a:solidFill>
              </a:rPr>
              <a:t>端口访问服务。</a:t>
            </a:r>
          </a:p>
        </p:txBody>
      </p:sp>
      <p:sp>
        <p:nvSpPr>
          <p:cNvPr id="35875" name="Rectangle 35"/>
          <p:cNvSpPr>
            <a:spLocks noChangeArrowheads="1"/>
          </p:cNvSpPr>
          <p:nvPr/>
        </p:nvSpPr>
        <p:spPr bwMode="auto">
          <a:xfrm>
            <a:off x="4788024" y="1171288"/>
            <a:ext cx="1512887"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buFont typeface="Arial" charset="0"/>
              <a:buNone/>
            </a:pPr>
            <a:r>
              <a:rPr lang="zh-CN" altLang="en-US" sz="1400" b="1" dirty="0">
                <a:solidFill>
                  <a:schemeClr val="bg1">
                    <a:lumMod val="50000"/>
                  </a:schemeClr>
                </a:solidFill>
              </a:rPr>
              <a:t>Step 0</a:t>
            </a:r>
            <a:r>
              <a:rPr lang="en-US" altLang="zh-CN" sz="1400" b="1" dirty="0">
                <a:solidFill>
                  <a:schemeClr val="bg1">
                    <a:lumMod val="50000"/>
                  </a:schemeClr>
                </a:solidFill>
              </a:rPr>
              <a:t>3</a:t>
            </a:r>
          </a:p>
          <a:p>
            <a:pPr algn="ctr">
              <a:buFont typeface="Arial" charset="0"/>
              <a:buNone/>
            </a:pPr>
            <a:r>
              <a:rPr lang="zh-CN" altLang="en-US" sz="1400" b="1" dirty="0">
                <a:solidFill>
                  <a:schemeClr val="bg1">
                    <a:lumMod val="50000"/>
                  </a:schemeClr>
                </a:solidFill>
              </a:rPr>
              <a:t>配置</a:t>
            </a:r>
            <a:r>
              <a:rPr lang="en-US" altLang="zh-CN" sz="1400" b="1" dirty="0">
                <a:solidFill>
                  <a:schemeClr val="bg1">
                    <a:lumMod val="50000"/>
                  </a:schemeClr>
                </a:solidFill>
              </a:rPr>
              <a:t>Jenkins</a:t>
            </a:r>
            <a:r>
              <a:rPr lang="zh-CN" altLang="en-US" sz="1400" b="1" dirty="0">
                <a:solidFill>
                  <a:schemeClr val="bg1">
                    <a:lumMod val="50000"/>
                  </a:schemeClr>
                </a:solidFill>
              </a:rPr>
              <a:t>和</a:t>
            </a:r>
            <a:r>
              <a:rPr lang="en-US" altLang="zh-CN" sz="1400" b="1" dirty="0">
                <a:solidFill>
                  <a:schemeClr val="bg1">
                    <a:lumMod val="50000"/>
                  </a:schemeClr>
                </a:solidFill>
              </a:rPr>
              <a:t>Gitlab</a:t>
            </a:r>
            <a:r>
              <a:rPr lang="zh-CN" altLang="en-US" sz="1400" b="1" dirty="0">
                <a:solidFill>
                  <a:schemeClr val="bg1">
                    <a:lumMod val="50000"/>
                  </a:schemeClr>
                </a:solidFill>
              </a:rPr>
              <a:t>连接，创建流水线、获取凭证，编写流水线。使用</a:t>
            </a:r>
            <a:r>
              <a:rPr lang="en-US" altLang="zh-CN" sz="1400" b="1" dirty="0">
                <a:solidFill>
                  <a:schemeClr val="bg1">
                    <a:lumMod val="50000"/>
                  </a:schemeClr>
                </a:solidFill>
              </a:rPr>
              <a:t>Webhook</a:t>
            </a:r>
            <a:r>
              <a:rPr lang="zh-CN" altLang="en-US" sz="1400" b="1" dirty="0">
                <a:solidFill>
                  <a:schemeClr val="bg1">
                    <a:lumMod val="50000"/>
                  </a:schemeClr>
                </a:solidFill>
              </a:rPr>
              <a:t>准备触发构建。</a:t>
            </a:r>
          </a:p>
        </p:txBody>
      </p:sp>
      <p:sp>
        <p:nvSpPr>
          <p:cNvPr id="29" name="Text Box 42"/>
          <p:cNvSpPr txBox="1">
            <a:spLocks noChangeArrowheads="1"/>
          </p:cNvSpPr>
          <p:nvPr/>
        </p:nvSpPr>
        <p:spPr bwMode="auto">
          <a:xfrm>
            <a:off x="3864118" y="290122"/>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 typeface="Arial" charset="0"/>
              <a:buNone/>
            </a:pPr>
            <a:r>
              <a:rPr lang="zh-CN" altLang="en-US" sz="2400" b="1" dirty="0">
                <a:solidFill>
                  <a:schemeClr val="accent1"/>
                </a:solidFill>
                <a:latin typeface="微软雅黑" pitchFamily="34" charset="-122"/>
                <a:ea typeface="微软雅黑" pitchFamily="34" charset="-122"/>
              </a:rPr>
              <a:t>构建过程</a:t>
            </a:r>
            <a:endParaRPr lang="en-US" altLang="zh-CN" sz="2400" b="1" dirty="0">
              <a:solidFill>
                <a:schemeClr val="accent1"/>
              </a:solidFill>
              <a:latin typeface="微软雅黑" pitchFamily="34" charset="-122"/>
              <a:ea typeface="微软雅黑" pitchFamily="34" charset="-122"/>
            </a:endParaRPr>
          </a:p>
        </p:txBody>
      </p:sp>
      <p:cxnSp>
        <p:nvCxnSpPr>
          <p:cNvPr id="31" name="直接连接符 30"/>
          <p:cNvCxnSpPr/>
          <p:nvPr/>
        </p:nvCxnSpPr>
        <p:spPr>
          <a:xfrm>
            <a:off x="4226801" y="974973"/>
            <a:ext cx="690398"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6C8BC9C1-89F6-219D-509E-A1CED98E5D82}"/>
              </a:ext>
            </a:extLst>
          </p:cNvPr>
          <p:cNvPicPr>
            <a:picLocks noChangeAspect="1"/>
          </p:cNvPicPr>
          <p:nvPr/>
        </p:nvPicPr>
        <p:blipFill>
          <a:blip r:embed="rId2"/>
          <a:stretch>
            <a:fillRect/>
          </a:stretch>
        </p:blipFill>
        <p:spPr>
          <a:xfrm>
            <a:off x="35759" y="2898091"/>
            <a:ext cx="3058405" cy="1634879"/>
          </a:xfrm>
          <a:prstGeom prst="rect">
            <a:avLst/>
          </a:prstGeom>
        </p:spPr>
      </p:pic>
      <p:pic>
        <p:nvPicPr>
          <p:cNvPr id="3" name="图片 2">
            <a:extLst>
              <a:ext uri="{FF2B5EF4-FFF2-40B4-BE49-F238E27FC236}">
                <a16:creationId xmlns:a16="http://schemas.microsoft.com/office/drawing/2014/main" id="{C65CB126-549E-89DE-A4B9-81513DD6C5F7}"/>
              </a:ext>
            </a:extLst>
          </p:cNvPr>
          <p:cNvPicPr>
            <a:picLocks noChangeAspect="1"/>
          </p:cNvPicPr>
          <p:nvPr/>
        </p:nvPicPr>
        <p:blipFill>
          <a:blip r:embed="rId3"/>
          <a:stretch>
            <a:fillRect/>
          </a:stretch>
        </p:blipFill>
        <p:spPr>
          <a:xfrm>
            <a:off x="3120477" y="2897933"/>
            <a:ext cx="3035319" cy="1634877"/>
          </a:xfrm>
          <a:prstGeom prst="rect">
            <a:avLst/>
          </a:prstGeom>
        </p:spPr>
      </p:pic>
      <p:pic>
        <p:nvPicPr>
          <p:cNvPr id="4" name="图片 3">
            <a:extLst>
              <a:ext uri="{FF2B5EF4-FFF2-40B4-BE49-F238E27FC236}">
                <a16:creationId xmlns:a16="http://schemas.microsoft.com/office/drawing/2014/main" id="{AE7E3319-7A24-6081-C1FD-90EDEE04CEC9}"/>
              </a:ext>
            </a:extLst>
          </p:cNvPr>
          <p:cNvPicPr>
            <a:picLocks noChangeAspect="1"/>
          </p:cNvPicPr>
          <p:nvPr/>
        </p:nvPicPr>
        <p:blipFill>
          <a:blip r:embed="rId4"/>
          <a:stretch>
            <a:fillRect/>
          </a:stretch>
        </p:blipFill>
        <p:spPr>
          <a:xfrm>
            <a:off x="6155796" y="2897933"/>
            <a:ext cx="3023908" cy="1634877"/>
          </a:xfrm>
          <a:prstGeom prst="rect">
            <a:avLst/>
          </a:prstGeom>
        </p:spPr>
      </p:pic>
    </p:spTree>
    <p:extLst>
      <p:ext uri="{BB962C8B-B14F-4D97-AF65-F5344CB8AC3E}">
        <p14:creationId xmlns:p14="http://schemas.microsoft.com/office/powerpoint/2010/main" val="2241506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Group 2"/>
          <p:cNvGrpSpPr>
            <a:grpSpLocks/>
          </p:cNvGrpSpPr>
          <p:nvPr/>
        </p:nvGrpSpPr>
        <p:grpSpPr bwMode="auto">
          <a:xfrm>
            <a:off x="2447601" y="2085271"/>
            <a:ext cx="4324350" cy="2913961"/>
            <a:chOff x="0" y="0"/>
            <a:chExt cx="2724" cy="1835"/>
          </a:xfrm>
        </p:grpSpPr>
        <p:sp>
          <p:nvSpPr>
            <p:cNvPr id="34819" name="Oval 3"/>
            <p:cNvSpPr>
              <a:spLocks noChangeArrowheads="1"/>
            </p:cNvSpPr>
            <p:nvPr/>
          </p:nvSpPr>
          <p:spPr bwMode="auto">
            <a:xfrm flipV="1">
              <a:off x="0" y="1755"/>
              <a:ext cx="2724" cy="80"/>
            </a:xfrm>
            <a:prstGeom prst="ellipse">
              <a:avLst/>
            </a:prstGeom>
            <a:gradFill rotWithShape="1">
              <a:gsLst>
                <a:gs pos="0">
                  <a:schemeClr val="tx1">
                    <a:alpha val="20000"/>
                  </a:schemeClr>
                </a:gs>
                <a:gs pos="100000">
                  <a:schemeClr val="tx1">
                    <a:gamma/>
                    <a:shade val="46275"/>
                    <a:invGamma/>
                    <a:alpha val="0"/>
                  </a:schemeClr>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4820" name="Group 4"/>
            <p:cNvGrpSpPr>
              <a:grpSpLocks/>
            </p:cNvGrpSpPr>
            <p:nvPr/>
          </p:nvGrpSpPr>
          <p:grpSpPr bwMode="auto">
            <a:xfrm>
              <a:off x="240" y="0"/>
              <a:ext cx="2246" cy="1810"/>
              <a:chOff x="0" y="0"/>
              <a:chExt cx="2556" cy="1958"/>
            </a:xfrm>
          </p:grpSpPr>
          <p:pic>
            <p:nvPicPr>
              <p:cNvPr id="34821" name="Picture 5" descr="apple icons"/>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0" y="0"/>
                <a:ext cx="2556" cy="1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2" name="Rectangle 6" descr="13"/>
              <p:cNvSpPr>
                <a:spLocks noChangeArrowheads="1"/>
              </p:cNvSpPr>
              <p:nvPr/>
            </p:nvSpPr>
            <p:spPr bwMode="auto">
              <a:xfrm>
                <a:off x="99" y="100"/>
                <a:ext cx="2358" cy="1336"/>
              </a:xfrm>
              <a:prstGeom prst="rect">
                <a:avLst/>
              </a:prstGeom>
              <a:blipFill dpi="0" rotWithShape="1">
                <a:blip r:embed="rId3" cstate="print">
                  <a:extLst>
                    <a:ext uri="{28A0092B-C50C-407E-A947-70E740481C1C}">
                      <a14:useLocalDpi xmlns:a14="http://schemas.microsoft.com/office/drawing/2010/main"/>
                    </a:ext>
                  </a:extLst>
                </a:blip>
                <a:srcRect/>
                <a:stretch>
                  <a:fillRect/>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34837" name="Freeform 21"/>
          <p:cNvSpPr>
            <a:spLocks/>
          </p:cNvSpPr>
          <p:nvPr/>
        </p:nvSpPr>
        <p:spPr bwMode="auto">
          <a:xfrm>
            <a:off x="4026456" y="1427373"/>
            <a:ext cx="1211263" cy="587556"/>
          </a:xfrm>
          <a:custGeom>
            <a:avLst/>
            <a:gdLst>
              <a:gd name="T0" fmla="*/ 465 w 488"/>
              <a:gd name="T1" fmla="*/ 0 h 237"/>
              <a:gd name="T2" fmla="*/ 23 w 488"/>
              <a:gd name="T3" fmla="*/ 0 h 237"/>
              <a:gd name="T4" fmla="*/ 0 w 488"/>
              <a:gd name="T5" fmla="*/ 22 h 237"/>
              <a:gd name="T6" fmla="*/ 0 w 488"/>
              <a:gd name="T7" fmla="*/ 184 h 237"/>
              <a:gd name="T8" fmla="*/ 23 w 488"/>
              <a:gd name="T9" fmla="*/ 207 h 237"/>
              <a:gd name="T10" fmla="*/ 227 w 488"/>
              <a:gd name="T11" fmla="*/ 207 h 237"/>
              <a:gd name="T12" fmla="*/ 235 w 488"/>
              <a:gd name="T13" fmla="*/ 220 h 237"/>
              <a:gd name="T14" fmla="*/ 244 w 488"/>
              <a:gd name="T15" fmla="*/ 237 h 237"/>
              <a:gd name="T16" fmla="*/ 254 w 488"/>
              <a:gd name="T17" fmla="*/ 220 h 237"/>
              <a:gd name="T18" fmla="*/ 262 w 488"/>
              <a:gd name="T19" fmla="*/ 207 h 237"/>
              <a:gd name="T20" fmla="*/ 465 w 488"/>
              <a:gd name="T21" fmla="*/ 207 h 237"/>
              <a:gd name="T22" fmla="*/ 488 w 488"/>
              <a:gd name="T23" fmla="*/ 184 h 237"/>
              <a:gd name="T24" fmla="*/ 488 w 488"/>
              <a:gd name="T25" fmla="*/ 22 h 237"/>
              <a:gd name="T26" fmla="*/ 465 w 488"/>
              <a:gd name="T27" fmla="*/ 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8" h="237">
                <a:moveTo>
                  <a:pt x="465" y="0"/>
                </a:moveTo>
                <a:cubicBezTo>
                  <a:pt x="23" y="0"/>
                  <a:pt x="23" y="0"/>
                  <a:pt x="23" y="0"/>
                </a:cubicBezTo>
                <a:cubicBezTo>
                  <a:pt x="10" y="0"/>
                  <a:pt x="0" y="10"/>
                  <a:pt x="0" y="22"/>
                </a:cubicBezTo>
                <a:cubicBezTo>
                  <a:pt x="0" y="184"/>
                  <a:pt x="0" y="184"/>
                  <a:pt x="0" y="184"/>
                </a:cubicBezTo>
                <a:cubicBezTo>
                  <a:pt x="0" y="197"/>
                  <a:pt x="10" y="207"/>
                  <a:pt x="23" y="207"/>
                </a:cubicBezTo>
                <a:cubicBezTo>
                  <a:pt x="227" y="207"/>
                  <a:pt x="227" y="207"/>
                  <a:pt x="227" y="207"/>
                </a:cubicBezTo>
                <a:cubicBezTo>
                  <a:pt x="235" y="220"/>
                  <a:pt x="235" y="220"/>
                  <a:pt x="235" y="220"/>
                </a:cubicBezTo>
                <a:cubicBezTo>
                  <a:pt x="244" y="237"/>
                  <a:pt x="244" y="237"/>
                  <a:pt x="244" y="237"/>
                </a:cubicBezTo>
                <a:cubicBezTo>
                  <a:pt x="254" y="220"/>
                  <a:pt x="254" y="220"/>
                  <a:pt x="254" y="220"/>
                </a:cubicBezTo>
                <a:cubicBezTo>
                  <a:pt x="262" y="207"/>
                  <a:pt x="262" y="207"/>
                  <a:pt x="262" y="207"/>
                </a:cubicBezTo>
                <a:cubicBezTo>
                  <a:pt x="465" y="207"/>
                  <a:pt x="465" y="207"/>
                  <a:pt x="465" y="207"/>
                </a:cubicBezTo>
                <a:cubicBezTo>
                  <a:pt x="478" y="207"/>
                  <a:pt x="488" y="197"/>
                  <a:pt x="488" y="184"/>
                </a:cubicBezTo>
                <a:cubicBezTo>
                  <a:pt x="488" y="22"/>
                  <a:pt x="488" y="22"/>
                  <a:pt x="488" y="22"/>
                </a:cubicBezTo>
                <a:cubicBezTo>
                  <a:pt x="488" y="10"/>
                  <a:pt x="478" y="0"/>
                  <a:pt x="465" y="0"/>
                </a:cubicBezTo>
                <a:close/>
              </a:path>
            </a:pathLst>
          </a:custGeom>
          <a:solidFill>
            <a:schemeClr val="accent1">
              <a:lumMod val="60000"/>
              <a:lumOff val="40000"/>
            </a:schemeClr>
          </a:solidFill>
          <a:ln>
            <a:noFill/>
          </a:ln>
        </p:spPr>
        <p:txBody>
          <a:bodyPr/>
          <a:lstStyle/>
          <a:p>
            <a:endParaRPr lang="zh-CN" altLang="en-US"/>
          </a:p>
        </p:txBody>
      </p:sp>
      <p:sp>
        <p:nvSpPr>
          <p:cNvPr id="34842" name="Freeform 26"/>
          <p:cNvSpPr>
            <a:spLocks/>
          </p:cNvSpPr>
          <p:nvPr/>
        </p:nvSpPr>
        <p:spPr bwMode="auto">
          <a:xfrm>
            <a:off x="854593" y="1497715"/>
            <a:ext cx="1211263" cy="587556"/>
          </a:xfrm>
          <a:custGeom>
            <a:avLst/>
            <a:gdLst>
              <a:gd name="T0" fmla="*/ 465 w 488"/>
              <a:gd name="T1" fmla="*/ 0 h 237"/>
              <a:gd name="T2" fmla="*/ 22 w 488"/>
              <a:gd name="T3" fmla="*/ 0 h 237"/>
              <a:gd name="T4" fmla="*/ 0 w 488"/>
              <a:gd name="T5" fmla="*/ 22 h 237"/>
              <a:gd name="T6" fmla="*/ 0 w 488"/>
              <a:gd name="T7" fmla="*/ 184 h 237"/>
              <a:gd name="T8" fmla="*/ 22 w 488"/>
              <a:gd name="T9" fmla="*/ 207 h 237"/>
              <a:gd name="T10" fmla="*/ 226 w 488"/>
              <a:gd name="T11" fmla="*/ 207 h 237"/>
              <a:gd name="T12" fmla="*/ 234 w 488"/>
              <a:gd name="T13" fmla="*/ 220 h 237"/>
              <a:gd name="T14" fmla="*/ 244 w 488"/>
              <a:gd name="T15" fmla="*/ 237 h 237"/>
              <a:gd name="T16" fmla="*/ 253 w 488"/>
              <a:gd name="T17" fmla="*/ 220 h 237"/>
              <a:gd name="T18" fmla="*/ 261 w 488"/>
              <a:gd name="T19" fmla="*/ 207 h 237"/>
              <a:gd name="T20" fmla="*/ 465 w 488"/>
              <a:gd name="T21" fmla="*/ 207 h 237"/>
              <a:gd name="T22" fmla="*/ 488 w 488"/>
              <a:gd name="T23" fmla="*/ 184 h 237"/>
              <a:gd name="T24" fmla="*/ 488 w 488"/>
              <a:gd name="T25" fmla="*/ 22 h 237"/>
              <a:gd name="T26" fmla="*/ 465 w 488"/>
              <a:gd name="T27" fmla="*/ 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8" h="237">
                <a:moveTo>
                  <a:pt x="465" y="0"/>
                </a:moveTo>
                <a:cubicBezTo>
                  <a:pt x="22" y="0"/>
                  <a:pt x="22" y="0"/>
                  <a:pt x="22" y="0"/>
                </a:cubicBezTo>
                <a:cubicBezTo>
                  <a:pt x="10" y="0"/>
                  <a:pt x="0" y="10"/>
                  <a:pt x="0" y="22"/>
                </a:cubicBezTo>
                <a:cubicBezTo>
                  <a:pt x="0" y="184"/>
                  <a:pt x="0" y="184"/>
                  <a:pt x="0" y="184"/>
                </a:cubicBezTo>
                <a:cubicBezTo>
                  <a:pt x="0" y="197"/>
                  <a:pt x="10" y="207"/>
                  <a:pt x="22" y="207"/>
                </a:cubicBezTo>
                <a:cubicBezTo>
                  <a:pt x="226" y="207"/>
                  <a:pt x="226" y="207"/>
                  <a:pt x="226" y="207"/>
                </a:cubicBezTo>
                <a:cubicBezTo>
                  <a:pt x="234" y="220"/>
                  <a:pt x="234" y="220"/>
                  <a:pt x="234" y="220"/>
                </a:cubicBezTo>
                <a:cubicBezTo>
                  <a:pt x="244" y="237"/>
                  <a:pt x="244" y="237"/>
                  <a:pt x="244" y="237"/>
                </a:cubicBezTo>
                <a:cubicBezTo>
                  <a:pt x="253" y="220"/>
                  <a:pt x="253" y="220"/>
                  <a:pt x="253" y="220"/>
                </a:cubicBezTo>
                <a:cubicBezTo>
                  <a:pt x="261" y="207"/>
                  <a:pt x="261" y="207"/>
                  <a:pt x="261" y="207"/>
                </a:cubicBezTo>
                <a:cubicBezTo>
                  <a:pt x="465" y="207"/>
                  <a:pt x="465" y="207"/>
                  <a:pt x="465" y="207"/>
                </a:cubicBezTo>
                <a:cubicBezTo>
                  <a:pt x="477" y="207"/>
                  <a:pt x="488" y="197"/>
                  <a:pt x="488" y="184"/>
                </a:cubicBezTo>
                <a:cubicBezTo>
                  <a:pt x="488" y="22"/>
                  <a:pt x="488" y="22"/>
                  <a:pt x="488" y="22"/>
                </a:cubicBezTo>
                <a:cubicBezTo>
                  <a:pt x="488" y="10"/>
                  <a:pt x="477" y="0"/>
                  <a:pt x="465" y="0"/>
                </a:cubicBezTo>
                <a:close/>
              </a:path>
            </a:pathLst>
          </a:custGeom>
          <a:solidFill>
            <a:schemeClr val="accent1"/>
          </a:solidFill>
          <a:ln>
            <a:noFill/>
          </a:ln>
        </p:spPr>
        <p:txBody>
          <a:bodyPr/>
          <a:lstStyle/>
          <a:p>
            <a:endParaRPr lang="zh-CN" altLang="en-US"/>
          </a:p>
        </p:txBody>
      </p:sp>
      <p:sp>
        <p:nvSpPr>
          <p:cNvPr id="34847" name="Freeform 31"/>
          <p:cNvSpPr>
            <a:spLocks/>
          </p:cNvSpPr>
          <p:nvPr/>
        </p:nvSpPr>
        <p:spPr bwMode="auto">
          <a:xfrm>
            <a:off x="6835614" y="1506274"/>
            <a:ext cx="1346944" cy="651992"/>
          </a:xfrm>
          <a:custGeom>
            <a:avLst/>
            <a:gdLst>
              <a:gd name="T0" fmla="*/ 612 w 635"/>
              <a:gd name="T1" fmla="*/ 0 h 315"/>
              <a:gd name="T2" fmla="*/ 23 w 635"/>
              <a:gd name="T3" fmla="*/ 0 h 315"/>
              <a:gd name="T4" fmla="*/ 0 w 635"/>
              <a:gd name="T5" fmla="*/ 23 h 315"/>
              <a:gd name="T6" fmla="*/ 0 w 635"/>
              <a:gd name="T7" fmla="*/ 262 h 315"/>
              <a:gd name="T8" fmla="*/ 23 w 635"/>
              <a:gd name="T9" fmla="*/ 285 h 315"/>
              <a:gd name="T10" fmla="*/ 308 w 635"/>
              <a:gd name="T11" fmla="*/ 285 h 315"/>
              <a:gd name="T12" fmla="*/ 316 w 635"/>
              <a:gd name="T13" fmla="*/ 298 h 315"/>
              <a:gd name="T14" fmla="*/ 325 w 635"/>
              <a:gd name="T15" fmla="*/ 315 h 315"/>
              <a:gd name="T16" fmla="*/ 335 w 635"/>
              <a:gd name="T17" fmla="*/ 298 h 315"/>
              <a:gd name="T18" fmla="*/ 343 w 635"/>
              <a:gd name="T19" fmla="*/ 285 h 315"/>
              <a:gd name="T20" fmla="*/ 612 w 635"/>
              <a:gd name="T21" fmla="*/ 285 h 315"/>
              <a:gd name="T22" fmla="*/ 635 w 635"/>
              <a:gd name="T23" fmla="*/ 262 h 315"/>
              <a:gd name="T24" fmla="*/ 635 w 635"/>
              <a:gd name="T25" fmla="*/ 23 h 315"/>
              <a:gd name="T26" fmla="*/ 612 w 635"/>
              <a:gd name="T27"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5" h="315">
                <a:moveTo>
                  <a:pt x="612" y="0"/>
                </a:moveTo>
                <a:cubicBezTo>
                  <a:pt x="23" y="0"/>
                  <a:pt x="23" y="0"/>
                  <a:pt x="23" y="0"/>
                </a:cubicBezTo>
                <a:cubicBezTo>
                  <a:pt x="10" y="0"/>
                  <a:pt x="0" y="10"/>
                  <a:pt x="0" y="23"/>
                </a:cubicBezTo>
                <a:cubicBezTo>
                  <a:pt x="0" y="262"/>
                  <a:pt x="0" y="262"/>
                  <a:pt x="0" y="262"/>
                </a:cubicBezTo>
                <a:cubicBezTo>
                  <a:pt x="0" y="275"/>
                  <a:pt x="10" y="285"/>
                  <a:pt x="23" y="285"/>
                </a:cubicBezTo>
                <a:cubicBezTo>
                  <a:pt x="308" y="285"/>
                  <a:pt x="308" y="285"/>
                  <a:pt x="308" y="285"/>
                </a:cubicBezTo>
                <a:cubicBezTo>
                  <a:pt x="316" y="298"/>
                  <a:pt x="316" y="298"/>
                  <a:pt x="316" y="298"/>
                </a:cubicBezTo>
                <a:cubicBezTo>
                  <a:pt x="325" y="315"/>
                  <a:pt x="325" y="315"/>
                  <a:pt x="325" y="315"/>
                </a:cubicBezTo>
                <a:cubicBezTo>
                  <a:pt x="335" y="298"/>
                  <a:pt x="335" y="298"/>
                  <a:pt x="335" y="298"/>
                </a:cubicBezTo>
                <a:cubicBezTo>
                  <a:pt x="343" y="285"/>
                  <a:pt x="343" y="285"/>
                  <a:pt x="343" y="285"/>
                </a:cubicBezTo>
                <a:cubicBezTo>
                  <a:pt x="612" y="285"/>
                  <a:pt x="612" y="285"/>
                  <a:pt x="612" y="285"/>
                </a:cubicBezTo>
                <a:cubicBezTo>
                  <a:pt x="624" y="285"/>
                  <a:pt x="635" y="275"/>
                  <a:pt x="635" y="262"/>
                </a:cubicBezTo>
                <a:cubicBezTo>
                  <a:pt x="635" y="23"/>
                  <a:pt x="635" y="23"/>
                  <a:pt x="635" y="23"/>
                </a:cubicBezTo>
                <a:cubicBezTo>
                  <a:pt x="635" y="10"/>
                  <a:pt x="624" y="0"/>
                  <a:pt x="612" y="0"/>
                </a:cubicBezTo>
                <a:close/>
              </a:path>
            </a:pathLst>
          </a:custGeom>
          <a:solidFill>
            <a:schemeClr val="accent1">
              <a:lumMod val="75000"/>
            </a:schemeClr>
          </a:solidFill>
          <a:ln>
            <a:noFill/>
          </a:ln>
        </p:spPr>
        <p:txBody>
          <a:bodyPr/>
          <a:lstStyle/>
          <a:p>
            <a:endParaRPr lang="zh-CN" altLang="en-US"/>
          </a:p>
        </p:txBody>
      </p:sp>
      <p:sp>
        <p:nvSpPr>
          <p:cNvPr id="34848" name="Rectangle 32"/>
          <p:cNvSpPr>
            <a:spLocks noChangeArrowheads="1"/>
          </p:cNvSpPr>
          <p:nvPr/>
        </p:nvSpPr>
        <p:spPr bwMode="auto">
          <a:xfrm>
            <a:off x="6861386" y="1497715"/>
            <a:ext cx="1295400" cy="608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50000"/>
              </a:lnSpc>
              <a:buFont typeface="Arial" charset="0"/>
              <a:buNone/>
            </a:pPr>
            <a:r>
              <a:rPr lang="zh-CN" altLang="en-US" sz="1200" dirty="0">
                <a:solidFill>
                  <a:schemeClr val="bg1"/>
                </a:solidFill>
                <a:latin typeface="Agency FB" panose="020B0503020202020204" pitchFamily="34" charset="0"/>
              </a:rPr>
              <a:t>成功将镜像推送至</a:t>
            </a:r>
            <a:r>
              <a:rPr lang="en-US" altLang="zh-CN" sz="1200" dirty="0">
                <a:solidFill>
                  <a:schemeClr val="bg1"/>
                </a:solidFill>
                <a:latin typeface="Agency FB" panose="020B0503020202020204" pitchFamily="34" charset="0"/>
              </a:rPr>
              <a:t>Harbor</a:t>
            </a:r>
            <a:r>
              <a:rPr lang="zh-CN" altLang="en-US" sz="1200" dirty="0">
                <a:solidFill>
                  <a:schemeClr val="bg1"/>
                </a:solidFill>
                <a:latin typeface="Agency FB" panose="020B0503020202020204" pitchFamily="34" charset="0"/>
              </a:rPr>
              <a:t>镜像仓库</a:t>
            </a:r>
          </a:p>
        </p:txBody>
      </p:sp>
      <p:sp>
        <p:nvSpPr>
          <p:cNvPr id="34849" name="Rectangle 33"/>
          <p:cNvSpPr>
            <a:spLocks noChangeArrowheads="1"/>
          </p:cNvSpPr>
          <p:nvPr/>
        </p:nvSpPr>
        <p:spPr bwMode="auto">
          <a:xfrm>
            <a:off x="822674" y="1427373"/>
            <a:ext cx="1295400" cy="608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50000"/>
              </a:lnSpc>
              <a:buFont typeface="Arial" charset="0"/>
              <a:buNone/>
            </a:pPr>
            <a:r>
              <a:rPr lang="zh-CN" altLang="en-US" sz="1200" dirty="0">
                <a:solidFill>
                  <a:schemeClr val="bg1"/>
                </a:solidFill>
                <a:latin typeface="Agency FB" panose="020B0503020202020204" pitchFamily="34" charset="0"/>
              </a:rPr>
              <a:t>成功构建镜像创建容器部署服务</a:t>
            </a:r>
          </a:p>
        </p:txBody>
      </p:sp>
      <p:sp>
        <p:nvSpPr>
          <p:cNvPr id="34850" name="Rectangle 34"/>
          <p:cNvSpPr>
            <a:spLocks noChangeArrowheads="1"/>
          </p:cNvSpPr>
          <p:nvPr/>
        </p:nvSpPr>
        <p:spPr bwMode="auto">
          <a:xfrm>
            <a:off x="3984486" y="1360484"/>
            <a:ext cx="1295400" cy="608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50000"/>
              </a:lnSpc>
              <a:buFont typeface="Arial" charset="0"/>
              <a:buNone/>
            </a:pPr>
            <a:r>
              <a:rPr lang="zh-CN" altLang="en-US" sz="1200" dirty="0">
                <a:solidFill>
                  <a:schemeClr val="bg1"/>
                </a:solidFill>
                <a:latin typeface="Agency FB" panose="020B0503020202020204" pitchFamily="34" charset="0"/>
              </a:rPr>
              <a:t>通过</a:t>
            </a:r>
            <a:r>
              <a:rPr lang="en-US" altLang="zh-CN" sz="1200" dirty="0">
                <a:solidFill>
                  <a:schemeClr val="bg1"/>
                </a:solidFill>
                <a:latin typeface="Agency FB" panose="020B0503020202020204" pitchFamily="34" charset="0"/>
              </a:rPr>
              <a:t>30010</a:t>
            </a:r>
            <a:r>
              <a:rPr lang="zh-CN" altLang="en-US" sz="1200" dirty="0">
                <a:solidFill>
                  <a:schemeClr val="bg1"/>
                </a:solidFill>
                <a:latin typeface="Agency FB" panose="020B0503020202020204" pitchFamily="34" charset="0"/>
              </a:rPr>
              <a:t>端口成功访问服务</a:t>
            </a:r>
          </a:p>
        </p:txBody>
      </p:sp>
      <p:sp>
        <p:nvSpPr>
          <p:cNvPr id="28" name="Text Box 42"/>
          <p:cNvSpPr txBox="1">
            <a:spLocks noChangeArrowheads="1"/>
          </p:cNvSpPr>
          <p:nvPr/>
        </p:nvSpPr>
        <p:spPr bwMode="auto">
          <a:xfrm>
            <a:off x="3864114" y="290122"/>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 typeface="Arial" charset="0"/>
              <a:buNone/>
            </a:pPr>
            <a:r>
              <a:rPr lang="zh-CN" altLang="en-US" sz="2400" b="1" dirty="0">
                <a:solidFill>
                  <a:schemeClr val="accent1"/>
                </a:solidFill>
                <a:latin typeface="微软雅黑" pitchFamily="34" charset="-122"/>
                <a:ea typeface="微软雅黑" pitchFamily="34" charset="-122"/>
              </a:rPr>
              <a:t>成果展示</a:t>
            </a:r>
            <a:endParaRPr lang="en-US" altLang="zh-CN" sz="2400" b="1" dirty="0">
              <a:solidFill>
                <a:schemeClr val="accent1"/>
              </a:solidFill>
              <a:latin typeface="微软雅黑" pitchFamily="34" charset="-122"/>
              <a:ea typeface="微软雅黑" pitchFamily="34" charset="-122"/>
            </a:endParaRPr>
          </a:p>
        </p:txBody>
      </p:sp>
      <p:cxnSp>
        <p:nvCxnSpPr>
          <p:cNvPr id="30" name="直接连接符 29"/>
          <p:cNvCxnSpPr/>
          <p:nvPr/>
        </p:nvCxnSpPr>
        <p:spPr>
          <a:xfrm>
            <a:off x="4226801" y="974973"/>
            <a:ext cx="690398"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ABE79086-5A55-1C0C-C384-2FEBCBBE92E2}"/>
              </a:ext>
            </a:extLst>
          </p:cNvPr>
          <p:cNvPicPr>
            <a:picLocks noChangeAspect="1"/>
          </p:cNvPicPr>
          <p:nvPr/>
        </p:nvPicPr>
        <p:blipFill>
          <a:blip r:embed="rId4"/>
          <a:stretch>
            <a:fillRect/>
          </a:stretch>
        </p:blipFill>
        <p:spPr>
          <a:xfrm>
            <a:off x="290818" y="2138532"/>
            <a:ext cx="2482600" cy="1324389"/>
          </a:xfrm>
          <a:prstGeom prst="rect">
            <a:avLst/>
          </a:prstGeom>
        </p:spPr>
      </p:pic>
      <p:pic>
        <p:nvPicPr>
          <p:cNvPr id="4" name="图片 3">
            <a:extLst>
              <a:ext uri="{FF2B5EF4-FFF2-40B4-BE49-F238E27FC236}">
                <a16:creationId xmlns:a16="http://schemas.microsoft.com/office/drawing/2014/main" id="{F379F71C-C44C-0A4F-2389-571A41A63E48}"/>
              </a:ext>
            </a:extLst>
          </p:cNvPr>
          <p:cNvPicPr>
            <a:picLocks noChangeAspect="1"/>
          </p:cNvPicPr>
          <p:nvPr/>
        </p:nvPicPr>
        <p:blipFill>
          <a:blip r:embed="rId5"/>
          <a:stretch>
            <a:fillRect/>
          </a:stretch>
        </p:blipFill>
        <p:spPr>
          <a:xfrm>
            <a:off x="6477043" y="2138532"/>
            <a:ext cx="2456139" cy="1320237"/>
          </a:xfrm>
          <a:prstGeom prst="rect">
            <a:avLst/>
          </a:prstGeom>
        </p:spPr>
      </p:pic>
      <p:pic>
        <p:nvPicPr>
          <p:cNvPr id="5" name="图片 4">
            <a:extLst>
              <a:ext uri="{FF2B5EF4-FFF2-40B4-BE49-F238E27FC236}">
                <a16:creationId xmlns:a16="http://schemas.microsoft.com/office/drawing/2014/main" id="{55948997-EA62-A541-86A2-D769EAFBA073}"/>
              </a:ext>
            </a:extLst>
          </p:cNvPr>
          <p:cNvPicPr>
            <a:picLocks noChangeAspect="1"/>
          </p:cNvPicPr>
          <p:nvPr/>
        </p:nvPicPr>
        <p:blipFill rotWithShape="1">
          <a:blip r:embed="rId6"/>
          <a:srcRect l="9580" r="5626" b="10241"/>
          <a:stretch/>
        </p:blipFill>
        <p:spPr>
          <a:xfrm>
            <a:off x="2971440" y="2257624"/>
            <a:ext cx="3297882" cy="1880301"/>
          </a:xfrm>
          <a:prstGeom prst="rect">
            <a:avLst/>
          </a:prstGeom>
        </p:spPr>
      </p:pic>
      <p:pic>
        <p:nvPicPr>
          <p:cNvPr id="6" name="图片 5">
            <a:extLst>
              <a:ext uri="{FF2B5EF4-FFF2-40B4-BE49-F238E27FC236}">
                <a16:creationId xmlns:a16="http://schemas.microsoft.com/office/drawing/2014/main" id="{7C9AD557-2283-54BF-9014-B1738AAED97A}"/>
              </a:ext>
            </a:extLst>
          </p:cNvPr>
          <p:cNvPicPr>
            <a:picLocks noChangeAspect="1"/>
          </p:cNvPicPr>
          <p:nvPr/>
        </p:nvPicPr>
        <p:blipFill>
          <a:blip r:embed="rId7"/>
          <a:stretch>
            <a:fillRect/>
          </a:stretch>
        </p:blipFill>
        <p:spPr>
          <a:xfrm>
            <a:off x="6485185" y="3752766"/>
            <a:ext cx="2447997" cy="349011"/>
          </a:xfrm>
          <a:prstGeom prst="rect">
            <a:avLst/>
          </a:prstGeom>
        </p:spPr>
      </p:pic>
      <p:pic>
        <p:nvPicPr>
          <p:cNvPr id="7" name="图片 6">
            <a:extLst>
              <a:ext uri="{FF2B5EF4-FFF2-40B4-BE49-F238E27FC236}">
                <a16:creationId xmlns:a16="http://schemas.microsoft.com/office/drawing/2014/main" id="{C372E667-D4CC-6F1B-C28A-A8A841972DBC}"/>
              </a:ext>
            </a:extLst>
          </p:cNvPr>
          <p:cNvPicPr>
            <a:picLocks noChangeAspect="1"/>
          </p:cNvPicPr>
          <p:nvPr/>
        </p:nvPicPr>
        <p:blipFill>
          <a:blip r:embed="rId8"/>
          <a:stretch>
            <a:fillRect/>
          </a:stretch>
        </p:blipFill>
        <p:spPr>
          <a:xfrm>
            <a:off x="269574" y="3692449"/>
            <a:ext cx="2434223" cy="667927"/>
          </a:xfrm>
          <a:prstGeom prst="rect">
            <a:avLst/>
          </a:prstGeom>
        </p:spPr>
      </p:pic>
    </p:spTree>
    <p:extLst>
      <p:ext uri="{BB962C8B-B14F-4D97-AF65-F5344CB8AC3E}">
        <p14:creationId xmlns:p14="http://schemas.microsoft.com/office/powerpoint/2010/main" val="144379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35"/>
          <p:cNvSpPr>
            <a:spLocks noChangeArrowheads="1"/>
          </p:cNvSpPr>
          <p:nvPr/>
        </p:nvSpPr>
        <p:spPr bwMode="auto">
          <a:xfrm>
            <a:off x="2609443" y="1826957"/>
            <a:ext cx="6534557" cy="1515190"/>
          </a:xfrm>
          <a:custGeom>
            <a:avLst/>
            <a:gdLst/>
            <a:ahLst/>
            <a:cxnLst/>
            <a:rect l="l" t="t" r="r" b="b"/>
            <a:pathLst>
              <a:path w="6534557" h="1515190">
                <a:moveTo>
                  <a:pt x="756065" y="0"/>
                </a:moveTo>
                <a:lnTo>
                  <a:pt x="6534557" y="0"/>
                </a:lnTo>
                <a:lnTo>
                  <a:pt x="6534557" y="1515190"/>
                </a:lnTo>
                <a:lnTo>
                  <a:pt x="756065" y="1515190"/>
                </a:lnTo>
                <a:cubicBezTo>
                  <a:pt x="338502" y="1515190"/>
                  <a:pt x="0" y="1176003"/>
                  <a:pt x="0" y="757595"/>
                </a:cubicBezTo>
                <a:cubicBezTo>
                  <a:pt x="0" y="339187"/>
                  <a:pt x="338502" y="0"/>
                  <a:pt x="756065" y="0"/>
                </a:cubicBezTo>
                <a:close/>
              </a:path>
            </a:pathLst>
          </a:custGeom>
          <a:solidFill>
            <a:schemeClr val="accent2"/>
          </a:solidFill>
          <a:ln>
            <a:noFill/>
          </a:ln>
        </p:spPr>
        <p:txBody>
          <a:bodyPr/>
          <a:lstStyle/>
          <a:p>
            <a:endParaRPr lang="zh-CN" altLang="en-US"/>
          </a:p>
        </p:txBody>
      </p:sp>
      <p:sp>
        <p:nvSpPr>
          <p:cNvPr id="5155" name="Oval 35"/>
          <p:cNvSpPr>
            <a:spLocks noChangeArrowheads="1"/>
          </p:cNvSpPr>
          <p:nvPr/>
        </p:nvSpPr>
        <p:spPr bwMode="auto">
          <a:xfrm>
            <a:off x="2725702" y="1943451"/>
            <a:ext cx="1279612" cy="1282202"/>
          </a:xfrm>
          <a:prstGeom prst="ellipse">
            <a:avLst/>
          </a:prstGeom>
          <a:solidFill>
            <a:schemeClr val="accent1"/>
          </a:solidFill>
          <a:ln>
            <a:noFill/>
          </a:ln>
        </p:spPr>
        <p:txBody>
          <a:bodyPr/>
          <a:lstStyle/>
          <a:p>
            <a:endParaRPr lang="zh-CN" altLang="en-US"/>
          </a:p>
        </p:txBody>
      </p:sp>
      <p:sp>
        <p:nvSpPr>
          <p:cNvPr id="12" name="矩形 11"/>
          <p:cNvSpPr/>
          <p:nvPr/>
        </p:nvSpPr>
        <p:spPr>
          <a:xfrm>
            <a:off x="4572558" y="2275559"/>
            <a:ext cx="870751" cy="526811"/>
          </a:xfrm>
          <a:prstGeom prst="rect">
            <a:avLst/>
          </a:prstGeom>
        </p:spPr>
        <p:txBody>
          <a:bodyPr wrap="none">
            <a:spAutoFit/>
          </a:bodyPr>
          <a:lstStyle/>
          <a:p>
            <a:pPr marL="171450" indent="-171450">
              <a:lnSpc>
                <a:spcPct val="150000"/>
              </a:lnSpc>
              <a:buFont typeface="Wingdings" pitchFamily="2" charset="2"/>
              <a:buChar char="l"/>
            </a:pPr>
            <a:r>
              <a:rPr lang="zh-CN" altLang="en-US" sz="1000" dirty="0">
                <a:ln w="6350">
                  <a:noFill/>
                </a:ln>
                <a:solidFill>
                  <a:schemeClr val="bg1"/>
                </a:solidFill>
                <a:latin typeface="微软雅黑" pitchFamily="34" charset="-122"/>
                <a:ea typeface="微软雅黑" pitchFamily="34" charset="-122"/>
              </a:rPr>
              <a:t>研究总结</a:t>
            </a:r>
          </a:p>
          <a:p>
            <a:pPr marL="171450" indent="-171450">
              <a:lnSpc>
                <a:spcPct val="150000"/>
              </a:lnSpc>
              <a:buFont typeface="Wingdings" pitchFamily="2" charset="2"/>
              <a:buChar char="l"/>
            </a:pPr>
            <a:r>
              <a:rPr lang="zh-CN" altLang="en-US" sz="1000" dirty="0">
                <a:ln w="6350">
                  <a:noFill/>
                </a:ln>
                <a:solidFill>
                  <a:schemeClr val="bg1"/>
                </a:solidFill>
                <a:latin typeface="微软雅黑" pitchFamily="34" charset="-122"/>
                <a:ea typeface="微软雅黑" pitchFamily="34" charset="-122"/>
              </a:rPr>
              <a:t>未来发展</a:t>
            </a:r>
          </a:p>
        </p:txBody>
      </p:sp>
      <p:sp>
        <p:nvSpPr>
          <p:cNvPr id="13" name="矩形 12"/>
          <p:cNvSpPr/>
          <p:nvPr/>
        </p:nvSpPr>
        <p:spPr>
          <a:xfrm>
            <a:off x="4572558" y="1875449"/>
            <a:ext cx="2519722" cy="400110"/>
          </a:xfrm>
          <a:prstGeom prst="rect">
            <a:avLst/>
          </a:prstGeom>
        </p:spPr>
        <p:txBody>
          <a:bodyPr wrap="square">
            <a:spAutoFit/>
          </a:bodyPr>
          <a:lstStyle/>
          <a:p>
            <a:r>
              <a:rPr lang="zh-CN" altLang="en-US" sz="2000" b="1" dirty="0">
                <a:ln w="6350">
                  <a:noFill/>
                </a:ln>
                <a:solidFill>
                  <a:schemeClr val="bg1"/>
                </a:solidFill>
                <a:latin typeface="微软雅黑" pitchFamily="34" charset="-122"/>
                <a:ea typeface="微软雅黑" pitchFamily="34" charset="-122"/>
              </a:rPr>
              <a:t>总结</a:t>
            </a:r>
          </a:p>
        </p:txBody>
      </p:sp>
      <p:grpSp>
        <p:nvGrpSpPr>
          <p:cNvPr id="9" name="组合 8"/>
          <p:cNvGrpSpPr/>
          <p:nvPr/>
        </p:nvGrpSpPr>
        <p:grpSpPr>
          <a:xfrm>
            <a:off x="3126310" y="2243981"/>
            <a:ext cx="478396" cy="646186"/>
            <a:chOff x="5591175" y="5337175"/>
            <a:chExt cx="547687" cy="739776"/>
          </a:xfrm>
        </p:grpSpPr>
        <p:sp>
          <p:nvSpPr>
            <p:cNvPr id="11" name="Freeform 17"/>
            <p:cNvSpPr>
              <a:spLocks/>
            </p:cNvSpPr>
            <p:nvPr/>
          </p:nvSpPr>
          <p:spPr bwMode="auto">
            <a:xfrm>
              <a:off x="5692775" y="5667375"/>
              <a:ext cx="347662" cy="214313"/>
            </a:xfrm>
            <a:custGeom>
              <a:avLst/>
              <a:gdLst>
                <a:gd name="T0" fmla="*/ 0 w 219"/>
                <a:gd name="T1" fmla="*/ 50 h 135"/>
                <a:gd name="T2" fmla="*/ 85 w 219"/>
                <a:gd name="T3" fmla="*/ 135 h 135"/>
                <a:gd name="T4" fmla="*/ 219 w 219"/>
                <a:gd name="T5" fmla="*/ 0 h 135"/>
              </a:gdLst>
              <a:ahLst/>
              <a:cxnLst>
                <a:cxn ang="0">
                  <a:pos x="T0" y="T1"/>
                </a:cxn>
                <a:cxn ang="0">
                  <a:pos x="T2" y="T3"/>
                </a:cxn>
                <a:cxn ang="0">
                  <a:pos x="T4" y="T5"/>
                </a:cxn>
              </a:cxnLst>
              <a:rect l="0" t="0" r="r" b="b"/>
              <a:pathLst>
                <a:path w="219" h="135">
                  <a:moveTo>
                    <a:pt x="0" y="50"/>
                  </a:moveTo>
                  <a:lnTo>
                    <a:pt x="85" y="135"/>
                  </a:lnTo>
                  <a:lnTo>
                    <a:pt x="219" y="0"/>
                  </a:ln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Freeform 18"/>
            <p:cNvSpPr>
              <a:spLocks/>
            </p:cNvSpPr>
            <p:nvPr/>
          </p:nvSpPr>
          <p:spPr bwMode="auto">
            <a:xfrm>
              <a:off x="5591175" y="5453063"/>
              <a:ext cx="547687" cy="623888"/>
            </a:xfrm>
            <a:custGeom>
              <a:avLst/>
              <a:gdLst>
                <a:gd name="T0" fmla="*/ 16 w 146"/>
                <a:gd name="T1" fmla="*/ 0 h 166"/>
                <a:gd name="T2" fmla="*/ 6 w 146"/>
                <a:gd name="T3" fmla="*/ 0 h 166"/>
                <a:gd name="T4" fmla="*/ 0 w 146"/>
                <a:gd name="T5" fmla="*/ 5 h 166"/>
                <a:gd name="T6" fmla="*/ 0 w 146"/>
                <a:gd name="T7" fmla="*/ 161 h 166"/>
                <a:gd name="T8" fmla="*/ 6 w 146"/>
                <a:gd name="T9" fmla="*/ 166 h 166"/>
                <a:gd name="T10" fmla="*/ 141 w 146"/>
                <a:gd name="T11" fmla="*/ 166 h 166"/>
                <a:gd name="T12" fmla="*/ 146 w 146"/>
                <a:gd name="T13" fmla="*/ 161 h 166"/>
                <a:gd name="T14" fmla="*/ 146 w 146"/>
                <a:gd name="T15" fmla="*/ 5 h 166"/>
                <a:gd name="T16" fmla="*/ 141 w 146"/>
                <a:gd name="T17" fmla="*/ 0 h 166"/>
                <a:gd name="T18" fmla="*/ 131 w 146"/>
                <a:gd name="T1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 h="166">
                  <a:moveTo>
                    <a:pt x="16" y="0"/>
                  </a:moveTo>
                  <a:cubicBezTo>
                    <a:pt x="6" y="0"/>
                    <a:pt x="6" y="0"/>
                    <a:pt x="6" y="0"/>
                  </a:cubicBezTo>
                  <a:cubicBezTo>
                    <a:pt x="3" y="0"/>
                    <a:pt x="0" y="2"/>
                    <a:pt x="0" y="5"/>
                  </a:cubicBezTo>
                  <a:cubicBezTo>
                    <a:pt x="0" y="161"/>
                    <a:pt x="0" y="161"/>
                    <a:pt x="0" y="161"/>
                  </a:cubicBezTo>
                  <a:cubicBezTo>
                    <a:pt x="0" y="164"/>
                    <a:pt x="3" y="166"/>
                    <a:pt x="6" y="166"/>
                  </a:cubicBezTo>
                  <a:cubicBezTo>
                    <a:pt x="141" y="166"/>
                    <a:pt x="141" y="166"/>
                    <a:pt x="141" y="166"/>
                  </a:cubicBezTo>
                  <a:cubicBezTo>
                    <a:pt x="144" y="166"/>
                    <a:pt x="146" y="164"/>
                    <a:pt x="146" y="161"/>
                  </a:cubicBezTo>
                  <a:cubicBezTo>
                    <a:pt x="146" y="5"/>
                    <a:pt x="146" y="5"/>
                    <a:pt x="146" y="5"/>
                  </a:cubicBezTo>
                  <a:cubicBezTo>
                    <a:pt x="146" y="2"/>
                    <a:pt x="144" y="0"/>
                    <a:pt x="141" y="0"/>
                  </a:cubicBezTo>
                  <a:cubicBezTo>
                    <a:pt x="131" y="0"/>
                    <a:pt x="131" y="0"/>
                    <a:pt x="131" y="0"/>
                  </a:cubicBez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Freeform 19"/>
            <p:cNvSpPr>
              <a:spLocks/>
            </p:cNvSpPr>
            <p:nvPr/>
          </p:nvSpPr>
          <p:spPr bwMode="auto">
            <a:xfrm>
              <a:off x="5711825" y="5337175"/>
              <a:ext cx="311150" cy="153988"/>
            </a:xfrm>
            <a:custGeom>
              <a:avLst/>
              <a:gdLst>
                <a:gd name="T0" fmla="*/ 36 w 83"/>
                <a:gd name="T1" fmla="*/ 0 h 41"/>
                <a:gd name="T2" fmla="*/ 30 w 83"/>
                <a:gd name="T3" fmla="*/ 5 h 41"/>
                <a:gd name="T4" fmla="*/ 27 w 83"/>
                <a:gd name="T5" fmla="*/ 15 h 41"/>
                <a:gd name="T6" fmla="*/ 21 w 83"/>
                <a:gd name="T7" fmla="*/ 20 h 41"/>
                <a:gd name="T8" fmla="*/ 10 w 83"/>
                <a:gd name="T9" fmla="*/ 20 h 41"/>
                <a:gd name="T10" fmla="*/ 4 w 83"/>
                <a:gd name="T11" fmla="*/ 25 h 41"/>
                <a:gd name="T12" fmla="*/ 1 w 83"/>
                <a:gd name="T13" fmla="*/ 36 h 41"/>
                <a:gd name="T14" fmla="*/ 5 w 83"/>
                <a:gd name="T15" fmla="*/ 41 h 41"/>
                <a:gd name="T16" fmla="*/ 78 w 83"/>
                <a:gd name="T17" fmla="*/ 41 h 41"/>
                <a:gd name="T18" fmla="*/ 82 w 83"/>
                <a:gd name="T19" fmla="*/ 36 h 41"/>
                <a:gd name="T20" fmla="*/ 79 w 83"/>
                <a:gd name="T21" fmla="*/ 25 h 41"/>
                <a:gd name="T22" fmla="*/ 73 w 83"/>
                <a:gd name="T23" fmla="*/ 20 h 41"/>
                <a:gd name="T24" fmla="*/ 62 w 83"/>
                <a:gd name="T25" fmla="*/ 20 h 41"/>
                <a:gd name="T26" fmla="*/ 56 w 83"/>
                <a:gd name="T27" fmla="*/ 15 h 41"/>
                <a:gd name="T28" fmla="*/ 53 w 83"/>
                <a:gd name="T29" fmla="*/ 5 h 41"/>
                <a:gd name="T30" fmla="*/ 47 w 83"/>
                <a:gd name="T31" fmla="*/ 0 h 41"/>
                <a:gd name="T32" fmla="*/ 36 w 83"/>
                <a:gd name="T3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1">
                  <a:moveTo>
                    <a:pt x="36" y="0"/>
                  </a:moveTo>
                  <a:cubicBezTo>
                    <a:pt x="33" y="0"/>
                    <a:pt x="30" y="2"/>
                    <a:pt x="30" y="5"/>
                  </a:cubicBezTo>
                  <a:cubicBezTo>
                    <a:pt x="27" y="15"/>
                    <a:pt x="27" y="15"/>
                    <a:pt x="27" y="15"/>
                  </a:cubicBezTo>
                  <a:cubicBezTo>
                    <a:pt x="26" y="18"/>
                    <a:pt x="23" y="20"/>
                    <a:pt x="21" y="20"/>
                  </a:cubicBezTo>
                  <a:cubicBezTo>
                    <a:pt x="10" y="20"/>
                    <a:pt x="10" y="20"/>
                    <a:pt x="10" y="20"/>
                  </a:cubicBezTo>
                  <a:cubicBezTo>
                    <a:pt x="7" y="20"/>
                    <a:pt x="4" y="23"/>
                    <a:pt x="4" y="25"/>
                  </a:cubicBezTo>
                  <a:cubicBezTo>
                    <a:pt x="1" y="36"/>
                    <a:pt x="1" y="36"/>
                    <a:pt x="1" y="36"/>
                  </a:cubicBezTo>
                  <a:cubicBezTo>
                    <a:pt x="0" y="39"/>
                    <a:pt x="2" y="41"/>
                    <a:pt x="5" y="41"/>
                  </a:cubicBezTo>
                  <a:cubicBezTo>
                    <a:pt x="78" y="41"/>
                    <a:pt x="78" y="41"/>
                    <a:pt x="78" y="41"/>
                  </a:cubicBezTo>
                  <a:cubicBezTo>
                    <a:pt x="81" y="41"/>
                    <a:pt x="83" y="39"/>
                    <a:pt x="82" y="36"/>
                  </a:cubicBezTo>
                  <a:cubicBezTo>
                    <a:pt x="79" y="25"/>
                    <a:pt x="79" y="25"/>
                    <a:pt x="79" y="25"/>
                  </a:cubicBezTo>
                  <a:cubicBezTo>
                    <a:pt x="78" y="23"/>
                    <a:pt x="76" y="20"/>
                    <a:pt x="73" y="20"/>
                  </a:cubicBezTo>
                  <a:cubicBezTo>
                    <a:pt x="62" y="20"/>
                    <a:pt x="62" y="20"/>
                    <a:pt x="62" y="20"/>
                  </a:cubicBezTo>
                  <a:cubicBezTo>
                    <a:pt x="59" y="20"/>
                    <a:pt x="56" y="18"/>
                    <a:pt x="56" y="15"/>
                  </a:cubicBezTo>
                  <a:cubicBezTo>
                    <a:pt x="53" y="5"/>
                    <a:pt x="53" y="5"/>
                    <a:pt x="53" y="5"/>
                  </a:cubicBezTo>
                  <a:cubicBezTo>
                    <a:pt x="52" y="2"/>
                    <a:pt x="49" y="0"/>
                    <a:pt x="47" y="0"/>
                  </a:cubicBezTo>
                  <a:lnTo>
                    <a:pt x="36" y="0"/>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169273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6" name="Rectangle 12" descr="12993780_112311424000_2"/>
          <p:cNvSpPr>
            <a:spLocks noChangeArrowheads="1"/>
          </p:cNvSpPr>
          <p:nvPr/>
        </p:nvSpPr>
        <p:spPr bwMode="auto">
          <a:xfrm>
            <a:off x="3384551" y="1502822"/>
            <a:ext cx="2557463" cy="1508590"/>
          </a:xfrm>
          <a:prstGeom prst="rect">
            <a:avLst/>
          </a:prstGeom>
          <a:blipFill dpi="0" rotWithShape="1">
            <a:blip r:embed="rId2" cstate="print">
              <a:extLst>
                <a:ext uri="{28A0092B-C50C-407E-A947-70E740481C1C}">
                  <a14:useLocalDpi xmlns:a14="http://schemas.microsoft.com/office/drawing/2010/main"/>
                </a:ext>
              </a:extLst>
            </a:blip>
            <a:srcRect/>
            <a:stretch>
              <a:fillRect/>
            </a:stretch>
          </a:blipFill>
          <a:ln>
            <a:noFill/>
          </a:ln>
          <a:effectLst/>
        </p:spPr>
        <p:txBody>
          <a:bodyPr wrap="none" anchor="ctr"/>
          <a:lstStyle/>
          <a:p>
            <a:endParaRPr lang="zh-CN" altLang="en-US"/>
          </a:p>
        </p:txBody>
      </p:sp>
      <p:sp>
        <p:nvSpPr>
          <p:cNvPr id="36877" name="Rectangle 13" descr="20130813141439_hkVZZ"/>
          <p:cNvSpPr>
            <a:spLocks noChangeArrowheads="1"/>
          </p:cNvSpPr>
          <p:nvPr/>
        </p:nvSpPr>
        <p:spPr bwMode="auto">
          <a:xfrm>
            <a:off x="5942014" y="1502822"/>
            <a:ext cx="2555875" cy="1508590"/>
          </a:xfrm>
          <a:prstGeom prst="rect">
            <a:avLst/>
          </a:prstGeom>
          <a:blipFill dpi="0" rotWithShape="1">
            <a:blip r:embed="rId3" cstate="print">
              <a:extLst>
                <a:ext uri="{28A0092B-C50C-407E-A947-70E740481C1C}">
                  <a14:useLocalDpi xmlns:a14="http://schemas.microsoft.com/office/drawing/2010/main"/>
                </a:ext>
              </a:extLst>
            </a:blip>
            <a:srcRect/>
            <a:stretch>
              <a:fillRect/>
            </a:stretch>
          </a:blipFill>
          <a:ln>
            <a:noFill/>
          </a:ln>
          <a:effectLst/>
        </p:spPr>
        <p:txBody>
          <a:bodyPr wrap="none" anchor="ctr"/>
          <a:lstStyle/>
          <a:p>
            <a:endParaRPr lang="zh-CN" altLang="en-US"/>
          </a:p>
        </p:txBody>
      </p:sp>
      <p:sp>
        <p:nvSpPr>
          <p:cNvPr id="36878" name="Rectangle 14" descr="public-domain-images-free-stock-photos-high-quality-resolution-downloads-public-domain-archive-10-1000x750-160436_1000x675"/>
          <p:cNvSpPr>
            <a:spLocks noChangeArrowheads="1"/>
          </p:cNvSpPr>
          <p:nvPr/>
        </p:nvSpPr>
        <p:spPr bwMode="auto">
          <a:xfrm>
            <a:off x="3384551" y="3011412"/>
            <a:ext cx="2557463" cy="1508590"/>
          </a:xfrm>
          <a:prstGeom prst="rect">
            <a:avLst/>
          </a:prstGeom>
          <a:blipFill dpi="0" rotWithShape="1">
            <a:blip r:embed="rId4" cstate="print">
              <a:extLst>
                <a:ext uri="{28A0092B-C50C-407E-A947-70E740481C1C}">
                  <a14:useLocalDpi xmlns:a14="http://schemas.microsoft.com/office/drawing/2010/main"/>
                </a:ext>
              </a:extLst>
            </a:blip>
            <a:srcRect/>
            <a:stretch>
              <a:fillRect/>
            </a:stretch>
          </a:blipFill>
          <a:ln>
            <a:noFill/>
          </a:ln>
          <a:effectLst/>
        </p:spPr>
        <p:txBody>
          <a:bodyPr wrap="none" anchor="ctr"/>
          <a:lstStyle/>
          <a:p>
            <a:endParaRPr lang="zh-CN" altLang="en-US"/>
          </a:p>
        </p:txBody>
      </p:sp>
      <p:sp>
        <p:nvSpPr>
          <p:cNvPr id="36879" name="Rectangle 15" descr="12"/>
          <p:cNvSpPr>
            <a:spLocks noChangeArrowheads="1"/>
          </p:cNvSpPr>
          <p:nvPr/>
        </p:nvSpPr>
        <p:spPr bwMode="auto">
          <a:xfrm>
            <a:off x="5942014" y="3011412"/>
            <a:ext cx="2555875" cy="1508590"/>
          </a:xfrm>
          <a:prstGeom prst="rect">
            <a:avLst/>
          </a:prstGeom>
          <a:blipFill dpi="0" rotWithShape="1">
            <a:blip r:embed="rId5" cstate="print">
              <a:extLst>
                <a:ext uri="{28A0092B-C50C-407E-A947-70E740481C1C}">
                  <a14:useLocalDpi xmlns:a14="http://schemas.microsoft.com/office/drawing/2010/main"/>
                </a:ext>
              </a:extLst>
            </a:blip>
            <a:srcRect/>
            <a:stretch>
              <a:fillRect/>
            </a:stretch>
          </a:blipFill>
          <a:ln>
            <a:noFill/>
          </a:ln>
          <a:effectLst/>
        </p:spPr>
        <p:txBody>
          <a:bodyPr wrap="none" anchor="ctr"/>
          <a:lstStyle/>
          <a:p>
            <a:endParaRPr lang="zh-CN" altLang="en-US"/>
          </a:p>
        </p:txBody>
      </p:sp>
      <p:sp>
        <p:nvSpPr>
          <p:cNvPr id="36880" name="Rectangle 16"/>
          <p:cNvSpPr>
            <a:spLocks noChangeArrowheads="1"/>
          </p:cNvSpPr>
          <p:nvPr/>
        </p:nvSpPr>
        <p:spPr bwMode="auto">
          <a:xfrm>
            <a:off x="827088" y="1498058"/>
            <a:ext cx="2557462" cy="3026709"/>
          </a:xfrm>
          <a:prstGeom prst="rect">
            <a:avLst/>
          </a:prstGeom>
          <a:solidFill>
            <a:schemeClr val="accent2"/>
          </a:solidFill>
          <a:ln>
            <a:noFill/>
          </a:ln>
          <a:effectLst/>
        </p:spPr>
        <p:txBody>
          <a:bodyPr wrap="none" anchor="ctr"/>
          <a:lstStyle/>
          <a:p>
            <a:endParaRPr lang="zh-CN" altLang="en-US"/>
          </a:p>
        </p:txBody>
      </p:sp>
      <p:sp>
        <p:nvSpPr>
          <p:cNvPr id="36887" name="Rectangle 23"/>
          <p:cNvSpPr>
            <a:spLocks noChangeArrowheads="1"/>
          </p:cNvSpPr>
          <p:nvPr/>
        </p:nvSpPr>
        <p:spPr bwMode="auto">
          <a:xfrm>
            <a:off x="961231" y="1682939"/>
            <a:ext cx="2289175" cy="2656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20000"/>
              </a:lnSpc>
              <a:buFont typeface="Arial" charset="0"/>
              <a:buNone/>
            </a:pPr>
            <a:r>
              <a:rPr lang="zh-CN" altLang="en-US" sz="1400" dirty="0">
                <a:solidFill>
                  <a:schemeClr val="bg1"/>
                </a:solidFill>
              </a:rPr>
              <a:t>本毕业设计基于</a:t>
            </a:r>
            <a:r>
              <a:rPr lang="en-US" altLang="zh-CN" sz="1400" dirty="0">
                <a:solidFill>
                  <a:schemeClr val="bg1"/>
                </a:solidFill>
              </a:rPr>
              <a:t>Kubernetes</a:t>
            </a:r>
            <a:r>
              <a:rPr lang="zh-CN" altLang="en-US" sz="1400" dirty="0">
                <a:solidFill>
                  <a:schemeClr val="bg1"/>
                </a:solidFill>
              </a:rPr>
              <a:t>集群并使用</a:t>
            </a:r>
            <a:r>
              <a:rPr lang="en-US" altLang="zh-CN" sz="1400" dirty="0">
                <a:solidFill>
                  <a:schemeClr val="bg1"/>
                </a:solidFill>
              </a:rPr>
              <a:t>Harbor</a:t>
            </a:r>
            <a:r>
              <a:rPr lang="zh-CN" altLang="en-US" sz="1400" dirty="0">
                <a:solidFill>
                  <a:schemeClr val="bg1"/>
                </a:solidFill>
              </a:rPr>
              <a:t>、</a:t>
            </a:r>
            <a:r>
              <a:rPr lang="en-US" altLang="zh-CN" sz="1400" dirty="0">
                <a:solidFill>
                  <a:schemeClr val="bg1"/>
                </a:solidFill>
              </a:rPr>
              <a:t>Jenkins</a:t>
            </a:r>
            <a:r>
              <a:rPr lang="zh-CN" altLang="en-US" sz="1400" dirty="0">
                <a:solidFill>
                  <a:schemeClr val="bg1"/>
                </a:solidFill>
              </a:rPr>
              <a:t>和</a:t>
            </a:r>
            <a:r>
              <a:rPr lang="en-US" altLang="zh-CN" sz="1400" dirty="0">
                <a:solidFill>
                  <a:schemeClr val="bg1"/>
                </a:solidFill>
              </a:rPr>
              <a:t>GitLab</a:t>
            </a:r>
            <a:r>
              <a:rPr lang="zh-CN" altLang="en-US" sz="1400" dirty="0">
                <a:solidFill>
                  <a:schemeClr val="bg1"/>
                </a:solidFill>
              </a:rPr>
              <a:t>等服务构建</a:t>
            </a:r>
            <a:r>
              <a:rPr lang="en-US" altLang="zh-CN" sz="1400" dirty="0">
                <a:solidFill>
                  <a:schemeClr val="bg1"/>
                </a:solidFill>
              </a:rPr>
              <a:t>CI/CD</a:t>
            </a:r>
            <a:r>
              <a:rPr lang="zh-CN" altLang="en-US" sz="1400" dirty="0">
                <a:solidFill>
                  <a:schemeClr val="bg1"/>
                </a:solidFill>
              </a:rPr>
              <a:t>让艾若公司能够实现持续集成和交付的自动化流程。这种集成和自化的方法提高了开发效率、加快了交付速度，并提升软件质量，为公司的业务发展提供了有力支持。</a:t>
            </a:r>
          </a:p>
        </p:txBody>
      </p:sp>
      <p:sp>
        <p:nvSpPr>
          <p:cNvPr id="17" name="Text Box 42"/>
          <p:cNvSpPr txBox="1">
            <a:spLocks noChangeArrowheads="1"/>
          </p:cNvSpPr>
          <p:nvPr/>
        </p:nvSpPr>
        <p:spPr bwMode="auto">
          <a:xfrm>
            <a:off x="3864114" y="290122"/>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 typeface="Arial" charset="0"/>
              <a:buNone/>
            </a:pPr>
            <a:r>
              <a:rPr lang="zh-CN" altLang="en-US" sz="2400" b="1" dirty="0">
                <a:solidFill>
                  <a:schemeClr val="accent1"/>
                </a:solidFill>
                <a:latin typeface="微软雅黑" pitchFamily="34" charset="-122"/>
                <a:ea typeface="微软雅黑" pitchFamily="34" charset="-122"/>
              </a:rPr>
              <a:t>研究总结</a:t>
            </a:r>
            <a:endParaRPr lang="en-US" altLang="zh-CN" sz="2400" b="1" dirty="0">
              <a:solidFill>
                <a:schemeClr val="accent1"/>
              </a:solidFill>
              <a:latin typeface="微软雅黑" pitchFamily="34" charset="-122"/>
              <a:ea typeface="微软雅黑" pitchFamily="34" charset="-122"/>
            </a:endParaRPr>
          </a:p>
        </p:txBody>
      </p:sp>
      <p:cxnSp>
        <p:nvCxnSpPr>
          <p:cNvPr id="19" name="直接连接符 18"/>
          <p:cNvCxnSpPr/>
          <p:nvPr/>
        </p:nvCxnSpPr>
        <p:spPr>
          <a:xfrm>
            <a:off x="4226801" y="974973"/>
            <a:ext cx="690398"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8680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2" name="Rectangle 12" descr="10"/>
          <p:cNvSpPr>
            <a:spLocks noChangeArrowheads="1"/>
          </p:cNvSpPr>
          <p:nvPr/>
        </p:nvSpPr>
        <p:spPr bwMode="auto">
          <a:xfrm>
            <a:off x="0" y="1282000"/>
            <a:ext cx="4572000" cy="1726146"/>
          </a:xfrm>
          <a:prstGeom prst="rect">
            <a:avLst/>
          </a:prstGeom>
          <a:blipFill dpi="0" rotWithShape="1">
            <a:blip r:embed="rId2" cstate="print">
              <a:extLst>
                <a:ext uri="{28A0092B-C50C-407E-A947-70E740481C1C}">
                  <a14:useLocalDpi xmlns:a14="http://schemas.microsoft.com/office/drawing/2010/main"/>
                </a:ext>
              </a:extLst>
            </a:blip>
            <a:srcRect/>
            <a:stretch>
              <a:fillRect/>
            </a:stretch>
          </a:blipFill>
          <a:ln>
            <a:noFill/>
          </a:ln>
        </p:spPr>
        <p:txBody>
          <a:bodyPr/>
          <a:lstStyle/>
          <a:p>
            <a:endParaRPr lang="zh-CN" altLang="en-US"/>
          </a:p>
        </p:txBody>
      </p:sp>
      <p:sp>
        <p:nvSpPr>
          <p:cNvPr id="40973" name="Rectangle 13"/>
          <p:cNvSpPr>
            <a:spLocks noChangeArrowheads="1"/>
          </p:cNvSpPr>
          <p:nvPr/>
        </p:nvSpPr>
        <p:spPr bwMode="auto">
          <a:xfrm>
            <a:off x="4572001" y="1282000"/>
            <a:ext cx="4568825" cy="1726146"/>
          </a:xfrm>
          <a:prstGeom prst="rect">
            <a:avLst/>
          </a:prstGeom>
          <a:solidFill>
            <a:schemeClr val="accent2"/>
          </a:solidFill>
          <a:ln>
            <a:noFill/>
          </a:ln>
        </p:spPr>
        <p:txBody>
          <a:bodyPr/>
          <a:lstStyle/>
          <a:p>
            <a:endParaRPr lang="zh-CN" altLang="en-US"/>
          </a:p>
        </p:txBody>
      </p:sp>
      <p:sp>
        <p:nvSpPr>
          <p:cNvPr id="40974" name="Rectangle 14"/>
          <p:cNvSpPr>
            <a:spLocks noChangeArrowheads="1"/>
          </p:cNvSpPr>
          <p:nvPr/>
        </p:nvSpPr>
        <p:spPr bwMode="auto">
          <a:xfrm>
            <a:off x="0" y="3005738"/>
            <a:ext cx="4572000" cy="1726145"/>
          </a:xfrm>
          <a:prstGeom prst="rect">
            <a:avLst/>
          </a:prstGeom>
          <a:solidFill>
            <a:schemeClr val="accent1"/>
          </a:solidFill>
          <a:ln>
            <a:noFill/>
          </a:ln>
        </p:spPr>
        <p:txBody>
          <a:bodyPr/>
          <a:lstStyle/>
          <a:p>
            <a:endParaRPr lang="zh-CN" altLang="en-US" dirty="0"/>
          </a:p>
        </p:txBody>
      </p:sp>
      <p:sp>
        <p:nvSpPr>
          <p:cNvPr id="40975" name="Rectangle 15" descr="bd949a1373f082024f15da5649fbfbedaa641b36副本"/>
          <p:cNvSpPr>
            <a:spLocks noChangeArrowheads="1"/>
          </p:cNvSpPr>
          <p:nvPr/>
        </p:nvSpPr>
        <p:spPr bwMode="auto">
          <a:xfrm>
            <a:off x="4572001" y="3011321"/>
            <a:ext cx="4568825" cy="1726145"/>
          </a:xfrm>
          <a:prstGeom prst="rect">
            <a:avLst/>
          </a:prstGeom>
          <a:blipFill dpi="0" rotWithShape="1">
            <a:blip r:embed="rId3" cstate="print">
              <a:extLst>
                <a:ext uri="{28A0092B-C50C-407E-A947-70E740481C1C}">
                  <a14:useLocalDpi xmlns:a14="http://schemas.microsoft.com/office/drawing/2010/main"/>
                </a:ext>
              </a:extLst>
            </a:blip>
            <a:srcRect/>
            <a:stretch>
              <a:fillRect/>
            </a:stretch>
          </a:blipFill>
          <a:ln>
            <a:noFill/>
          </a:ln>
        </p:spPr>
        <p:txBody>
          <a:bodyPr/>
          <a:lstStyle/>
          <a:p>
            <a:endParaRPr lang="zh-CN" altLang="en-US"/>
          </a:p>
        </p:txBody>
      </p:sp>
      <p:sp>
        <p:nvSpPr>
          <p:cNvPr id="40982" name="Rectangle 22"/>
          <p:cNvSpPr>
            <a:spLocks noChangeArrowheads="1"/>
          </p:cNvSpPr>
          <p:nvPr/>
        </p:nvSpPr>
        <p:spPr bwMode="auto">
          <a:xfrm>
            <a:off x="5444690" y="1525788"/>
            <a:ext cx="168507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Arial" charset="0"/>
              <a:buNone/>
            </a:pPr>
            <a:r>
              <a:rPr lang="zh-CN" altLang="en-US" sz="1000" dirty="0">
                <a:solidFill>
                  <a:schemeClr val="bg1"/>
                </a:solidFill>
              </a:rPr>
              <a:t>人工智能</a:t>
            </a:r>
            <a:r>
              <a:rPr lang="en-US" altLang="zh-CN" sz="1000" dirty="0">
                <a:solidFill>
                  <a:schemeClr val="bg1"/>
                </a:solidFill>
              </a:rPr>
              <a:t>/</a:t>
            </a:r>
            <a:r>
              <a:rPr lang="zh-CN" altLang="en-US" sz="1000" dirty="0">
                <a:solidFill>
                  <a:schemeClr val="bg1"/>
                </a:solidFill>
              </a:rPr>
              <a:t>机器学习 </a:t>
            </a:r>
            <a:r>
              <a:rPr lang="en-US" altLang="zh-CN" sz="1000" dirty="0">
                <a:solidFill>
                  <a:schemeClr val="bg1"/>
                </a:solidFill>
              </a:rPr>
              <a:t>(AI/ML)</a:t>
            </a:r>
          </a:p>
        </p:txBody>
      </p:sp>
      <p:sp>
        <p:nvSpPr>
          <p:cNvPr id="40983" name="Rectangle 23"/>
          <p:cNvSpPr>
            <a:spLocks noChangeArrowheads="1"/>
          </p:cNvSpPr>
          <p:nvPr/>
        </p:nvSpPr>
        <p:spPr bwMode="auto">
          <a:xfrm>
            <a:off x="5051426" y="1906687"/>
            <a:ext cx="3768725" cy="908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20000"/>
              </a:lnSpc>
              <a:buFont typeface="Arial" charset="0"/>
              <a:buNone/>
            </a:pPr>
            <a:r>
              <a:rPr lang="en-US" altLang="zh-CN" sz="1000" dirty="0">
                <a:solidFill>
                  <a:schemeClr val="bg1"/>
                </a:solidFill>
              </a:rPr>
              <a:t>AI </a:t>
            </a:r>
            <a:r>
              <a:rPr lang="zh-CN" altLang="en-US" sz="1000" dirty="0">
                <a:solidFill>
                  <a:schemeClr val="bg1"/>
                </a:solidFill>
              </a:rPr>
              <a:t>和 </a:t>
            </a:r>
            <a:r>
              <a:rPr lang="en-US" altLang="zh-CN" sz="1000" dirty="0">
                <a:solidFill>
                  <a:schemeClr val="bg1"/>
                </a:solidFill>
              </a:rPr>
              <a:t>ML </a:t>
            </a:r>
            <a:r>
              <a:rPr lang="zh-CN" altLang="en-US" sz="1000" dirty="0">
                <a:solidFill>
                  <a:schemeClr val="bg1"/>
                </a:solidFill>
              </a:rPr>
              <a:t>指的是计算机科学领域，涉及开发可以模拟人类智能并从数据中学习的智能机器。</a:t>
            </a:r>
            <a:r>
              <a:rPr lang="en-US" altLang="zh-CN" sz="1000" dirty="0">
                <a:solidFill>
                  <a:schemeClr val="bg1"/>
                </a:solidFill>
              </a:rPr>
              <a:t>CI/CD</a:t>
            </a:r>
            <a:r>
              <a:rPr lang="zh-CN" altLang="en-US" sz="1000" dirty="0">
                <a:solidFill>
                  <a:schemeClr val="bg1"/>
                </a:solidFill>
              </a:rPr>
              <a:t>在</a:t>
            </a:r>
            <a:r>
              <a:rPr lang="en-US" altLang="zh-CN" sz="1000" dirty="0">
                <a:solidFill>
                  <a:schemeClr val="bg1"/>
                </a:solidFill>
              </a:rPr>
              <a:t>AI </a:t>
            </a:r>
            <a:r>
              <a:rPr lang="zh-CN" altLang="en-US" sz="1000" dirty="0">
                <a:solidFill>
                  <a:schemeClr val="bg1"/>
                </a:solidFill>
              </a:rPr>
              <a:t>和 </a:t>
            </a:r>
            <a:r>
              <a:rPr lang="en-US" altLang="zh-CN" sz="1000" dirty="0">
                <a:solidFill>
                  <a:schemeClr val="bg1"/>
                </a:solidFill>
              </a:rPr>
              <a:t>ML </a:t>
            </a:r>
            <a:r>
              <a:rPr lang="zh-CN" altLang="en-US" sz="1000" dirty="0">
                <a:solidFill>
                  <a:schemeClr val="bg1"/>
                </a:solidFill>
              </a:rPr>
              <a:t>中的主要优势之一是能够自动生成测试用例，从而减少手动测试的需要并腾出时间执行其他任务。这使测试人员能够更全面、更频繁地测试应用程序，确保缺陷或问题得到快速识别和解决。</a:t>
            </a:r>
            <a:endParaRPr lang="zh-CN" altLang="en-US" sz="800" dirty="0">
              <a:solidFill>
                <a:schemeClr val="bg1"/>
              </a:solidFill>
            </a:endParaRPr>
          </a:p>
        </p:txBody>
      </p:sp>
      <p:sp>
        <p:nvSpPr>
          <p:cNvPr id="40984" name="Line 24"/>
          <p:cNvSpPr>
            <a:spLocks noChangeShapeType="1"/>
          </p:cNvSpPr>
          <p:nvPr/>
        </p:nvSpPr>
        <p:spPr bwMode="auto">
          <a:xfrm>
            <a:off x="5444690" y="1557580"/>
            <a:ext cx="0" cy="228671"/>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85" name="Rectangle 25"/>
          <p:cNvSpPr>
            <a:spLocks noChangeArrowheads="1"/>
          </p:cNvSpPr>
          <p:nvPr/>
        </p:nvSpPr>
        <p:spPr bwMode="auto">
          <a:xfrm>
            <a:off x="925862" y="3229983"/>
            <a:ext cx="9541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Arial" charset="0"/>
              <a:buNone/>
            </a:pPr>
            <a:r>
              <a:rPr lang="zh-CN" altLang="en-US" sz="1200" dirty="0">
                <a:solidFill>
                  <a:schemeClr val="bg1"/>
                </a:solidFill>
              </a:rPr>
              <a:t>区块链技术</a:t>
            </a:r>
            <a:endParaRPr lang="en-US" altLang="zh-CN" sz="1200" dirty="0">
              <a:solidFill>
                <a:schemeClr val="bg1"/>
              </a:solidFill>
            </a:endParaRPr>
          </a:p>
        </p:txBody>
      </p:sp>
      <p:sp>
        <p:nvSpPr>
          <p:cNvPr id="40986" name="Line 26"/>
          <p:cNvSpPr>
            <a:spLocks noChangeShapeType="1"/>
          </p:cNvSpPr>
          <p:nvPr/>
        </p:nvSpPr>
        <p:spPr bwMode="auto">
          <a:xfrm>
            <a:off x="917534" y="3210027"/>
            <a:ext cx="0" cy="339830"/>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87" name="Freeform 27"/>
          <p:cNvSpPr>
            <a:spLocks/>
          </p:cNvSpPr>
          <p:nvPr/>
        </p:nvSpPr>
        <p:spPr bwMode="auto">
          <a:xfrm rot="10800000">
            <a:off x="4094163" y="1663117"/>
            <a:ext cx="479425" cy="965498"/>
          </a:xfrm>
          <a:custGeom>
            <a:avLst/>
            <a:gdLst>
              <a:gd name="T0" fmla="*/ 0 w 244"/>
              <a:gd name="T1" fmla="*/ 0 h 489"/>
              <a:gd name="T2" fmla="*/ 0 w 244"/>
              <a:gd name="T3" fmla="*/ 489 h 489"/>
              <a:gd name="T4" fmla="*/ 244 w 244"/>
              <a:gd name="T5" fmla="*/ 245 h 489"/>
              <a:gd name="T6" fmla="*/ 0 w 244"/>
              <a:gd name="T7" fmla="*/ 0 h 489"/>
            </a:gdLst>
            <a:ahLst/>
            <a:cxnLst>
              <a:cxn ang="0">
                <a:pos x="T0" y="T1"/>
              </a:cxn>
              <a:cxn ang="0">
                <a:pos x="T2" y="T3"/>
              </a:cxn>
              <a:cxn ang="0">
                <a:pos x="T4" y="T5"/>
              </a:cxn>
              <a:cxn ang="0">
                <a:pos x="T6" y="T7"/>
              </a:cxn>
            </a:cxnLst>
            <a:rect l="0" t="0" r="r" b="b"/>
            <a:pathLst>
              <a:path w="244" h="489">
                <a:moveTo>
                  <a:pt x="0" y="0"/>
                </a:moveTo>
                <a:cubicBezTo>
                  <a:pt x="0" y="489"/>
                  <a:pt x="0" y="489"/>
                  <a:pt x="0" y="489"/>
                </a:cubicBezTo>
                <a:cubicBezTo>
                  <a:pt x="135" y="489"/>
                  <a:pt x="244" y="379"/>
                  <a:pt x="244" y="245"/>
                </a:cubicBezTo>
                <a:cubicBezTo>
                  <a:pt x="244" y="110"/>
                  <a:pt x="135" y="0"/>
                  <a:pt x="0" y="0"/>
                </a:cubicBezTo>
                <a:close/>
              </a:path>
            </a:pathLst>
          </a:custGeom>
          <a:solidFill>
            <a:schemeClr val="accent2">
              <a:alpha val="50000"/>
            </a:schemeClr>
          </a:solidFill>
          <a:ln>
            <a:noFill/>
          </a:ln>
        </p:spPr>
        <p:txBody>
          <a:bodyPr/>
          <a:lstStyle/>
          <a:p>
            <a:endParaRPr lang="zh-CN" altLang="en-US"/>
          </a:p>
        </p:txBody>
      </p:sp>
      <p:sp>
        <p:nvSpPr>
          <p:cNvPr id="40988" name="Freeform 28"/>
          <p:cNvSpPr>
            <a:spLocks/>
          </p:cNvSpPr>
          <p:nvPr/>
        </p:nvSpPr>
        <p:spPr bwMode="auto">
          <a:xfrm>
            <a:off x="4572001" y="3403554"/>
            <a:ext cx="479425" cy="965498"/>
          </a:xfrm>
          <a:custGeom>
            <a:avLst/>
            <a:gdLst>
              <a:gd name="T0" fmla="*/ 0 w 244"/>
              <a:gd name="T1" fmla="*/ 0 h 489"/>
              <a:gd name="T2" fmla="*/ 0 w 244"/>
              <a:gd name="T3" fmla="*/ 489 h 489"/>
              <a:gd name="T4" fmla="*/ 244 w 244"/>
              <a:gd name="T5" fmla="*/ 245 h 489"/>
              <a:gd name="T6" fmla="*/ 0 w 244"/>
              <a:gd name="T7" fmla="*/ 0 h 489"/>
            </a:gdLst>
            <a:ahLst/>
            <a:cxnLst>
              <a:cxn ang="0">
                <a:pos x="T0" y="T1"/>
              </a:cxn>
              <a:cxn ang="0">
                <a:pos x="T2" y="T3"/>
              </a:cxn>
              <a:cxn ang="0">
                <a:pos x="T4" y="T5"/>
              </a:cxn>
              <a:cxn ang="0">
                <a:pos x="T6" y="T7"/>
              </a:cxn>
            </a:cxnLst>
            <a:rect l="0" t="0" r="r" b="b"/>
            <a:pathLst>
              <a:path w="244" h="489">
                <a:moveTo>
                  <a:pt x="0" y="0"/>
                </a:moveTo>
                <a:cubicBezTo>
                  <a:pt x="0" y="489"/>
                  <a:pt x="0" y="489"/>
                  <a:pt x="0" y="489"/>
                </a:cubicBezTo>
                <a:cubicBezTo>
                  <a:pt x="135" y="489"/>
                  <a:pt x="244" y="379"/>
                  <a:pt x="244" y="245"/>
                </a:cubicBezTo>
                <a:cubicBezTo>
                  <a:pt x="244" y="110"/>
                  <a:pt x="135" y="0"/>
                  <a:pt x="0" y="0"/>
                </a:cubicBezTo>
                <a:close/>
              </a:path>
            </a:pathLst>
          </a:custGeom>
          <a:solidFill>
            <a:schemeClr val="accent1">
              <a:alpha val="50000"/>
            </a:schemeClr>
          </a:solidFill>
          <a:ln>
            <a:noFill/>
          </a:ln>
        </p:spPr>
        <p:txBody>
          <a:bodyPr/>
          <a:lstStyle/>
          <a:p>
            <a:endParaRPr lang="zh-CN" altLang="en-US"/>
          </a:p>
        </p:txBody>
      </p:sp>
      <p:sp>
        <p:nvSpPr>
          <p:cNvPr id="40989" name="Freeform 29"/>
          <p:cNvSpPr>
            <a:spLocks/>
          </p:cNvSpPr>
          <p:nvPr/>
        </p:nvSpPr>
        <p:spPr bwMode="auto">
          <a:xfrm>
            <a:off x="4697414" y="3703685"/>
            <a:ext cx="179387" cy="358886"/>
          </a:xfrm>
          <a:custGeom>
            <a:avLst/>
            <a:gdLst>
              <a:gd name="T0" fmla="*/ 0 w 52"/>
              <a:gd name="T1" fmla="*/ 0 h 104"/>
              <a:gd name="T2" fmla="*/ 52 w 52"/>
              <a:gd name="T3" fmla="*/ 52 h 104"/>
              <a:gd name="T4" fmla="*/ 0 w 52"/>
              <a:gd name="T5" fmla="*/ 104 h 104"/>
            </a:gdLst>
            <a:ahLst/>
            <a:cxnLst>
              <a:cxn ang="0">
                <a:pos x="T0" y="T1"/>
              </a:cxn>
              <a:cxn ang="0">
                <a:pos x="T2" y="T3"/>
              </a:cxn>
              <a:cxn ang="0">
                <a:pos x="T4" y="T5"/>
              </a:cxn>
            </a:cxnLst>
            <a:rect l="0" t="0" r="r" b="b"/>
            <a:pathLst>
              <a:path w="52" h="104">
                <a:moveTo>
                  <a:pt x="0" y="0"/>
                </a:moveTo>
                <a:lnTo>
                  <a:pt x="52" y="52"/>
                </a:lnTo>
                <a:lnTo>
                  <a:pt x="0" y="104"/>
                </a:lnTo>
              </a:path>
            </a:pathLst>
          </a:custGeom>
          <a:noFill/>
          <a:ln w="12700" cap="flat" cmpd="sng">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990" name="Freeform 30"/>
          <p:cNvSpPr>
            <a:spLocks/>
          </p:cNvSpPr>
          <p:nvPr/>
        </p:nvSpPr>
        <p:spPr bwMode="auto">
          <a:xfrm rot="10800000">
            <a:off x="4260850" y="1979128"/>
            <a:ext cx="179388" cy="358886"/>
          </a:xfrm>
          <a:custGeom>
            <a:avLst/>
            <a:gdLst>
              <a:gd name="T0" fmla="*/ 0 w 52"/>
              <a:gd name="T1" fmla="*/ 0 h 104"/>
              <a:gd name="T2" fmla="*/ 52 w 52"/>
              <a:gd name="T3" fmla="*/ 52 h 104"/>
              <a:gd name="T4" fmla="*/ 0 w 52"/>
              <a:gd name="T5" fmla="*/ 104 h 104"/>
            </a:gdLst>
            <a:ahLst/>
            <a:cxnLst>
              <a:cxn ang="0">
                <a:pos x="T0" y="T1"/>
              </a:cxn>
              <a:cxn ang="0">
                <a:pos x="T2" y="T3"/>
              </a:cxn>
              <a:cxn ang="0">
                <a:pos x="T4" y="T5"/>
              </a:cxn>
            </a:cxnLst>
            <a:rect l="0" t="0" r="r" b="b"/>
            <a:pathLst>
              <a:path w="52" h="104">
                <a:moveTo>
                  <a:pt x="0" y="0"/>
                </a:moveTo>
                <a:lnTo>
                  <a:pt x="52" y="52"/>
                </a:lnTo>
                <a:lnTo>
                  <a:pt x="0" y="104"/>
                </a:lnTo>
              </a:path>
            </a:pathLst>
          </a:custGeom>
          <a:noFill/>
          <a:ln w="12700" cap="flat" cmpd="sng">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 name="Text Box 42"/>
          <p:cNvSpPr txBox="1">
            <a:spLocks noChangeArrowheads="1"/>
          </p:cNvSpPr>
          <p:nvPr/>
        </p:nvSpPr>
        <p:spPr bwMode="auto">
          <a:xfrm>
            <a:off x="3864117" y="290122"/>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 typeface="Arial" charset="0"/>
              <a:buNone/>
            </a:pPr>
            <a:r>
              <a:rPr lang="zh-CN" altLang="en-US" sz="2400" b="1" dirty="0">
                <a:solidFill>
                  <a:schemeClr val="accent1"/>
                </a:solidFill>
                <a:latin typeface="微软雅黑" pitchFamily="34" charset="-122"/>
                <a:ea typeface="微软雅黑" pitchFamily="34" charset="-122"/>
              </a:rPr>
              <a:t>未来发展</a:t>
            </a:r>
            <a:endParaRPr lang="en-US" altLang="zh-CN" sz="2400" b="1" dirty="0">
              <a:solidFill>
                <a:schemeClr val="accent1"/>
              </a:solidFill>
              <a:latin typeface="微软雅黑" pitchFamily="34" charset="-122"/>
              <a:ea typeface="微软雅黑" pitchFamily="34" charset="-122"/>
            </a:endParaRPr>
          </a:p>
        </p:txBody>
      </p:sp>
      <p:cxnSp>
        <p:nvCxnSpPr>
          <p:cNvPr id="26" name="直接连接符 25"/>
          <p:cNvCxnSpPr/>
          <p:nvPr/>
        </p:nvCxnSpPr>
        <p:spPr>
          <a:xfrm>
            <a:off x="4226801" y="974973"/>
            <a:ext cx="690398"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30" name="组合 29"/>
          <p:cNvGrpSpPr/>
          <p:nvPr/>
        </p:nvGrpSpPr>
        <p:grpSpPr>
          <a:xfrm>
            <a:off x="538911" y="3252941"/>
            <a:ext cx="284163" cy="254001"/>
            <a:chOff x="13755688" y="-228600"/>
            <a:chExt cx="284163" cy="254001"/>
          </a:xfrm>
        </p:grpSpPr>
        <p:sp>
          <p:nvSpPr>
            <p:cNvPr id="31" name="Freeform 26"/>
            <p:cNvSpPr>
              <a:spLocks/>
            </p:cNvSpPr>
            <p:nvPr/>
          </p:nvSpPr>
          <p:spPr bwMode="auto">
            <a:xfrm>
              <a:off x="13844588" y="-169862"/>
              <a:ext cx="195263" cy="195263"/>
            </a:xfrm>
            <a:custGeom>
              <a:avLst/>
              <a:gdLst>
                <a:gd name="T0" fmla="*/ 5 w 52"/>
                <a:gd name="T1" fmla="*/ 0 h 52"/>
                <a:gd name="T2" fmla="*/ 0 w 52"/>
                <a:gd name="T3" fmla="*/ 5 h 52"/>
                <a:gd name="T4" fmla="*/ 0 w 52"/>
                <a:gd name="T5" fmla="*/ 20 h 52"/>
                <a:gd name="T6" fmla="*/ 3 w 52"/>
                <a:gd name="T7" fmla="*/ 28 h 52"/>
                <a:gd name="T8" fmla="*/ 26 w 52"/>
                <a:gd name="T9" fmla="*/ 51 h 52"/>
                <a:gd name="T10" fmla="*/ 33 w 52"/>
                <a:gd name="T11" fmla="*/ 51 h 52"/>
                <a:gd name="T12" fmla="*/ 51 w 52"/>
                <a:gd name="T13" fmla="*/ 33 h 52"/>
                <a:gd name="T14" fmla="*/ 51 w 52"/>
                <a:gd name="T15" fmla="*/ 26 h 52"/>
                <a:gd name="T16" fmla="*/ 28 w 52"/>
                <a:gd name="T17" fmla="*/ 3 h 52"/>
                <a:gd name="T18" fmla="*/ 20 w 52"/>
                <a:gd name="T19" fmla="*/ 0 h 52"/>
                <a:gd name="T20" fmla="*/ 14 w 5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 h="52">
                  <a:moveTo>
                    <a:pt x="5" y="0"/>
                  </a:moveTo>
                  <a:cubicBezTo>
                    <a:pt x="2" y="0"/>
                    <a:pt x="0" y="2"/>
                    <a:pt x="0" y="5"/>
                  </a:cubicBezTo>
                  <a:cubicBezTo>
                    <a:pt x="0" y="20"/>
                    <a:pt x="0" y="20"/>
                    <a:pt x="0" y="20"/>
                  </a:cubicBezTo>
                  <a:cubicBezTo>
                    <a:pt x="0" y="23"/>
                    <a:pt x="2" y="26"/>
                    <a:pt x="3" y="28"/>
                  </a:cubicBezTo>
                  <a:cubicBezTo>
                    <a:pt x="26" y="51"/>
                    <a:pt x="26" y="51"/>
                    <a:pt x="26" y="51"/>
                  </a:cubicBezTo>
                  <a:cubicBezTo>
                    <a:pt x="28" y="52"/>
                    <a:pt x="31" y="52"/>
                    <a:pt x="33" y="51"/>
                  </a:cubicBezTo>
                  <a:cubicBezTo>
                    <a:pt x="51" y="33"/>
                    <a:pt x="51" y="33"/>
                    <a:pt x="51" y="33"/>
                  </a:cubicBezTo>
                  <a:cubicBezTo>
                    <a:pt x="52" y="31"/>
                    <a:pt x="52" y="28"/>
                    <a:pt x="51" y="26"/>
                  </a:cubicBezTo>
                  <a:cubicBezTo>
                    <a:pt x="28" y="3"/>
                    <a:pt x="28" y="3"/>
                    <a:pt x="28" y="3"/>
                  </a:cubicBezTo>
                  <a:cubicBezTo>
                    <a:pt x="26" y="2"/>
                    <a:pt x="23" y="0"/>
                    <a:pt x="20" y="0"/>
                  </a:cubicBezTo>
                  <a:cubicBezTo>
                    <a:pt x="14" y="0"/>
                    <a:pt x="14" y="0"/>
                    <a:pt x="14" y="0"/>
                  </a:cubicBez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Oval 27"/>
            <p:cNvSpPr>
              <a:spLocks noChangeArrowheads="1"/>
            </p:cNvSpPr>
            <p:nvPr/>
          </p:nvSpPr>
          <p:spPr bwMode="auto">
            <a:xfrm>
              <a:off x="13871576" y="-146050"/>
              <a:ext cx="25400" cy="25400"/>
            </a:xfrm>
            <a:prstGeom prst="ellipse">
              <a:avLst/>
            </a:pr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28"/>
            <p:cNvSpPr>
              <a:spLocks/>
            </p:cNvSpPr>
            <p:nvPr/>
          </p:nvSpPr>
          <p:spPr bwMode="auto">
            <a:xfrm>
              <a:off x="13755688" y="-228600"/>
              <a:ext cx="127000" cy="127000"/>
            </a:xfrm>
            <a:custGeom>
              <a:avLst/>
              <a:gdLst>
                <a:gd name="T0" fmla="*/ 17 w 34"/>
                <a:gd name="T1" fmla="*/ 34 h 34"/>
                <a:gd name="T2" fmla="*/ 0 w 34"/>
                <a:gd name="T3" fmla="*/ 17 h 34"/>
                <a:gd name="T4" fmla="*/ 17 w 34"/>
                <a:gd name="T5" fmla="*/ 0 h 34"/>
                <a:gd name="T6" fmla="*/ 34 w 34"/>
                <a:gd name="T7" fmla="*/ 17 h 34"/>
              </a:gdLst>
              <a:ahLst/>
              <a:cxnLst>
                <a:cxn ang="0">
                  <a:pos x="T0" y="T1"/>
                </a:cxn>
                <a:cxn ang="0">
                  <a:pos x="T2" y="T3"/>
                </a:cxn>
                <a:cxn ang="0">
                  <a:pos x="T4" y="T5"/>
                </a:cxn>
                <a:cxn ang="0">
                  <a:pos x="T6" y="T7"/>
                </a:cxn>
              </a:cxnLst>
              <a:rect l="0" t="0" r="r" b="b"/>
              <a:pathLst>
                <a:path w="34" h="34">
                  <a:moveTo>
                    <a:pt x="17" y="34"/>
                  </a:moveTo>
                  <a:cubicBezTo>
                    <a:pt x="8" y="34"/>
                    <a:pt x="0" y="26"/>
                    <a:pt x="0" y="17"/>
                  </a:cubicBezTo>
                  <a:cubicBezTo>
                    <a:pt x="0" y="8"/>
                    <a:pt x="8" y="0"/>
                    <a:pt x="17" y="0"/>
                  </a:cubicBezTo>
                  <a:cubicBezTo>
                    <a:pt x="26" y="0"/>
                    <a:pt x="34" y="8"/>
                    <a:pt x="34" y="17"/>
                  </a:cubicBez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4" name="组合 33"/>
          <p:cNvGrpSpPr/>
          <p:nvPr/>
        </p:nvGrpSpPr>
        <p:grpSpPr>
          <a:xfrm>
            <a:off x="5114789" y="1506816"/>
            <a:ext cx="165100" cy="284163"/>
            <a:chOff x="12195176" y="-228600"/>
            <a:chExt cx="165100" cy="284163"/>
          </a:xfrm>
        </p:grpSpPr>
        <p:sp>
          <p:nvSpPr>
            <p:cNvPr id="35" name="Line 37"/>
            <p:cNvSpPr>
              <a:spLocks noChangeShapeType="1"/>
            </p:cNvSpPr>
            <p:nvPr/>
          </p:nvSpPr>
          <p:spPr bwMode="auto">
            <a:xfrm>
              <a:off x="12233276" y="-123825"/>
              <a:ext cx="8890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Line 38"/>
            <p:cNvSpPr>
              <a:spLocks noChangeShapeType="1"/>
            </p:cNvSpPr>
            <p:nvPr/>
          </p:nvSpPr>
          <p:spPr bwMode="auto">
            <a:xfrm>
              <a:off x="12233276" y="-93662"/>
              <a:ext cx="8890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Line 39"/>
            <p:cNvSpPr>
              <a:spLocks noChangeShapeType="1"/>
            </p:cNvSpPr>
            <p:nvPr/>
          </p:nvSpPr>
          <p:spPr bwMode="auto">
            <a:xfrm>
              <a:off x="12233276" y="-63500"/>
              <a:ext cx="8890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Line 40"/>
            <p:cNvSpPr>
              <a:spLocks noChangeShapeType="1"/>
            </p:cNvSpPr>
            <p:nvPr/>
          </p:nvSpPr>
          <p:spPr bwMode="auto">
            <a:xfrm>
              <a:off x="12233276" y="-34925"/>
              <a:ext cx="8890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Line 41"/>
            <p:cNvSpPr>
              <a:spLocks noChangeShapeType="1"/>
            </p:cNvSpPr>
            <p:nvPr/>
          </p:nvSpPr>
          <p:spPr bwMode="auto">
            <a:xfrm>
              <a:off x="12233276" y="-4762"/>
              <a:ext cx="8890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Line 42"/>
            <p:cNvSpPr>
              <a:spLocks noChangeShapeType="1"/>
            </p:cNvSpPr>
            <p:nvPr/>
          </p:nvSpPr>
          <p:spPr bwMode="auto">
            <a:xfrm>
              <a:off x="12233276" y="25400"/>
              <a:ext cx="8890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43"/>
            <p:cNvSpPr>
              <a:spLocks/>
            </p:cNvSpPr>
            <p:nvPr/>
          </p:nvSpPr>
          <p:spPr bwMode="auto">
            <a:xfrm>
              <a:off x="12195176" y="-228600"/>
              <a:ext cx="165100" cy="284163"/>
            </a:xfrm>
            <a:custGeom>
              <a:avLst/>
              <a:gdLst>
                <a:gd name="T0" fmla="*/ 104 w 104"/>
                <a:gd name="T1" fmla="*/ 19 h 179"/>
                <a:gd name="T2" fmla="*/ 66 w 104"/>
                <a:gd name="T3" fmla="*/ 19 h 179"/>
                <a:gd name="T4" fmla="*/ 66 w 104"/>
                <a:gd name="T5" fmla="*/ 0 h 179"/>
                <a:gd name="T6" fmla="*/ 38 w 104"/>
                <a:gd name="T7" fmla="*/ 0 h 179"/>
                <a:gd name="T8" fmla="*/ 38 w 104"/>
                <a:gd name="T9" fmla="*/ 19 h 179"/>
                <a:gd name="T10" fmla="*/ 0 w 104"/>
                <a:gd name="T11" fmla="*/ 19 h 179"/>
                <a:gd name="T12" fmla="*/ 0 w 104"/>
                <a:gd name="T13" fmla="*/ 179 h 179"/>
                <a:gd name="T14" fmla="*/ 104 w 104"/>
                <a:gd name="T15" fmla="*/ 179 h 179"/>
                <a:gd name="T16" fmla="*/ 104 w 104"/>
                <a:gd name="T17" fmla="*/ 1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 h="179">
                  <a:moveTo>
                    <a:pt x="104" y="19"/>
                  </a:moveTo>
                  <a:lnTo>
                    <a:pt x="66" y="19"/>
                  </a:lnTo>
                  <a:lnTo>
                    <a:pt x="66" y="0"/>
                  </a:lnTo>
                  <a:lnTo>
                    <a:pt x="38" y="0"/>
                  </a:lnTo>
                  <a:lnTo>
                    <a:pt x="38" y="19"/>
                  </a:lnTo>
                  <a:lnTo>
                    <a:pt x="0" y="19"/>
                  </a:lnTo>
                  <a:lnTo>
                    <a:pt x="0" y="179"/>
                  </a:lnTo>
                  <a:lnTo>
                    <a:pt x="104" y="179"/>
                  </a:lnTo>
                  <a:lnTo>
                    <a:pt x="104" y="19"/>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 name="文本框 1">
            <a:extLst>
              <a:ext uri="{FF2B5EF4-FFF2-40B4-BE49-F238E27FC236}">
                <a16:creationId xmlns:a16="http://schemas.microsoft.com/office/drawing/2014/main" id="{8B2470C5-308F-622A-5B36-89E5CF2832CF}"/>
              </a:ext>
            </a:extLst>
          </p:cNvPr>
          <p:cNvSpPr txBox="1"/>
          <p:nvPr/>
        </p:nvSpPr>
        <p:spPr>
          <a:xfrm>
            <a:off x="439914" y="3624736"/>
            <a:ext cx="4035670" cy="1138773"/>
          </a:xfrm>
          <a:prstGeom prst="rect">
            <a:avLst/>
          </a:prstGeom>
          <a:noFill/>
        </p:spPr>
        <p:txBody>
          <a:bodyPr wrap="square" rtlCol="0">
            <a:spAutoFit/>
          </a:bodyPr>
          <a:lstStyle/>
          <a:p>
            <a:r>
              <a:rPr lang="zh-CN" altLang="en-US" sz="1000" dirty="0">
                <a:solidFill>
                  <a:schemeClr val="bg1"/>
                </a:solidFill>
              </a:rPr>
              <a:t>在</a:t>
            </a:r>
            <a:r>
              <a:rPr lang="en-US" altLang="zh-CN" sz="1000" dirty="0">
                <a:solidFill>
                  <a:schemeClr val="bg1"/>
                </a:solidFill>
              </a:rPr>
              <a:t>CI/CD</a:t>
            </a:r>
            <a:r>
              <a:rPr lang="zh-CN" altLang="en-US" sz="1000" dirty="0">
                <a:solidFill>
                  <a:schemeClr val="bg1"/>
                </a:solidFill>
              </a:rPr>
              <a:t>中，区块链以去中心化和透明的方式存储测试结果和数据，使得任何人几乎不可能修改或操纵数据。这增强了测试过程和结果的可信度，并提供了额外的安全层以确保数据的完整性。</a:t>
            </a:r>
            <a:endParaRPr lang="en-US" altLang="zh-CN" sz="1000" dirty="0">
              <a:solidFill>
                <a:schemeClr val="bg1"/>
              </a:solidFill>
            </a:endParaRPr>
          </a:p>
          <a:p>
            <a:r>
              <a:rPr lang="zh-CN" altLang="en-US" sz="1000" dirty="0">
                <a:solidFill>
                  <a:schemeClr val="bg1"/>
                </a:solidFill>
              </a:rPr>
              <a:t>区块链技术使参与测试过程的利益相关者之间能够高效、无缝地共享数据，从而实现更快、更准确的决策。</a:t>
            </a:r>
          </a:p>
          <a:p>
            <a:endParaRPr lang="zh-CN" altLang="en-US" dirty="0"/>
          </a:p>
        </p:txBody>
      </p:sp>
    </p:spTree>
    <p:extLst>
      <p:ext uri="{BB962C8B-B14F-4D97-AF65-F5344CB8AC3E}">
        <p14:creationId xmlns:p14="http://schemas.microsoft.com/office/powerpoint/2010/main" val="33846481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8"/>
          <p:cNvSpPr>
            <a:spLocks noChangeArrowheads="1"/>
          </p:cNvSpPr>
          <p:nvPr/>
        </p:nvSpPr>
        <p:spPr bwMode="auto">
          <a:xfrm>
            <a:off x="4080438" y="1160894"/>
            <a:ext cx="983124" cy="980702"/>
          </a:xfrm>
          <a:prstGeom prst="ellipse">
            <a:avLst/>
          </a:prstGeom>
          <a:solidFill>
            <a:srgbClr val="4A5F74"/>
          </a:solidFill>
          <a:ln w="76200">
            <a:solidFill>
              <a:schemeClr val="accent2"/>
            </a:solidFill>
          </a:ln>
        </p:spPr>
        <p:txBody>
          <a:bodyPr vert="horz" wrap="square" lIns="91440" tIns="45720" rIns="91440" bIns="45720" numCol="1" anchor="t" anchorCtr="0" compatLnSpc="1">
            <a:prstTxWarp prst="textNoShape">
              <a:avLst/>
            </a:prstTxWarp>
          </a:bodyPr>
          <a:lstStyle/>
          <a:p>
            <a:endParaRPr lang="zh-CN" altLang="en-US" b="1" dirty="0"/>
          </a:p>
        </p:txBody>
      </p:sp>
      <p:sp>
        <p:nvSpPr>
          <p:cNvPr id="88" name="TextBox 87"/>
          <p:cNvSpPr txBox="1"/>
          <p:nvPr/>
        </p:nvSpPr>
        <p:spPr>
          <a:xfrm>
            <a:off x="1043608" y="2715766"/>
            <a:ext cx="7056784" cy="707886"/>
          </a:xfrm>
          <a:prstGeom prst="rect">
            <a:avLst/>
          </a:prstGeom>
          <a:noFill/>
        </p:spPr>
        <p:txBody>
          <a:bodyPr wrap="square" rtlCol="0">
            <a:spAutoFit/>
          </a:bodyPr>
          <a:lstStyle/>
          <a:p>
            <a:pPr algn="dist"/>
            <a:r>
              <a:rPr lang="zh-CN" altLang="en-US" sz="4000" dirty="0">
                <a:ln w="6350">
                  <a:noFill/>
                </a:ln>
                <a:solidFill>
                  <a:schemeClr val="accent1"/>
                </a:solidFill>
                <a:latin typeface="微软雅黑" pitchFamily="34" charset="-122"/>
                <a:ea typeface="微软雅黑" pitchFamily="34" charset="-122"/>
              </a:rPr>
              <a:t>敬请各位老师批评指正</a:t>
            </a:r>
          </a:p>
        </p:txBody>
      </p:sp>
      <p:sp>
        <p:nvSpPr>
          <p:cNvPr id="89" name="圆角矩形 88"/>
          <p:cNvSpPr/>
          <p:nvPr/>
        </p:nvSpPr>
        <p:spPr>
          <a:xfrm>
            <a:off x="1115616" y="3492955"/>
            <a:ext cx="6912768" cy="202560"/>
          </a:xfrm>
          <a:prstGeom prst="roundRect">
            <a:avLst>
              <a:gd name="adj" fmla="val 0"/>
            </a:avLst>
          </a:prstGeom>
          <a:noFill/>
          <a:ln w="6350" cap="flat" cmpd="sng" algn="ctr">
            <a:noFill/>
            <a:prstDash val="solid"/>
          </a:ln>
          <a:effectLst/>
        </p:spPr>
        <p:txBody>
          <a:bodyPr rtlCol="0" anchor="ctr"/>
          <a:lstStyle/>
          <a:p>
            <a:pPr lvl="0" algn="dist">
              <a:defRPr/>
            </a:pPr>
            <a:r>
              <a:rPr lang="en-US" altLang="zh-CN" sz="1200" kern="0" dirty="0">
                <a:solidFill>
                  <a:schemeClr val="bg1">
                    <a:lumMod val="50000"/>
                  </a:schemeClr>
                </a:solidFill>
                <a:latin typeface="微软雅黑" pitchFamily="34" charset="-122"/>
                <a:ea typeface="微软雅黑" pitchFamily="34" charset="-122"/>
              </a:rPr>
              <a:t>THANK YOU FOR WATCHING</a:t>
            </a:r>
          </a:p>
        </p:txBody>
      </p:sp>
      <p:cxnSp>
        <p:nvCxnSpPr>
          <p:cNvPr id="102" name="直接连接符 101"/>
          <p:cNvCxnSpPr/>
          <p:nvPr/>
        </p:nvCxnSpPr>
        <p:spPr>
          <a:xfrm>
            <a:off x="1115616" y="3420947"/>
            <a:ext cx="6912768" cy="0"/>
          </a:xfrm>
          <a:prstGeom prst="line">
            <a:avLst/>
          </a:prstGeom>
          <a:noFill/>
          <a:ln w="6350" cap="flat" cmpd="sng" algn="ctr">
            <a:solidFill>
              <a:schemeClr val="bg1">
                <a:lumMod val="50000"/>
              </a:schemeClr>
            </a:solidFill>
            <a:prstDash val="solid"/>
          </a:ln>
          <a:effectLst/>
        </p:spPr>
      </p:cxnSp>
      <p:pic>
        <p:nvPicPr>
          <p:cNvPr id="2" name="图片 1">
            <a:extLst>
              <a:ext uri="{FF2B5EF4-FFF2-40B4-BE49-F238E27FC236}">
                <a16:creationId xmlns:a16="http://schemas.microsoft.com/office/drawing/2014/main" id="{21246CBB-7141-6241-B42F-B8BEEB7B73F4}"/>
              </a:ext>
            </a:extLst>
          </p:cNvPr>
          <p:cNvPicPr>
            <a:picLocks noChangeAspect="1"/>
          </p:cNvPicPr>
          <p:nvPr/>
        </p:nvPicPr>
        <p:blipFill>
          <a:blip r:embed="rId2"/>
          <a:stretch>
            <a:fillRect/>
          </a:stretch>
        </p:blipFill>
        <p:spPr>
          <a:xfrm>
            <a:off x="4102567" y="1181812"/>
            <a:ext cx="938865" cy="938865"/>
          </a:xfrm>
          <a:prstGeom prst="rect">
            <a:avLst/>
          </a:prstGeom>
        </p:spPr>
      </p:pic>
    </p:spTree>
    <p:extLst>
      <p:ext uri="{BB962C8B-B14F-4D97-AF65-F5344CB8AC3E}">
        <p14:creationId xmlns:p14="http://schemas.microsoft.com/office/powerpoint/2010/main" val="1824757572"/>
      </p:ext>
    </p:extLst>
  </p:cSld>
  <p:clrMapOvr>
    <a:masterClrMapping/>
  </p:clrMapOvr>
</p:sld>
</file>

<file path=ppt/theme/theme1.xml><?xml version="1.0" encoding="utf-8"?>
<a:theme xmlns:a="http://schemas.openxmlformats.org/drawingml/2006/main" name="Office 主题​​">
  <a:themeElements>
    <a:clrScheme name="自定义 2">
      <a:dk1>
        <a:srgbClr val="333333"/>
      </a:dk1>
      <a:lt1>
        <a:srgbClr val="FFFFFF"/>
      </a:lt1>
      <a:dk2>
        <a:srgbClr val="333333"/>
      </a:dk2>
      <a:lt2>
        <a:srgbClr val="F5F4EF"/>
      </a:lt2>
      <a:accent1>
        <a:srgbClr val="4A5F74"/>
      </a:accent1>
      <a:accent2>
        <a:srgbClr val="304860"/>
      </a:accent2>
      <a:accent3>
        <a:srgbClr val="F8D158"/>
      </a:accent3>
      <a:accent4>
        <a:srgbClr val="F57365"/>
      </a:accent4>
      <a:accent5>
        <a:srgbClr val="7FC9EC"/>
      </a:accent5>
      <a:accent6>
        <a:srgbClr val="8689D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557</TotalTime>
  <Words>1759</Words>
  <Application>Microsoft Office PowerPoint</Application>
  <PresentationFormat>全屏显示(16:9)</PresentationFormat>
  <Paragraphs>112</Paragraphs>
  <Slides>21</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21</vt:i4>
      </vt:variant>
    </vt:vector>
  </HeadingPairs>
  <TitlesOfParts>
    <vt:vector size="27" baseType="lpstr">
      <vt:lpstr>微软雅黑</vt:lpstr>
      <vt:lpstr>Agency FB</vt:lpstr>
      <vt:lpstr>Arial</vt:lpstr>
      <vt:lpstr>Calibri</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政 柴</cp:lastModifiedBy>
  <cp:revision>43</cp:revision>
  <dcterms:created xsi:type="dcterms:W3CDTF">2016-04-12T08:19:53Z</dcterms:created>
  <dcterms:modified xsi:type="dcterms:W3CDTF">2025-04-13T07:12:06Z</dcterms:modified>
</cp:coreProperties>
</file>